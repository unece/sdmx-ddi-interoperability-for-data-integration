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1" r:id="rId11"/>
    <p:sldId id="274" r:id="rId12"/>
    <p:sldId id="261" r:id="rId13"/>
    <p:sldId id="262" r:id="rId14"/>
    <p:sldId id="275" r:id="rId15"/>
    <p:sldId id="272" r:id="rId16"/>
    <p:sldId id="279" r:id="rId17"/>
    <p:sldId id="276" r:id="rId18"/>
    <p:sldId id="264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1BDBA-D227-45C9-BFC5-CF3822E39B65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B3AB6-B8BA-44A0-BAD8-136236BA5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25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BCF3-26E0-EFB9-E801-7E73972E7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9FF9C-173E-38A7-08ED-FE091FBD9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C9CCC-5FCE-D373-C710-696D1214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5719-BBE9-46C0-80BA-CEE73032B03A}" type="datetime1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8656C-36BB-A778-FA40-B581097A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6884-66D2-1A91-F3FC-33C5EB73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8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01D4-7EDA-1ED8-C486-3896A27D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7F6A-1148-1FA6-47B0-C1632DB5B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49BC8-02F1-8D79-AE15-52F0C08E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A8B10-3B9B-46DA-9F82-2B6FE78E7F97}" type="datetime1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D363C-9C06-D6F6-0B08-345F9A37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49289-8F1B-D924-1097-37E8447B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6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E790-20E5-66AB-C310-9A12C620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4F45A-1089-ABF7-54CE-3C170D99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2B25-66D0-02E5-4FFB-518D2714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D92A-6085-469C-A0A8-82CB8216C771}" type="datetime1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C589C-FC27-1F20-8265-9E0247B7F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D1B33-9801-B132-CE77-FD03CDA4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2859-950C-5DD8-7E1A-08958191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DF74-6D0B-8B27-CEBA-96066C604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6F303-776F-7E38-DBF1-32BBAEE14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71515-B271-D36B-7C53-79A96641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8B33C-2B40-4A9B-9151-1E91A1D00A11}" type="datetime1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7DF34-DF05-868D-1A85-8789597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43AF1-51D2-42E5-CEDF-E6DB20DC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0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7F2F-FD67-D696-0D0C-A3B90B2B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A3E41-35DC-69CA-7115-B0B40EE05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810DE-94FC-B30F-9440-DBF045EA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D9D02-5589-3E24-439E-9FD260EE3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62FEA-517F-1E28-BB2A-5472EA093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DC084-2645-9ADB-E86B-2748A97F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D95A-84FD-4586-B96F-3ADEE99B671A}" type="datetime1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E3048-0A75-2943-8C5C-B14ADB2A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8CAB7-B809-8FDB-DEF9-52A021A5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1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6731-E0E2-9B78-3328-1507E9AF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87ECD-3D59-6C90-6063-02650315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D151-AD39-4A20-8619-299D1A4B21D1}" type="datetime1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78BB7-5327-A82C-E56C-85B9B912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ACF26-3D5F-A6C2-98C0-0085AE5A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8430F-73AD-A13E-42E8-12FCE81A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2E069-4BFA-40C3-AD2F-460A82CFF36E}" type="datetime1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06C77-F3CB-E101-A73B-5122CB37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3F4C0-97E7-7EC4-D1F8-DE5A6FEF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1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41BC-5BA2-C96B-9630-B3ED2745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AE94D-3FEA-79B7-CB0F-0379DBD0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6D903-5E08-B7F4-A753-17FC5C0B7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86CF8-70B3-0D06-B1C4-844825FF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97D70-8577-4149-A37C-CC38071C7B1C}" type="datetime1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72C48-70A4-17CA-E491-CF9AA5D5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E9D01-9973-0D37-E5CF-0EB04EE2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0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1E10-D064-E636-A724-1E6D49C7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FAFB99-0C82-CA36-D6F7-C121F65A1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189CC-66E0-0508-F7D1-383014122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9BF61-EFDC-18EF-31C5-988E7E042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C42C-6118-4276-AC5B-ED78D073A5EB}" type="datetime1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F0A22-C605-616E-C195-18D8EEAE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62BCE-FBAE-89F8-F338-CCA414CD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6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BAC5-40C8-3BCB-DA58-3A2E9431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9F3D8-1006-E47A-66AF-8C219CD70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B5F85-FF59-F691-2BE3-5C534955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84C7-8A47-4CCD-B2C7-722E131BB5F5}" type="datetime1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E81D-42BC-04A4-DD5C-7D00357E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D5D89-3D82-8998-227A-DD14A16C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6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C1908-92F5-33A4-DF27-61A4E59C2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5AC06-9D3D-9FAF-9855-DFBEED326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A9413-94FE-93E9-B07C-A2325A88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35853-BB2F-4412-8C56-8E5DE1AC91FD}" type="datetime1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A4EB6-B689-B77D-5148-67F47245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69D2-6965-B7CB-8801-DA5B1336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9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C976B-BD9E-0A4D-986E-8C8FC5F8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D10B8-A348-ECDF-E440-BC9414FC3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93172-B465-8986-C917-AB91DB27B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BF681-82BD-4C62-8EB0-FA11B47092EE}" type="datetime1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026C1-E409-013D-1A3D-D0D22B4BE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2A730-778F-8E72-1506-D874AC646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9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865A-0BB1-CE3C-F399-3A7E5B399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 Cascade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D4AA3-8548-D181-CB13-490E548712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 Gillman</a:t>
            </a:r>
          </a:p>
          <a:p>
            <a:r>
              <a:rPr lang="en-US" dirty="0"/>
              <a:t>DDI-CDI Working Group</a:t>
            </a:r>
          </a:p>
        </p:txBody>
      </p:sp>
    </p:spTree>
    <p:extLst>
      <p:ext uri="{BB962C8B-B14F-4D97-AF65-F5344CB8AC3E}">
        <p14:creationId xmlns:p14="http://schemas.microsoft.com/office/powerpoint/2010/main" val="8337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EF97-9532-DD62-3719-2EE20D11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Variable?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6778-E610-AD59-264D-EAB37511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017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u="sng" dirty="0"/>
              <a:t>Variable</a:t>
            </a:r>
            <a:r>
              <a:rPr lang="en-US" dirty="0"/>
              <a:t>: Mapping between a set of units (the sample) and a Value Domain</a:t>
            </a:r>
          </a:p>
          <a:p>
            <a:pPr lvl="1"/>
            <a:r>
              <a:rPr lang="en-US" dirty="0"/>
              <a:t>Similar to but not quite the same as a function in mathematics</a:t>
            </a:r>
          </a:p>
          <a:p>
            <a:pPr lvl="1"/>
            <a:r>
              <a:rPr lang="en-US" dirty="0"/>
              <a:t>Domain = sample; Range = Value Domain</a:t>
            </a:r>
          </a:p>
          <a:p>
            <a:r>
              <a:rPr lang="en-US" dirty="0"/>
              <a:t>Units:</a:t>
            </a:r>
          </a:p>
          <a:p>
            <a:pPr lvl="1"/>
            <a:r>
              <a:rPr lang="en-US" dirty="0"/>
              <a:t>The objects on which we collect data</a:t>
            </a:r>
          </a:p>
          <a:p>
            <a:r>
              <a:rPr lang="en-US" dirty="0"/>
              <a:t>Value Domain:</a:t>
            </a:r>
          </a:p>
          <a:p>
            <a:pPr lvl="1"/>
            <a:r>
              <a:rPr lang="en-US" dirty="0"/>
              <a:t>A set of allowed values (meanings and their representations)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Marital status categories</a:t>
            </a:r>
          </a:p>
          <a:p>
            <a:pPr lvl="3"/>
            <a:r>
              <a:rPr lang="en-US" dirty="0"/>
              <a:t>&lt;s, single&gt;; &lt;m, married&gt;; &lt;d, divorced&gt;; &lt;w, widowed&gt;</a:t>
            </a:r>
          </a:p>
          <a:p>
            <a:pPr lvl="2"/>
            <a:r>
              <a:rPr lang="en-US" dirty="0"/>
              <a:t>Age range in years</a:t>
            </a:r>
          </a:p>
          <a:p>
            <a:pPr lvl="3"/>
            <a:r>
              <a:rPr lang="en-US" dirty="0"/>
              <a:t>{n| 100 &gt; n &gt;=0} in Arabic numerals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35F9B-4AF1-96A1-314F-50D8E888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8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DDD8-2878-C33C-762D-A158048C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and Sets of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A348F-DDCF-7F00-EF4B-D2903E12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Unit Type</a:t>
            </a:r>
          </a:p>
          <a:p>
            <a:pPr lvl="1"/>
            <a:r>
              <a:rPr lang="en-US" dirty="0"/>
              <a:t>Fundamental class of units for which an organization acquires data</a:t>
            </a:r>
          </a:p>
          <a:p>
            <a:pPr lvl="1"/>
            <a:r>
              <a:rPr lang="en-US" dirty="0"/>
              <a:t>Sample is a subset of the set of units corresponding to a unit type</a:t>
            </a:r>
          </a:p>
          <a:p>
            <a:r>
              <a:rPr lang="en-US" dirty="0"/>
              <a:t>Examples in the US government</a:t>
            </a:r>
          </a:p>
          <a:p>
            <a:pPr lvl="1"/>
            <a:r>
              <a:rPr lang="en-US" dirty="0"/>
              <a:t>US Bureau of Labor Statistics</a:t>
            </a:r>
          </a:p>
          <a:p>
            <a:pPr lvl="2"/>
            <a:r>
              <a:rPr lang="en-US" dirty="0"/>
              <a:t>People, Households, Business establishments</a:t>
            </a:r>
          </a:p>
          <a:p>
            <a:pPr lvl="1"/>
            <a:r>
              <a:rPr lang="en-US" dirty="0"/>
              <a:t>US Department of Labor (not BLS)</a:t>
            </a:r>
          </a:p>
          <a:p>
            <a:pPr lvl="2"/>
            <a:r>
              <a:rPr lang="en-US" dirty="0"/>
              <a:t>Business establishments, Inspections, Enforcements, Program recipients</a:t>
            </a:r>
          </a:p>
          <a:p>
            <a:pPr lvl="1"/>
            <a:r>
              <a:rPr lang="en-US" dirty="0"/>
              <a:t>US Fish and Wildlife Service</a:t>
            </a:r>
          </a:p>
          <a:p>
            <a:pPr lvl="2"/>
            <a:r>
              <a:rPr lang="en-US" dirty="0"/>
              <a:t>Animals (Fishes, Mammals, Birds)</a:t>
            </a:r>
          </a:p>
          <a:p>
            <a:r>
              <a:rPr lang="en-US" dirty="0"/>
              <a:t>Note, people are animals, but the organizational context matters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3B678-6A73-8549-1E51-00012781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6AAC-C513-0BA6-F4D4-B158577C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6FCD-54FB-9FB4-A111-6F9A2042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and Sets of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80CF4-77D6-890D-0D5B-20375288A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Universe</a:t>
            </a:r>
          </a:p>
          <a:p>
            <a:pPr lvl="1"/>
            <a:r>
              <a:rPr lang="en-US" dirty="0"/>
              <a:t>Specialization of a Unit Type by subject matter characteristics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Women –</a:t>
            </a:r>
          </a:p>
          <a:p>
            <a:pPr lvl="2"/>
            <a:r>
              <a:rPr lang="en-US" dirty="0"/>
              <a:t>People (unit type); female, age &gt;= 18 years (characteristics)</a:t>
            </a:r>
          </a:p>
          <a:p>
            <a:pPr lvl="1"/>
            <a:r>
              <a:rPr lang="en-US" dirty="0"/>
              <a:t>Mines –</a:t>
            </a:r>
          </a:p>
          <a:p>
            <a:pPr lvl="2"/>
            <a:r>
              <a:rPr lang="en-US" dirty="0"/>
              <a:t>Establishments (unit type); extracting minerals (characteristic)</a:t>
            </a:r>
          </a:p>
          <a:p>
            <a:pPr lvl="1"/>
            <a:r>
              <a:rPr lang="en-US" dirty="0"/>
              <a:t>Bears –</a:t>
            </a:r>
          </a:p>
          <a:p>
            <a:pPr lvl="2"/>
            <a:r>
              <a:rPr lang="en-US" dirty="0"/>
              <a:t>Animals (unit type</a:t>
            </a:r>
            <a:r>
              <a:rPr lang="en-US"/>
              <a:t>); omnivorous</a:t>
            </a:r>
            <a:r>
              <a:rPr lang="en-US" dirty="0"/>
              <a:t>, mammalian, scavenger (characteristics)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639DC-7191-D21D-0F2F-372E7EB9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13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DFC18-3B94-77E8-81ED-E31B66ED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4FB4-B7C3-2F98-DDEF-F1A945B8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and Sets of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E6167-4477-0E9C-3B82-F31F08779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</a:t>
            </a:r>
          </a:p>
          <a:p>
            <a:pPr lvl="1"/>
            <a:r>
              <a:rPr lang="en-US" dirty="0"/>
              <a:t>Specialization of a universe by time and location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Women in the US in February 2025</a:t>
            </a:r>
          </a:p>
          <a:p>
            <a:pPr lvl="1"/>
            <a:r>
              <a:rPr lang="en-US" dirty="0"/>
              <a:t>US mines in Colorado in 2020</a:t>
            </a:r>
          </a:p>
          <a:p>
            <a:pPr lvl="1"/>
            <a:r>
              <a:rPr lang="en-US" dirty="0"/>
              <a:t>Bears in Jellystone Park in 1960</a:t>
            </a:r>
          </a:p>
          <a:p>
            <a:r>
              <a:rPr lang="en-US" dirty="0"/>
              <a:t>Unit Type / Universe / Population</a:t>
            </a:r>
          </a:p>
          <a:p>
            <a:pPr lvl="1"/>
            <a:r>
              <a:rPr lang="en-US" dirty="0"/>
              <a:t>Called the Unit Cascade</a:t>
            </a:r>
          </a:p>
          <a:p>
            <a:pPr lvl="1"/>
            <a:r>
              <a:rPr lang="en-US" dirty="0"/>
              <a:t>Collectively, each is a unit class</a:t>
            </a:r>
          </a:p>
          <a:p>
            <a:pPr lvl="1"/>
            <a:r>
              <a:rPr lang="en-US" dirty="0"/>
              <a:t>Tied to descriptions of variables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C3CE9-428D-2259-1627-9C96DABF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35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A732-56A2-0D5F-BE2C-D6E987F3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9FE1-98DC-1BB0-97D7-6CFE2ED23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143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Value Domains:</a:t>
            </a:r>
          </a:p>
          <a:p>
            <a:pPr lvl="1"/>
            <a:r>
              <a:rPr lang="en-US" dirty="0"/>
              <a:t>the allowed values (meaning and the representation) for variables</a:t>
            </a:r>
          </a:p>
          <a:p>
            <a:pPr lvl="2"/>
            <a:r>
              <a:rPr lang="en-US" dirty="0"/>
              <a:t>E.g., marital status {&lt;s, single&gt;; &lt;m, married&gt;; &lt;d, divorced&gt;; &lt;w, widowed&gt;}</a:t>
            </a:r>
          </a:p>
          <a:p>
            <a:pPr lvl="2"/>
            <a:r>
              <a:rPr lang="en-US" dirty="0"/>
              <a:t>E.g., age {0 &lt;= whole number, and in Arabic numerals}</a:t>
            </a:r>
          </a:p>
          <a:p>
            <a:r>
              <a:rPr lang="en-US" dirty="0"/>
              <a:t>They come in 2 type systems (Usage and Structure):</a:t>
            </a:r>
          </a:p>
          <a:p>
            <a:pPr lvl="1"/>
            <a:r>
              <a:rPr lang="en-US" dirty="0"/>
              <a:t>Substantive versus Sentinel (Usage)</a:t>
            </a:r>
          </a:p>
          <a:p>
            <a:pPr lvl="1"/>
            <a:r>
              <a:rPr lang="en-US" dirty="0"/>
              <a:t>Substantive</a:t>
            </a:r>
          </a:p>
          <a:p>
            <a:pPr lvl="2"/>
            <a:r>
              <a:rPr lang="en-US" dirty="0"/>
              <a:t>Allowed values based on subject matter</a:t>
            </a:r>
          </a:p>
          <a:p>
            <a:pPr lvl="3"/>
            <a:r>
              <a:rPr lang="en-US" dirty="0"/>
              <a:t>E.g., </a:t>
            </a:r>
            <a:r>
              <a:rPr lang="en-US" u="sng" dirty="0"/>
              <a:t>marital status </a:t>
            </a:r>
            <a:r>
              <a:rPr lang="en-US" dirty="0"/>
              <a:t>classification; </a:t>
            </a:r>
            <a:r>
              <a:rPr lang="en-US" u="sng" dirty="0"/>
              <a:t>age</a:t>
            </a:r>
            <a:r>
              <a:rPr lang="en-US" dirty="0"/>
              <a:t> range</a:t>
            </a:r>
          </a:p>
          <a:p>
            <a:pPr lvl="1"/>
            <a:r>
              <a:rPr lang="en-US" dirty="0"/>
              <a:t>Sentinel</a:t>
            </a:r>
          </a:p>
          <a:p>
            <a:pPr lvl="2"/>
            <a:r>
              <a:rPr lang="en-US" dirty="0"/>
              <a:t>Allowed values based on processing</a:t>
            </a:r>
          </a:p>
          <a:p>
            <a:pPr lvl="3"/>
            <a:r>
              <a:rPr lang="en-US" dirty="0"/>
              <a:t>E.g., missing, refused, or other processing needs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A1689-168B-FC2F-EA2A-E99ECAE1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83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2B52-92F9-4F05-EFD3-5C12C3A9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9C7A-A072-E26E-16DF-20A95FDE3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789"/>
            <a:ext cx="10515600" cy="1325563"/>
          </a:xfrm>
        </p:spPr>
        <p:txBody>
          <a:bodyPr/>
          <a:lstStyle/>
          <a:p>
            <a:r>
              <a:rPr lang="en-US" dirty="0"/>
              <a:t>Value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6D66-1159-C2AE-1624-61ED6095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1432" cy="4351338"/>
          </a:xfrm>
        </p:spPr>
        <p:txBody>
          <a:bodyPr>
            <a:normAutofit/>
          </a:bodyPr>
          <a:lstStyle/>
          <a:p>
            <a:r>
              <a:rPr lang="en-US" dirty="0"/>
              <a:t>Type systems, cont’d</a:t>
            </a:r>
          </a:p>
          <a:p>
            <a:pPr lvl="1"/>
            <a:r>
              <a:rPr lang="en-US" dirty="0"/>
              <a:t>Enumerated versus Described (Structure)</a:t>
            </a:r>
          </a:p>
          <a:p>
            <a:pPr lvl="1"/>
            <a:r>
              <a:rPr lang="en-US" dirty="0"/>
              <a:t>Enumerated</a:t>
            </a:r>
          </a:p>
          <a:p>
            <a:pPr lvl="2"/>
            <a:r>
              <a:rPr lang="en-US" dirty="0"/>
              <a:t>Each allowed value is listed</a:t>
            </a:r>
          </a:p>
          <a:p>
            <a:pPr lvl="2"/>
            <a:r>
              <a:rPr lang="en-US" dirty="0"/>
              <a:t>An exhaustive list</a:t>
            </a:r>
          </a:p>
          <a:p>
            <a:pPr lvl="1"/>
            <a:r>
              <a:rPr lang="en-US" dirty="0"/>
              <a:t>Described</a:t>
            </a:r>
          </a:p>
          <a:p>
            <a:pPr lvl="2"/>
            <a:r>
              <a:rPr lang="en-US" dirty="0"/>
              <a:t>Dates and times (range)</a:t>
            </a:r>
          </a:p>
          <a:p>
            <a:pPr lvl="2"/>
            <a:r>
              <a:rPr lang="en-US" dirty="0"/>
              <a:t>Text strings for qualitative data, e.g., names (of people or businesses); identifiers</a:t>
            </a:r>
          </a:p>
          <a:p>
            <a:pPr lvl="2"/>
            <a:r>
              <a:rPr lang="en-US" dirty="0"/>
              <a:t>Numeric strings (range for quantities)</a:t>
            </a:r>
          </a:p>
          <a:p>
            <a:pPr lvl="3"/>
            <a:r>
              <a:rPr lang="en-US" dirty="0"/>
              <a:t>Integer	for counts</a:t>
            </a:r>
          </a:p>
          <a:p>
            <a:pPr lvl="3"/>
            <a:r>
              <a:rPr lang="en-US" dirty="0"/>
              <a:t>Real	for inexact quantities</a:t>
            </a:r>
          </a:p>
          <a:p>
            <a:pPr lvl="3"/>
            <a:r>
              <a:rPr lang="en-US" dirty="0"/>
              <a:t>Scaled	for currencies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5AE1D-D204-E9C7-F93D-BA186195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66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3EC3-7B60-E1C5-225F-3154857B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5276-DEF3-1663-2A25-A4644227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D7C60-4A4A-2285-DEC8-5253CEABD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1432" cy="1325563"/>
          </a:xfrm>
        </p:spPr>
        <p:txBody>
          <a:bodyPr>
            <a:normAutofit/>
          </a:bodyPr>
          <a:lstStyle/>
          <a:p>
            <a:r>
              <a:rPr lang="en-US" dirty="0"/>
              <a:t>Problem</a:t>
            </a:r>
          </a:p>
          <a:p>
            <a:pPr lvl="1"/>
            <a:r>
              <a:rPr lang="en-US" dirty="0"/>
              <a:t>Some Value Domains only differ by representation of the same meanings</a:t>
            </a:r>
          </a:p>
          <a:p>
            <a:pPr lvl="1"/>
            <a:r>
              <a:rPr lang="en-US" dirty="0"/>
              <a:t>Consider 2 Value Domains for marital status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B8EF0B-8FFE-9CD8-D64B-CC6E4D948DA0}"/>
              </a:ext>
            </a:extLst>
          </p:cNvPr>
          <p:cNvSpPr txBox="1">
            <a:spLocks/>
          </p:cNvSpPr>
          <p:nvPr/>
        </p:nvSpPr>
        <p:spPr>
          <a:xfrm>
            <a:off x="838199" y="4152778"/>
            <a:ext cx="4448909" cy="1474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EC37E8-7852-B141-D885-85277F8294EF}"/>
              </a:ext>
            </a:extLst>
          </p:cNvPr>
          <p:cNvSpPr txBox="1">
            <a:spLocks/>
          </p:cNvSpPr>
          <p:nvPr/>
        </p:nvSpPr>
        <p:spPr>
          <a:xfrm>
            <a:off x="6096000" y="3288933"/>
            <a:ext cx="4448909" cy="1474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&lt;1, single</a:t>
            </a:r>
          </a:p>
          <a:p>
            <a:pPr lvl="2"/>
            <a:r>
              <a:rPr lang="en-US" dirty="0"/>
              <a:t>&lt;2, married&gt;</a:t>
            </a:r>
          </a:p>
          <a:p>
            <a:pPr lvl="2"/>
            <a:r>
              <a:rPr lang="en-US" dirty="0"/>
              <a:t>&lt;3, divorced&gt;</a:t>
            </a:r>
          </a:p>
          <a:p>
            <a:pPr lvl="2"/>
            <a:r>
              <a:rPr lang="en-US" dirty="0"/>
              <a:t>&lt;4, widowed&gt;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1905B2-BF1F-E92D-852B-055BF38C75D5}"/>
              </a:ext>
            </a:extLst>
          </p:cNvPr>
          <p:cNvSpPr txBox="1">
            <a:spLocks/>
          </p:cNvSpPr>
          <p:nvPr/>
        </p:nvSpPr>
        <p:spPr>
          <a:xfrm>
            <a:off x="838199" y="3291741"/>
            <a:ext cx="4448909" cy="1474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&lt;s, single</a:t>
            </a:r>
          </a:p>
          <a:p>
            <a:pPr lvl="2"/>
            <a:r>
              <a:rPr lang="en-US" dirty="0"/>
              <a:t>&lt;m, married&gt;</a:t>
            </a:r>
          </a:p>
          <a:p>
            <a:pPr lvl="2"/>
            <a:r>
              <a:rPr lang="en-US" dirty="0"/>
              <a:t>&lt;d, divorced&gt;</a:t>
            </a:r>
          </a:p>
          <a:p>
            <a:pPr lvl="2"/>
            <a:r>
              <a:rPr lang="en-US" dirty="0"/>
              <a:t>&lt;w, widowed&gt;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2142AE-8E28-E1C3-039A-B35A6C727948}"/>
              </a:ext>
            </a:extLst>
          </p:cNvPr>
          <p:cNvSpPr txBox="1">
            <a:spLocks/>
          </p:cNvSpPr>
          <p:nvPr/>
        </p:nvSpPr>
        <p:spPr>
          <a:xfrm>
            <a:off x="838198" y="4900977"/>
            <a:ext cx="11049001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 – the meanings are the same; only representations (codes) differ</a:t>
            </a:r>
          </a:p>
          <a:p>
            <a:r>
              <a:rPr lang="en-US" dirty="0"/>
              <a:t>When these occur, how do we know the meanings are the same?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8147C7-9820-541C-384C-A756B840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74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0B2C-65BA-FCCD-B055-4A5234FA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4D2A-C100-052A-8F11-C7B78627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9235-9381-C5DE-6BB6-06112DF9D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71" y="1805961"/>
            <a:ext cx="7135762" cy="4364160"/>
          </a:xfrm>
        </p:spPr>
        <p:txBody>
          <a:bodyPr>
            <a:normAutofit/>
          </a:bodyPr>
          <a:lstStyle/>
          <a:p>
            <a:r>
              <a:rPr lang="en-US" dirty="0"/>
              <a:t>CD is a set of meanings</a:t>
            </a:r>
          </a:p>
          <a:p>
            <a:pPr lvl="1"/>
            <a:r>
              <a:rPr lang="en-US" dirty="0"/>
              <a:t>This is similar to a Category Set</a:t>
            </a:r>
          </a:p>
          <a:p>
            <a:r>
              <a:rPr lang="en-US" dirty="0"/>
              <a:t>Correspondence for related Value Domains</a:t>
            </a:r>
          </a:p>
          <a:p>
            <a:pPr lvl="1"/>
            <a:r>
              <a:rPr lang="en-US" dirty="0"/>
              <a:t>Can be enumerated or described</a:t>
            </a:r>
          </a:p>
          <a:p>
            <a:r>
              <a:rPr lang="en-US" dirty="0"/>
              <a:t>Most useful in enumerated case</a:t>
            </a:r>
          </a:p>
          <a:p>
            <a:pPr lvl="1"/>
            <a:r>
              <a:rPr lang="en-US" dirty="0"/>
              <a:t>Example – marital status categories</a:t>
            </a:r>
          </a:p>
          <a:p>
            <a:pPr lvl="3"/>
            <a:r>
              <a:rPr lang="en-US" dirty="0"/>
              <a:t>Single</a:t>
            </a:r>
          </a:p>
          <a:p>
            <a:pPr lvl="3"/>
            <a:r>
              <a:rPr lang="en-US" dirty="0"/>
              <a:t>Married</a:t>
            </a:r>
          </a:p>
          <a:p>
            <a:pPr lvl="3"/>
            <a:r>
              <a:rPr lang="en-US" dirty="0"/>
              <a:t>Divorced</a:t>
            </a:r>
          </a:p>
          <a:p>
            <a:pPr lvl="3"/>
            <a:r>
              <a:rPr lang="en-US" dirty="0"/>
              <a:t>Widowed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63CED8-1B3F-9869-CF25-BB7F9CB9BFCA}"/>
              </a:ext>
            </a:extLst>
          </p:cNvPr>
          <p:cNvSpPr txBox="1">
            <a:spLocks/>
          </p:cNvSpPr>
          <p:nvPr/>
        </p:nvSpPr>
        <p:spPr>
          <a:xfrm>
            <a:off x="838199" y="4152778"/>
            <a:ext cx="4448909" cy="1474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BAF30-6029-1681-DCDA-587A3055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659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9FF3-8C40-8F3B-E887-1AF63323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93A8-0A8D-6C30-A025-56A2A145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D6618-BFB5-6866-563F-62066FD29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037" y="1840887"/>
            <a:ext cx="10861432" cy="14392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CD is source of meanings of allowed values</a:t>
            </a:r>
          </a:p>
          <a:p>
            <a:r>
              <a:rPr lang="en-US" dirty="0"/>
              <a:t>Correspondence between similar Value Domains</a:t>
            </a:r>
          </a:p>
          <a:p>
            <a:r>
              <a:rPr lang="en-US" dirty="0"/>
              <a:t>Again, with the marital status CD: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4AB33B-AB0A-456B-8CB0-F6D16D074F42}"/>
              </a:ext>
            </a:extLst>
          </p:cNvPr>
          <p:cNvSpPr txBox="1">
            <a:spLocks/>
          </p:cNvSpPr>
          <p:nvPr/>
        </p:nvSpPr>
        <p:spPr>
          <a:xfrm>
            <a:off x="838199" y="4152778"/>
            <a:ext cx="4448909" cy="1474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F120AD-065F-6BF4-759D-994EB74B9704}"/>
              </a:ext>
            </a:extLst>
          </p:cNvPr>
          <p:cNvSpPr txBox="1">
            <a:spLocks/>
          </p:cNvSpPr>
          <p:nvPr/>
        </p:nvSpPr>
        <p:spPr>
          <a:xfrm>
            <a:off x="838199" y="3006481"/>
            <a:ext cx="10861432" cy="1011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E511B4-CC2D-D7AD-9F8A-60E7A2B4CC79}"/>
              </a:ext>
            </a:extLst>
          </p:cNvPr>
          <p:cNvSpPr txBox="1">
            <a:spLocks/>
          </p:cNvSpPr>
          <p:nvPr/>
        </p:nvSpPr>
        <p:spPr>
          <a:xfrm>
            <a:off x="838199" y="3593124"/>
            <a:ext cx="8200294" cy="197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CD				VD 1			VD 2</a:t>
            </a:r>
          </a:p>
          <a:p>
            <a:r>
              <a:rPr lang="en-US" sz="1800" dirty="0"/>
              <a:t>Single				&lt;s, single&gt;		&lt;1, single&gt;</a:t>
            </a:r>
          </a:p>
          <a:p>
            <a:r>
              <a:rPr lang="en-US" sz="1800" dirty="0"/>
              <a:t>Married			&lt;m, married&gt;		&lt;2, married&gt;</a:t>
            </a:r>
          </a:p>
          <a:p>
            <a:r>
              <a:rPr lang="en-US" sz="1800" dirty="0"/>
              <a:t>Divorced			&lt;d, divorced&gt;		&lt;3, divorced&gt;</a:t>
            </a:r>
          </a:p>
          <a:p>
            <a:r>
              <a:rPr lang="en-US" sz="1800" dirty="0"/>
              <a:t>Widowed			&lt;w, widowed&gt;		&lt;4, widowed&gt;</a:t>
            </a:r>
          </a:p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4D49EE1-1614-8A61-5704-EDEE8EF3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697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6804-74F3-2F86-5474-BEDE3E2F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94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Variable Cascade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D64DE-E684-44D9-7F39-E5585FF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08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CD46-BB64-E639-86F4-40663742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BECF7-CA85-F2E5-C1D4-3325CD258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Means of </a:t>
            </a:r>
            <a:r>
              <a:rPr lang="en-US" u="sng" dirty="0"/>
              <a:t>describing</a:t>
            </a:r>
            <a:r>
              <a:rPr lang="en-US" dirty="0"/>
              <a:t> variables</a:t>
            </a:r>
          </a:p>
          <a:p>
            <a:r>
              <a:rPr lang="en-US" dirty="0"/>
              <a:t>Contains 4 levels</a:t>
            </a:r>
          </a:p>
          <a:p>
            <a:pPr lvl="1"/>
            <a:r>
              <a:rPr lang="en-US" dirty="0"/>
              <a:t>Concept</a:t>
            </a:r>
          </a:p>
          <a:p>
            <a:pPr lvl="1"/>
            <a:r>
              <a:rPr lang="en-US" dirty="0"/>
              <a:t>Conceptual Variable</a:t>
            </a:r>
          </a:p>
          <a:p>
            <a:pPr lvl="1"/>
            <a:r>
              <a:rPr lang="en-US" dirty="0"/>
              <a:t>Represented Variable</a:t>
            </a:r>
          </a:p>
          <a:p>
            <a:pPr lvl="1"/>
            <a:r>
              <a:rPr lang="en-US" dirty="0"/>
              <a:t>Instance Variable</a:t>
            </a:r>
          </a:p>
          <a:p>
            <a:r>
              <a:rPr lang="en-US" dirty="0"/>
              <a:t>Note – these levels are not to be confused with variables</a:t>
            </a:r>
          </a:p>
          <a:p>
            <a:pPr lvl="1"/>
            <a:r>
              <a:rPr lang="en-US" dirty="0"/>
              <a:t>Part of the description of variables found in data sets</a:t>
            </a:r>
          </a:p>
          <a:p>
            <a:r>
              <a:rPr lang="en-US" dirty="0"/>
              <a:t>Levels represent reusable and separable parts of descriptions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7D3BD-BD90-9471-0373-EEADA5CC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289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B582A-B61D-A414-384B-57BB60349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E7B4-4340-7891-EE6C-B7EF6723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5D9E-DA1A-3406-217A-9A62559A7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  <a:p>
            <a:pPr lvl="1"/>
            <a:r>
              <a:rPr lang="en-US" dirty="0"/>
              <a:t>Used to define a variable</a:t>
            </a:r>
          </a:p>
          <a:p>
            <a:pPr lvl="2"/>
            <a:r>
              <a:rPr lang="en-US" dirty="0"/>
              <a:t>E.g., marital status, age</a:t>
            </a:r>
          </a:p>
          <a:p>
            <a:pPr lvl="1"/>
            <a:r>
              <a:rPr lang="en-US" dirty="0"/>
              <a:t>Concepts are characteristics of the unit classes</a:t>
            </a:r>
          </a:p>
          <a:p>
            <a:pPr lvl="2"/>
            <a:r>
              <a:rPr lang="en-US" dirty="0"/>
              <a:t>People have a marital status</a:t>
            </a:r>
          </a:p>
          <a:p>
            <a:pPr lvl="2"/>
            <a:r>
              <a:rPr lang="en-US" dirty="0"/>
              <a:t>People have an age</a:t>
            </a:r>
          </a:p>
          <a:p>
            <a:pPr lvl="1"/>
            <a:r>
              <a:rPr lang="en-US" dirty="0"/>
              <a:t>All marital status variables, for example, share the same concept</a:t>
            </a:r>
          </a:p>
          <a:p>
            <a:pPr lvl="1"/>
            <a:r>
              <a:rPr lang="en-US" dirty="0"/>
              <a:t>Specialized concepts inherit the characteristics of their parents</a:t>
            </a:r>
          </a:p>
          <a:p>
            <a:pPr lvl="2"/>
            <a:r>
              <a:rPr lang="en-US" dirty="0"/>
              <a:t>Universes and Populations inherit the characteristics of the Unit Type</a:t>
            </a:r>
          </a:p>
          <a:p>
            <a:pPr lvl="2"/>
            <a:r>
              <a:rPr lang="en-US" dirty="0"/>
              <a:t>E.g., women in the US in 2025 have a marital status</a:t>
            </a:r>
          </a:p>
          <a:p>
            <a:pPr lvl="2"/>
            <a:r>
              <a:rPr lang="en-US" dirty="0"/>
              <a:t>E.g., women in the US in 2025 have an 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A9871-63C1-A9E0-D68F-98B8A837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11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5066-39D3-972F-9B3B-0B2203D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F3E87-2665-9923-6A4E-2EC9F5E016A2}"/>
              </a:ext>
            </a:extLst>
          </p:cNvPr>
          <p:cNvSpPr txBox="1"/>
          <p:nvPr/>
        </p:nvSpPr>
        <p:spPr>
          <a:xfrm>
            <a:off x="4798142" y="2029739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1D9B3-DA40-F6FE-F6DC-3C786F66850C}"/>
              </a:ext>
            </a:extLst>
          </p:cNvPr>
          <p:cNvSpPr txBox="1"/>
          <p:nvPr/>
        </p:nvSpPr>
        <p:spPr>
          <a:xfrm>
            <a:off x="3116826" y="3253855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F1CCD-D8AD-8127-8391-32940917D105}"/>
              </a:ext>
            </a:extLst>
          </p:cNvPr>
          <p:cNvSpPr txBox="1"/>
          <p:nvPr/>
        </p:nvSpPr>
        <p:spPr>
          <a:xfrm>
            <a:off x="5850195" y="3253855"/>
            <a:ext cx="62926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0EBF9-3B95-874C-9759-82B323AE0630}"/>
              </a:ext>
            </a:extLst>
          </p:cNvPr>
          <p:cNvSpPr txBox="1"/>
          <p:nvPr/>
        </p:nvSpPr>
        <p:spPr>
          <a:xfrm>
            <a:off x="8239433" y="2029739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7EC00-9A2C-A527-1DC2-DF60FA8780AB}"/>
              </a:ext>
            </a:extLst>
          </p:cNvPr>
          <p:cNvSpPr txBox="1"/>
          <p:nvPr/>
        </p:nvSpPr>
        <p:spPr>
          <a:xfrm>
            <a:off x="8841658" y="2648860"/>
            <a:ext cx="167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EF231-FC8E-B8D3-250F-785ADBD1B3DA}"/>
              </a:ext>
            </a:extLst>
          </p:cNvPr>
          <p:cNvSpPr txBox="1"/>
          <p:nvPr/>
        </p:nvSpPr>
        <p:spPr>
          <a:xfrm>
            <a:off x="8239433" y="3267981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E40890-380F-088B-0536-31DB6510DD8D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13239" y="2399071"/>
            <a:ext cx="133718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72EA19-FB76-B8E7-19EC-25C0C8DF1A3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50426" y="2399071"/>
            <a:ext cx="914401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217567E-DD96-5021-06FF-BEEAA871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E923-F3F5-8BD3-8722-1DF99D94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34BD-AC25-8350-E912-DE4E91D2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Conceptual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3C9B0-F09C-25A7-4B5C-C9CE6735C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626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Concept level + the CD</a:t>
            </a:r>
          </a:p>
          <a:p>
            <a:r>
              <a:rPr lang="en-US" dirty="0"/>
              <a:t>When the CD changes, the Conceptual Variable changes</a:t>
            </a:r>
          </a:p>
          <a:p>
            <a:r>
              <a:rPr lang="en-US" dirty="0"/>
              <a:t>With marital status, consider</a:t>
            </a:r>
          </a:p>
          <a:p>
            <a:pPr lvl="1"/>
            <a:r>
              <a:rPr lang="en-US" u="sng" dirty="0"/>
              <a:t>CD4</a:t>
            </a:r>
            <a:r>
              <a:rPr lang="en-US" dirty="0"/>
              <a:t>					</a:t>
            </a:r>
            <a:r>
              <a:rPr lang="en-US" u="sng" dirty="0"/>
              <a:t>CD2</a:t>
            </a:r>
          </a:p>
          <a:p>
            <a:pPr marL="914400" lvl="2" indent="0">
              <a:buNone/>
            </a:pPr>
            <a:r>
              <a:rPr lang="en-US" dirty="0"/>
              <a:t>&lt;single&gt;       </a:t>
            </a:r>
            <a:r>
              <a:rPr lang="en-US" dirty="0">
                <a:solidFill>
                  <a:srgbClr val="FF0000"/>
                </a:solidFill>
              </a:rPr>
              <a:t>        these aren’t the same</a:t>
            </a:r>
            <a:r>
              <a:rPr lang="en-US" dirty="0"/>
              <a:t>	    &lt;single&gt;</a:t>
            </a:r>
            <a:endParaRPr lang="en-US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/>
              <a:t>&lt;married&gt;				    &lt;married&gt;</a:t>
            </a:r>
          </a:p>
          <a:p>
            <a:pPr marL="914400" lvl="2" indent="0">
              <a:buNone/>
            </a:pPr>
            <a:r>
              <a:rPr lang="en-US" dirty="0"/>
              <a:t>&lt;divorced&gt;</a:t>
            </a:r>
          </a:p>
          <a:p>
            <a:pPr marL="914400" lvl="2" indent="0">
              <a:buNone/>
            </a:pPr>
            <a:r>
              <a:rPr lang="en-US" dirty="0"/>
              <a:t>&lt;widowed&gt;</a:t>
            </a:r>
          </a:p>
          <a:p>
            <a:r>
              <a:rPr lang="en-US" dirty="0"/>
              <a:t>These 2 CDs characterize marital status differently</a:t>
            </a:r>
          </a:p>
          <a:p>
            <a:pPr lvl="1"/>
            <a:r>
              <a:rPr lang="en-US" dirty="0"/>
              <a:t>Even though marital status still means the same thing</a:t>
            </a:r>
          </a:p>
          <a:p>
            <a:pPr lvl="1"/>
            <a:r>
              <a:rPr lang="en-US" dirty="0"/>
              <a:t>Therefore, marital status variables are interpreted slightly differently</a:t>
            </a:r>
          </a:p>
          <a:p>
            <a:pPr lvl="2"/>
            <a:endParaRPr lang="en-US" dirty="0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57033D79-7571-D192-F706-8EF038FA459F}"/>
              </a:ext>
            </a:extLst>
          </p:cNvPr>
          <p:cNvSpPr/>
          <p:nvPr/>
        </p:nvSpPr>
        <p:spPr>
          <a:xfrm>
            <a:off x="3295036" y="3628103"/>
            <a:ext cx="157316" cy="8504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55C83F8-EE5A-91B7-2BD6-AA50432B6EC8}"/>
              </a:ext>
            </a:extLst>
          </p:cNvPr>
          <p:cNvSpPr/>
          <p:nvPr/>
        </p:nvSpPr>
        <p:spPr>
          <a:xfrm>
            <a:off x="6066503" y="3628103"/>
            <a:ext cx="157316" cy="8504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1F9F2-FE38-AB31-9B42-3A9AC00E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15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9DE3-7C5D-F624-6841-2ACA4FDA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86AD-27D0-AEE4-1DBD-E185BA84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Conceptual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6D9AB-5012-AF05-22C1-8E6E19631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6262" cy="4351338"/>
          </a:xfrm>
        </p:spPr>
        <p:txBody>
          <a:bodyPr>
            <a:normAutofit/>
          </a:bodyPr>
          <a:lstStyle/>
          <a:p>
            <a:r>
              <a:rPr lang="en-US" dirty="0"/>
              <a:t>Age</a:t>
            </a:r>
          </a:p>
          <a:p>
            <a:pPr lvl="1"/>
            <a:r>
              <a:rPr lang="en-US" dirty="0"/>
              <a:t>CD = {0 &lt;= whole number}</a:t>
            </a:r>
          </a:p>
          <a:p>
            <a:pPr lvl="1"/>
            <a:r>
              <a:rPr lang="en-US" dirty="0"/>
              <a:t>We don’t know right now the number represents years</a:t>
            </a:r>
          </a:p>
          <a:p>
            <a:r>
              <a:rPr lang="en-US" dirty="0"/>
              <a:t>Remember –</a:t>
            </a:r>
          </a:p>
          <a:p>
            <a:pPr lvl="1"/>
            <a:r>
              <a:rPr lang="en-US" dirty="0"/>
              <a:t>numbers are concepts</a:t>
            </a:r>
          </a:p>
          <a:p>
            <a:pPr lvl="1"/>
            <a:r>
              <a:rPr lang="en-US" dirty="0"/>
              <a:t>numerals are representations</a:t>
            </a:r>
          </a:p>
          <a:p>
            <a:r>
              <a:rPr lang="en-US" dirty="0"/>
              <a:t>CDs list the concepts underlying the data</a:t>
            </a:r>
          </a:p>
          <a:p>
            <a:pPr lvl="2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35C73-C282-92D0-A741-434BE739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39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A299-16E8-7B79-103A-3283199D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1FCA-D646-9769-CA46-FB66171D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Conceptual Variable: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BAEA2-3C1C-BB75-719F-C89A23EBEEF7}"/>
              </a:ext>
            </a:extLst>
          </p:cNvPr>
          <p:cNvSpPr txBox="1"/>
          <p:nvPr/>
        </p:nvSpPr>
        <p:spPr>
          <a:xfrm>
            <a:off x="4817807" y="1690688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41F76-9CF6-229F-8073-0717316952F5}"/>
              </a:ext>
            </a:extLst>
          </p:cNvPr>
          <p:cNvSpPr txBox="1"/>
          <p:nvPr/>
        </p:nvSpPr>
        <p:spPr>
          <a:xfrm>
            <a:off x="3136491" y="2914804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B345D-0851-F291-7A37-B08AA51A2BCE}"/>
              </a:ext>
            </a:extLst>
          </p:cNvPr>
          <p:cNvSpPr txBox="1"/>
          <p:nvPr/>
        </p:nvSpPr>
        <p:spPr>
          <a:xfrm>
            <a:off x="6548286" y="2914804"/>
            <a:ext cx="6292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3E0DB-9E0D-6A54-5688-2ED6E2329C15}"/>
              </a:ext>
            </a:extLst>
          </p:cNvPr>
          <p:cNvSpPr txBox="1"/>
          <p:nvPr/>
        </p:nvSpPr>
        <p:spPr>
          <a:xfrm>
            <a:off x="9407014" y="1690688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BAB1F-F1EC-B0F3-CC7E-2DD4D762BCAF}"/>
              </a:ext>
            </a:extLst>
          </p:cNvPr>
          <p:cNvSpPr txBox="1"/>
          <p:nvPr/>
        </p:nvSpPr>
        <p:spPr>
          <a:xfrm>
            <a:off x="10009239" y="2309809"/>
            <a:ext cx="16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F68A8-123E-C7B0-2B8C-CB9F22C83214}"/>
              </a:ext>
            </a:extLst>
          </p:cNvPr>
          <p:cNvSpPr txBox="1"/>
          <p:nvPr/>
        </p:nvSpPr>
        <p:spPr>
          <a:xfrm>
            <a:off x="9407014" y="2910513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3FEBA1-F900-20D1-FD41-57F5D33E031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32904" y="2060020"/>
            <a:ext cx="133718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23212E-AE92-6E83-555B-4F9F2E2411A9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70091" y="2060020"/>
            <a:ext cx="159282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147C0C-58BE-4F22-5783-22C8CC323A44}"/>
              </a:ext>
            </a:extLst>
          </p:cNvPr>
          <p:cNvSpPr txBox="1"/>
          <p:nvPr/>
        </p:nvSpPr>
        <p:spPr>
          <a:xfrm>
            <a:off x="3303639" y="3954254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12F93-35D3-A476-3846-D91DA1603ACC}"/>
              </a:ext>
            </a:extLst>
          </p:cNvPr>
          <p:cNvSpPr txBox="1"/>
          <p:nvPr/>
        </p:nvSpPr>
        <p:spPr>
          <a:xfrm>
            <a:off x="589935" y="3946108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93954-5D5A-DB28-5BDE-CF34B376A0E5}"/>
              </a:ext>
            </a:extLst>
          </p:cNvPr>
          <p:cNvSpPr txBox="1"/>
          <p:nvPr/>
        </p:nvSpPr>
        <p:spPr>
          <a:xfrm>
            <a:off x="6440129" y="3954254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CD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BB4D14-1B54-01B0-29C6-74FDE0FD5DC5}"/>
              </a:ext>
            </a:extLst>
          </p:cNvPr>
          <p:cNvSpPr txBox="1"/>
          <p:nvPr/>
        </p:nvSpPr>
        <p:spPr>
          <a:xfrm>
            <a:off x="9407013" y="3946108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Conceptual  Variable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D4788E0-23D9-584B-64B2-3C19E21A8D1D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705896" y="3284136"/>
            <a:ext cx="2227008" cy="66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B3B15B-A0B2-1514-0CAF-330E921AE97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932904" y="3284136"/>
            <a:ext cx="486696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167AD3-BEDA-E741-70C5-68F030BADB48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862918" y="3284136"/>
            <a:ext cx="127818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EA89972-FDC7-01F2-F4AF-54C8B412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24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C514-C217-0BA7-AD54-9C329D2C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Represented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925A5-0F1F-5836-616C-7998A0219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Variable + Value Domain (substantive)</a:t>
            </a:r>
          </a:p>
          <a:p>
            <a:r>
              <a:rPr lang="en-US" dirty="0"/>
              <a:t>Includes</a:t>
            </a:r>
          </a:p>
          <a:p>
            <a:pPr lvl="1"/>
            <a:r>
              <a:rPr lang="en-US" dirty="0"/>
              <a:t>Unit of measure if applicable</a:t>
            </a:r>
          </a:p>
          <a:p>
            <a:pPr lvl="1"/>
            <a:r>
              <a:rPr lang="en-US" dirty="0"/>
              <a:t>Intended datatype</a:t>
            </a:r>
          </a:p>
          <a:p>
            <a:pPr lvl="2"/>
            <a:r>
              <a:rPr lang="en-US" dirty="0"/>
              <a:t>Expression of how data are intended to be used</a:t>
            </a:r>
          </a:p>
          <a:p>
            <a:pPr lvl="2"/>
            <a:r>
              <a:rPr lang="en-US" dirty="0"/>
              <a:t>Not how they are stored, or what they look like</a:t>
            </a:r>
          </a:p>
          <a:p>
            <a:pPr lvl="2"/>
            <a:r>
              <a:rPr lang="en-US" dirty="0"/>
              <a:t>Example - Marital status categories represented with numerals</a:t>
            </a:r>
          </a:p>
          <a:p>
            <a:pPr lvl="3"/>
            <a:r>
              <a:rPr lang="en-US" dirty="0"/>
              <a:t>NOT numeric</a:t>
            </a:r>
          </a:p>
          <a:p>
            <a:pPr lvl="3"/>
            <a:r>
              <a:rPr lang="en-US" dirty="0"/>
              <a:t>Still nominal – unordered set of categories</a:t>
            </a:r>
          </a:p>
          <a:p>
            <a:pPr lvl="1"/>
            <a:r>
              <a:rPr lang="en-US" dirty="0"/>
              <a:t>Ranges for counts, measures, scales, and date/times</a:t>
            </a:r>
          </a:p>
          <a:p>
            <a:pPr lvl="2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2B97B-BC67-D682-127F-22D18CBA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00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ABC1-958A-AF9A-6639-C75985BD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320F-4E01-564A-E430-850DE2DC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Represented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83DC-4C64-110E-FDB6-0B19274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Value Domains for Marital Status</a:t>
            </a:r>
          </a:p>
          <a:p>
            <a:pPr lvl="1"/>
            <a:r>
              <a:rPr lang="en-US" u="sng" dirty="0"/>
              <a:t>VD4-A</a:t>
            </a:r>
            <a:r>
              <a:rPr lang="en-US" dirty="0"/>
              <a:t>			VD4-N			</a:t>
            </a:r>
            <a:r>
              <a:rPr lang="en-US" u="sng" dirty="0"/>
              <a:t>VD2</a:t>
            </a:r>
          </a:p>
          <a:p>
            <a:pPr marL="914400" lvl="2" indent="0">
              <a:buNone/>
            </a:pPr>
            <a:r>
              <a:rPr lang="en-US" dirty="0"/>
              <a:t>&lt;s, single&gt;   </a:t>
            </a:r>
            <a:r>
              <a:rPr lang="en-US" dirty="0">
                <a:solidFill>
                  <a:srgbClr val="FF0000"/>
                </a:solidFill>
              </a:rPr>
              <a:t>        		    </a:t>
            </a:r>
            <a:r>
              <a:rPr lang="en-US" dirty="0"/>
              <a:t>&lt;1, single&gt; 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/>
              <a:t>	    &lt;s, single&gt;</a:t>
            </a:r>
            <a:endParaRPr lang="en-US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/>
              <a:t>&lt;m, married&gt;		    &lt;2, married&gt; 		    &lt;m, married&gt;</a:t>
            </a:r>
          </a:p>
          <a:p>
            <a:pPr marL="914400" lvl="2" indent="0">
              <a:buNone/>
            </a:pPr>
            <a:r>
              <a:rPr lang="en-US" dirty="0"/>
              <a:t>&lt;d, divorced&gt;		    &lt;3, divorced&gt; </a:t>
            </a:r>
          </a:p>
          <a:p>
            <a:pPr marL="914400" lvl="2" indent="0">
              <a:buNone/>
            </a:pPr>
            <a:r>
              <a:rPr lang="en-US" dirty="0"/>
              <a:t>&lt;w, widowed&gt;		    &lt;4, widowed&gt;</a:t>
            </a:r>
          </a:p>
          <a:p>
            <a:r>
              <a:rPr lang="en-US" dirty="0"/>
              <a:t>VD4-A and VD4-N based on CD4</a:t>
            </a:r>
          </a:p>
          <a:p>
            <a:r>
              <a:rPr lang="en-US" dirty="0"/>
              <a:t>VD2 based on CD2</a:t>
            </a:r>
          </a:p>
          <a:p>
            <a:r>
              <a:rPr lang="en-US" dirty="0"/>
              <a:t>Value Domain for Age</a:t>
            </a:r>
          </a:p>
          <a:p>
            <a:pPr lvl="1"/>
            <a:r>
              <a:rPr lang="en-US" dirty="0"/>
              <a:t>VD = {0 &lt;= whole number, represented in Arabic numerals}</a:t>
            </a:r>
          </a:p>
          <a:p>
            <a:r>
              <a:rPr lang="en-US" dirty="0"/>
              <a:t>Include bounds of ranges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8578F4-68BC-9AC7-6F2A-5DB6719B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953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6780-FC0A-625A-1482-3F9F15F7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48DD-7EC7-03EA-E257-8997BD57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Represented Variable: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2691B-413B-35A8-CC2C-900382C1D385}"/>
              </a:ext>
            </a:extLst>
          </p:cNvPr>
          <p:cNvSpPr txBox="1"/>
          <p:nvPr/>
        </p:nvSpPr>
        <p:spPr>
          <a:xfrm>
            <a:off x="4817807" y="1690688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1B78F-CED3-11BE-B0FB-74B2ED789A91}"/>
              </a:ext>
            </a:extLst>
          </p:cNvPr>
          <p:cNvSpPr txBox="1"/>
          <p:nvPr/>
        </p:nvSpPr>
        <p:spPr>
          <a:xfrm>
            <a:off x="3136491" y="2914804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B7189-B65B-8B6C-802C-274BD63757F7}"/>
              </a:ext>
            </a:extLst>
          </p:cNvPr>
          <p:cNvSpPr txBox="1"/>
          <p:nvPr/>
        </p:nvSpPr>
        <p:spPr>
          <a:xfrm>
            <a:off x="6548286" y="2914804"/>
            <a:ext cx="6292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BC9F8-8A7D-B201-F430-2B7AEFEB773F}"/>
              </a:ext>
            </a:extLst>
          </p:cNvPr>
          <p:cNvSpPr txBox="1"/>
          <p:nvPr/>
        </p:nvSpPr>
        <p:spPr>
          <a:xfrm>
            <a:off x="9407014" y="1690688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2B386-7BA8-C906-E295-7CFD89F3C656}"/>
              </a:ext>
            </a:extLst>
          </p:cNvPr>
          <p:cNvSpPr txBox="1"/>
          <p:nvPr/>
        </p:nvSpPr>
        <p:spPr>
          <a:xfrm>
            <a:off x="10009239" y="2309809"/>
            <a:ext cx="16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0F6FD-4604-9D44-D900-51D7DAB9BBAE}"/>
              </a:ext>
            </a:extLst>
          </p:cNvPr>
          <p:cNvSpPr txBox="1"/>
          <p:nvPr/>
        </p:nvSpPr>
        <p:spPr>
          <a:xfrm>
            <a:off x="9407014" y="2910513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980164-C007-691F-B20B-8C89C8F1198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32904" y="2060020"/>
            <a:ext cx="133718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F4D16-7352-DE04-4243-510B152EF75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70091" y="2060020"/>
            <a:ext cx="159282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CCD417-2269-FA61-6D1E-4F206353F59C}"/>
              </a:ext>
            </a:extLst>
          </p:cNvPr>
          <p:cNvSpPr txBox="1"/>
          <p:nvPr/>
        </p:nvSpPr>
        <p:spPr>
          <a:xfrm>
            <a:off x="3303639" y="3954254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F67EF-6B80-1BC2-8AF9-7FC829E23C75}"/>
              </a:ext>
            </a:extLst>
          </p:cNvPr>
          <p:cNvSpPr txBox="1"/>
          <p:nvPr/>
        </p:nvSpPr>
        <p:spPr>
          <a:xfrm>
            <a:off x="589935" y="3946108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CDC6E-1ADD-78C0-E22F-B17EDE172E0C}"/>
              </a:ext>
            </a:extLst>
          </p:cNvPr>
          <p:cNvSpPr txBox="1"/>
          <p:nvPr/>
        </p:nvSpPr>
        <p:spPr>
          <a:xfrm>
            <a:off x="6440129" y="3954254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CD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FC079F-6362-1DA6-1D93-6068E3C94F26}"/>
              </a:ext>
            </a:extLst>
          </p:cNvPr>
          <p:cNvSpPr txBox="1"/>
          <p:nvPr/>
        </p:nvSpPr>
        <p:spPr>
          <a:xfrm>
            <a:off x="9407013" y="3946108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Conceptual  Variable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422426-E227-BF82-FB0D-797B63DBD7C4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705896" y="3284136"/>
            <a:ext cx="2227008" cy="66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EEF8D5-4A2B-4EE6-8666-1C89464592F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932904" y="3284136"/>
            <a:ext cx="486696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A49B757-63AA-ABDE-9D99-8EFB9F64CAB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862918" y="3284136"/>
            <a:ext cx="127818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AD1DF1-A5F1-F5BC-072F-52A935280E21}"/>
              </a:ext>
            </a:extLst>
          </p:cNvPr>
          <p:cNvSpPr txBox="1"/>
          <p:nvPr/>
        </p:nvSpPr>
        <p:spPr>
          <a:xfrm>
            <a:off x="9407013" y="4934561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 Variable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7D123-7C1F-610A-1237-0AEADCBD1458}"/>
              </a:ext>
            </a:extLst>
          </p:cNvPr>
          <p:cNvSpPr txBox="1"/>
          <p:nvPr/>
        </p:nvSpPr>
        <p:spPr>
          <a:xfrm>
            <a:off x="422787" y="4934561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C69477-46CE-C94E-9391-C408DF009EBC}"/>
              </a:ext>
            </a:extLst>
          </p:cNvPr>
          <p:cNvSpPr txBox="1"/>
          <p:nvPr/>
        </p:nvSpPr>
        <p:spPr>
          <a:xfrm>
            <a:off x="2388009" y="4933328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CB894-4C68-6020-83B9-BA4FD5D0668C}"/>
              </a:ext>
            </a:extLst>
          </p:cNvPr>
          <p:cNvSpPr txBox="1"/>
          <p:nvPr/>
        </p:nvSpPr>
        <p:spPr>
          <a:xfrm>
            <a:off x="4353232" y="4934561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F5ABE2-D3ED-8F0A-0E11-FB2B1AA39624}"/>
              </a:ext>
            </a:extLst>
          </p:cNvPr>
          <p:cNvSpPr txBox="1"/>
          <p:nvPr/>
        </p:nvSpPr>
        <p:spPr>
          <a:xfrm>
            <a:off x="6440129" y="4921030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VD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0653A7-0AED-2626-AC92-D7CA49E9890C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 flipH="1">
            <a:off x="1120878" y="4315440"/>
            <a:ext cx="585018" cy="61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3586DE-F81F-18E0-C785-BCBAF4F3DE15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1705896" y="4315440"/>
            <a:ext cx="1380204" cy="617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BC76AD-9482-D57B-A8F0-E677CF30D63C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4419600" y="4323586"/>
            <a:ext cx="524797" cy="61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5D3777-DF31-E785-965E-DD4F9924C893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6990736" y="4323586"/>
            <a:ext cx="0" cy="59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B7C601F9-9AAF-199C-3BFF-263E9F26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57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77AE-0430-C388-7AD3-AE6CC8BF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6919-11C9-0877-8246-8E929288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Instance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5827F-0856-2E35-9694-ABFEC89C0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r>
              <a:rPr lang="en-US" dirty="0"/>
              <a:t>Represented Variable + Value Domain (sentinel)</a:t>
            </a:r>
          </a:p>
          <a:p>
            <a:r>
              <a:rPr lang="en-US" dirty="0"/>
              <a:t>Includes</a:t>
            </a:r>
          </a:p>
          <a:p>
            <a:pPr lvl="1"/>
            <a:r>
              <a:rPr lang="en-US" dirty="0"/>
              <a:t>Application datatype (what data look like and how they are stored)</a:t>
            </a:r>
          </a:p>
          <a:p>
            <a:pPr lvl="1"/>
            <a:r>
              <a:rPr lang="en-US" dirty="0"/>
              <a:t>Sentinel Value Domain</a:t>
            </a:r>
          </a:p>
          <a:p>
            <a:pPr lvl="2"/>
            <a:r>
              <a:rPr lang="en-US" dirty="0"/>
              <a:t>Allowed values representing processing needs</a:t>
            </a:r>
          </a:p>
          <a:p>
            <a:pPr lvl="2"/>
            <a:r>
              <a:rPr lang="en-US" dirty="0"/>
              <a:t>Missing, Refused, other (e.g., processing error)</a:t>
            </a:r>
          </a:p>
          <a:p>
            <a:pPr lvl="2"/>
            <a:r>
              <a:rPr lang="en-US" dirty="0"/>
              <a:t>Depends on applications</a:t>
            </a:r>
          </a:p>
          <a:p>
            <a:pPr lvl="3"/>
            <a:r>
              <a:rPr lang="en-US" dirty="0"/>
              <a:t>E.g., R, SAS, SPSS, and Stata represent missing and refused differently</a:t>
            </a:r>
          </a:p>
          <a:p>
            <a:pPr lvl="2"/>
            <a:r>
              <a:rPr lang="en-US" dirty="0"/>
              <a:t>Example</a:t>
            </a:r>
          </a:p>
          <a:p>
            <a:pPr lvl="3"/>
            <a:r>
              <a:rPr lang="en-US" dirty="0"/>
              <a:t>&lt;m, missing&gt;</a:t>
            </a:r>
          </a:p>
          <a:p>
            <a:pPr lvl="3"/>
            <a:r>
              <a:rPr lang="en-US" dirty="0"/>
              <a:t>&lt;r, refused&gt;</a:t>
            </a:r>
          </a:p>
          <a:p>
            <a:pPr lvl="3"/>
            <a:r>
              <a:rPr lang="en-US" dirty="0"/>
              <a:t>&lt;p, processing error&gt;</a:t>
            </a:r>
          </a:p>
          <a:p>
            <a:pPr lvl="2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AA3B0-F67F-0837-1639-77F1DF58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030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7BA6-966C-66FF-8DA5-1FCEA969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95B8-37FF-9729-E4D7-49C37261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Instance Variable: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C3A35-6FA5-5137-A3B3-423156E1DD20}"/>
              </a:ext>
            </a:extLst>
          </p:cNvPr>
          <p:cNvSpPr txBox="1"/>
          <p:nvPr/>
        </p:nvSpPr>
        <p:spPr>
          <a:xfrm>
            <a:off x="4817807" y="1690688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C8F25-7A66-A381-53DE-7E1442AFD34D}"/>
              </a:ext>
            </a:extLst>
          </p:cNvPr>
          <p:cNvSpPr txBox="1"/>
          <p:nvPr/>
        </p:nvSpPr>
        <p:spPr>
          <a:xfrm>
            <a:off x="3136491" y="2914804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CADC9-94B6-C948-49A4-AC639D99C232}"/>
              </a:ext>
            </a:extLst>
          </p:cNvPr>
          <p:cNvSpPr txBox="1"/>
          <p:nvPr/>
        </p:nvSpPr>
        <p:spPr>
          <a:xfrm>
            <a:off x="6548286" y="2914804"/>
            <a:ext cx="6292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B9355-4E15-7610-3F3D-964796D8E09F}"/>
              </a:ext>
            </a:extLst>
          </p:cNvPr>
          <p:cNvSpPr txBox="1"/>
          <p:nvPr/>
        </p:nvSpPr>
        <p:spPr>
          <a:xfrm>
            <a:off x="9407014" y="1690688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0E624-89F4-B500-72C5-C8C55BA8EA3F}"/>
              </a:ext>
            </a:extLst>
          </p:cNvPr>
          <p:cNvSpPr txBox="1"/>
          <p:nvPr/>
        </p:nvSpPr>
        <p:spPr>
          <a:xfrm>
            <a:off x="10009239" y="2309809"/>
            <a:ext cx="16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EE6BA-E1DB-74C0-00AE-497FB54E6DBF}"/>
              </a:ext>
            </a:extLst>
          </p:cNvPr>
          <p:cNvSpPr txBox="1"/>
          <p:nvPr/>
        </p:nvSpPr>
        <p:spPr>
          <a:xfrm>
            <a:off x="9407014" y="2910513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92D683-2543-6FD0-4AFE-3671D10FFFC8}"/>
              </a:ext>
            </a:extLst>
          </p:cNvPr>
          <p:cNvCxnSpPr>
            <a:cxnSpLocks/>
            <a:stCxn id="19" idx="2"/>
            <a:endCxn id="51" idx="0"/>
          </p:cNvCxnSpPr>
          <p:nvPr/>
        </p:nvCxnSpPr>
        <p:spPr>
          <a:xfrm>
            <a:off x="6990736" y="5290362"/>
            <a:ext cx="527256" cy="22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8CD923-0E82-1A46-DE7B-2317F38B00C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70091" y="2060020"/>
            <a:ext cx="159282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0E8271-6318-C638-429F-932BF0EC2B3C}"/>
              </a:ext>
            </a:extLst>
          </p:cNvPr>
          <p:cNvSpPr txBox="1"/>
          <p:nvPr/>
        </p:nvSpPr>
        <p:spPr>
          <a:xfrm>
            <a:off x="3303639" y="3954254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D0D5D-6A0E-EA78-C2F3-1B5B804C51D6}"/>
              </a:ext>
            </a:extLst>
          </p:cNvPr>
          <p:cNvSpPr txBox="1"/>
          <p:nvPr/>
        </p:nvSpPr>
        <p:spPr>
          <a:xfrm>
            <a:off x="589935" y="3946108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7BA746-46F1-AFF0-EF7B-EEDB6DAE2086}"/>
              </a:ext>
            </a:extLst>
          </p:cNvPr>
          <p:cNvSpPr txBox="1"/>
          <p:nvPr/>
        </p:nvSpPr>
        <p:spPr>
          <a:xfrm>
            <a:off x="6440129" y="3954254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CD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503DD0-2719-6362-C990-84BD4D2DB823}"/>
              </a:ext>
            </a:extLst>
          </p:cNvPr>
          <p:cNvSpPr txBox="1"/>
          <p:nvPr/>
        </p:nvSpPr>
        <p:spPr>
          <a:xfrm>
            <a:off x="9407013" y="3946108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Conceptual  Variable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74A995-B09B-E2E9-7244-22E339C71E54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705896" y="3284136"/>
            <a:ext cx="2227008" cy="66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7BEB41-0BB6-8310-A49D-1A9FFB6D344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932904" y="3284136"/>
            <a:ext cx="486696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6ED896-C8B0-7F6F-89DA-10FB9112A326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862918" y="3284136"/>
            <a:ext cx="127818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564955-67D1-7530-AE35-7893CAA959A2}"/>
              </a:ext>
            </a:extLst>
          </p:cNvPr>
          <p:cNvSpPr txBox="1"/>
          <p:nvPr/>
        </p:nvSpPr>
        <p:spPr>
          <a:xfrm>
            <a:off x="9407013" y="4934561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 Variable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CECFC-153B-3266-00CE-85092F94D868}"/>
              </a:ext>
            </a:extLst>
          </p:cNvPr>
          <p:cNvSpPr txBox="1"/>
          <p:nvPr/>
        </p:nvSpPr>
        <p:spPr>
          <a:xfrm>
            <a:off x="422787" y="4934561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7DD39-B21A-F10A-9982-2320E0C36B1B}"/>
              </a:ext>
            </a:extLst>
          </p:cNvPr>
          <p:cNvSpPr txBox="1"/>
          <p:nvPr/>
        </p:nvSpPr>
        <p:spPr>
          <a:xfrm>
            <a:off x="2388009" y="4933328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6019FC-659B-C1D3-EEFD-46E8CE707AC8}"/>
              </a:ext>
            </a:extLst>
          </p:cNvPr>
          <p:cNvSpPr txBox="1"/>
          <p:nvPr/>
        </p:nvSpPr>
        <p:spPr>
          <a:xfrm>
            <a:off x="4353232" y="4934561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5C9753-097E-08BF-685E-6FD3434B721A}"/>
              </a:ext>
            </a:extLst>
          </p:cNvPr>
          <p:cNvSpPr txBox="1"/>
          <p:nvPr/>
        </p:nvSpPr>
        <p:spPr>
          <a:xfrm>
            <a:off x="6440129" y="4921030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VD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E3D9B1-E8A4-2AA5-4FFA-FCD6C490705B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 flipH="1">
            <a:off x="1120878" y="4315440"/>
            <a:ext cx="585018" cy="61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50470D-AD22-7EFF-E6F8-A3AA9C55A8A8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1705896" y="4315440"/>
            <a:ext cx="1380204" cy="617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359068-3A51-A83D-CC8C-2E1560DAC0F5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4419600" y="4323586"/>
            <a:ext cx="524797" cy="61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2AC2B6-4415-A9A0-8AC3-3A697E036282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6990736" y="4323586"/>
            <a:ext cx="0" cy="59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8E5F763-E633-0A5A-8A46-E899F9FB937F}"/>
              </a:ext>
            </a:extLst>
          </p:cNvPr>
          <p:cNvSpPr txBox="1"/>
          <p:nvPr/>
        </p:nvSpPr>
        <p:spPr>
          <a:xfrm>
            <a:off x="9407013" y="592301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Instance  Variable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AD75FA-5181-5C25-755D-DB409E843D3C}"/>
              </a:ext>
            </a:extLst>
          </p:cNvPr>
          <p:cNvSpPr txBox="1"/>
          <p:nvPr/>
        </p:nvSpPr>
        <p:spPr>
          <a:xfrm>
            <a:off x="211392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2F28A3-BD4A-9E09-C966-D86CCAEA7010}"/>
              </a:ext>
            </a:extLst>
          </p:cNvPr>
          <p:cNvSpPr txBox="1"/>
          <p:nvPr/>
        </p:nvSpPr>
        <p:spPr>
          <a:xfrm>
            <a:off x="1120877" y="5568312"/>
            <a:ext cx="11061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SAS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B2C3DA-2F63-53A5-4023-82710CBB5AAD}"/>
              </a:ext>
            </a:extLst>
          </p:cNvPr>
          <p:cNvSpPr txBox="1"/>
          <p:nvPr/>
        </p:nvSpPr>
        <p:spPr>
          <a:xfrm>
            <a:off x="2227006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F42330-6B86-37E1-2F25-5781A21C5E44}"/>
              </a:ext>
            </a:extLst>
          </p:cNvPr>
          <p:cNvSpPr txBox="1"/>
          <p:nvPr/>
        </p:nvSpPr>
        <p:spPr>
          <a:xfrm>
            <a:off x="3086099" y="5556754"/>
            <a:ext cx="112948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CSV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92664B-1D49-EAA5-D30A-653668F1EA37}"/>
              </a:ext>
            </a:extLst>
          </p:cNvPr>
          <p:cNvSpPr txBox="1"/>
          <p:nvPr/>
        </p:nvSpPr>
        <p:spPr>
          <a:xfrm>
            <a:off x="4034911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448B95-C591-AD49-B57E-300624661306}"/>
              </a:ext>
            </a:extLst>
          </p:cNvPr>
          <p:cNvSpPr txBox="1"/>
          <p:nvPr/>
        </p:nvSpPr>
        <p:spPr>
          <a:xfrm>
            <a:off x="4944396" y="5545536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CSV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B911D1-720C-57EB-1042-E78618225BE2}"/>
              </a:ext>
            </a:extLst>
          </p:cNvPr>
          <p:cNvSpPr txBox="1"/>
          <p:nvPr/>
        </p:nvSpPr>
        <p:spPr>
          <a:xfrm>
            <a:off x="6177115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F48A05-A624-1326-24F0-287290C354DF}"/>
              </a:ext>
            </a:extLst>
          </p:cNvPr>
          <p:cNvSpPr txBox="1"/>
          <p:nvPr/>
        </p:nvSpPr>
        <p:spPr>
          <a:xfrm>
            <a:off x="6926827" y="5519864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CSV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AA5FCB4-1C86-5E23-BDA7-A4D6D802895D}"/>
              </a:ext>
            </a:extLst>
          </p:cNvPr>
          <p:cNvCxnSpPr>
            <a:cxnSpLocks/>
            <a:stCxn id="16" idx="2"/>
            <a:endCxn id="30" idx="0"/>
          </p:cNvCxnSpPr>
          <p:nvPr/>
        </p:nvCxnSpPr>
        <p:spPr>
          <a:xfrm flipH="1">
            <a:off x="666135" y="5303893"/>
            <a:ext cx="454743" cy="801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A8D1D56-5715-0407-D23C-B473A3F53044}"/>
              </a:ext>
            </a:extLst>
          </p:cNvPr>
          <p:cNvCxnSpPr>
            <a:cxnSpLocks/>
            <a:stCxn id="16" idx="2"/>
            <a:endCxn id="45" idx="0"/>
          </p:cNvCxnSpPr>
          <p:nvPr/>
        </p:nvCxnSpPr>
        <p:spPr>
          <a:xfrm>
            <a:off x="1120878" y="5303893"/>
            <a:ext cx="553064" cy="264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A71AEB-3422-C372-F9C6-023E2C77BF22}"/>
              </a:ext>
            </a:extLst>
          </p:cNvPr>
          <p:cNvCxnSpPr>
            <a:cxnSpLocks/>
            <a:stCxn id="17" idx="2"/>
            <a:endCxn id="46" idx="0"/>
          </p:cNvCxnSpPr>
          <p:nvPr/>
        </p:nvCxnSpPr>
        <p:spPr>
          <a:xfrm flipH="1">
            <a:off x="2681749" y="5302660"/>
            <a:ext cx="404351" cy="802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629A783-85A5-73EA-92BD-314B4F3E732B}"/>
              </a:ext>
            </a:extLst>
          </p:cNvPr>
          <p:cNvCxnSpPr>
            <a:cxnSpLocks/>
            <a:stCxn id="17" idx="2"/>
            <a:endCxn id="47" idx="0"/>
          </p:cNvCxnSpPr>
          <p:nvPr/>
        </p:nvCxnSpPr>
        <p:spPr>
          <a:xfrm>
            <a:off x="3086100" y="5302660"/>
            <a:ext cx="564740" cy="254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7C7BED-FD0C-86E4-5FE8-17DEB7AF6426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flipH="1">
            <a:off x="4489654" y="5303893"/>
            <a:ext cx="454743" cy="801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923CD0E-764B-C14B-CDF3-475348523400}"/>
              </a:ext>
            </a:extLst>
          </p:cNvPr>
          <p:cNvCxnSpPr>
            <a:cxnSpLocks/>
            <a:stCxn id="18" idx="2"/>
            <a:endCxn id="49" idx="0"/>
          </p:cNvCxnSpPr>
          <p:nvPr/>
        </p:nvCxnSpPr>
        <p:spPr>
          <a:xfrm>
            <a:off x="4944397" y="5303893"/>
            <a:ext cx="591164" cy="241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40728C-60A1-342C-0569-91C1702B0A03}"/>
              </a:ext>
            </a:extLst>
          </p:cNvPr>
          <p:cNvCxnSpPr>
            <a:cxnSpLocks/>
            <a:stCxn id="19" idx="2"/>
            <a:endCxn id="50" idx="0"/>
          </p:cNvCxnSpPr>
          <p:nvPr/>
        </p:nvCxnSpPr>
        <p:spPr>
          <a:xfrm flipH="1">
            <a:off x="6631858" y="5290362"/>
            <a:ext cx="358878" cy="814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7DF606D-DBC0-1DA8-5A6C-399AB88F10AA}"/>
              </a:ext>
            </a:extLst>
          </p:cNvPr>
          <p:cNvCxnSpPr/>
          <p:nvPr/>
        </p:nvCxnSpPr>
        <p:spPr>
          <a:xfrm>
            <a:off x="117987" y="5436102"/>
            <a:ext cx="1165122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Slide Number Placeholder 76">
            <a:extLst>
              <a:ext uri="{FF2B5EF4-FFF2-40B4-BE49-F238E27FC236}">
                <a16:creationId xmlns:a16="http://schemas.microsoft.com/office/drawing/2014/main" id="{728400FD-07BB-3BD0-DBF3-8F54DCBD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98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EAB5-3366-E3E4-F3C6-13FE7D97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862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BB8A0F-FBBC-75A5-8DC0-A26BA430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3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2295</TotalTime>
  <Words>1425</Words>
  <Application>Microsoft Office PowerPoint</Application>
  <PresentationFormat>Widescreen</PresentationFormat>
  <Paragraphs>270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Variable Cascade</vt:lpstr>
      <vt:lpstr>What is a Variable?</vt:lpstr>
      <vt:lpstr>Units and Sets of Units</vt:lpstr>
      <vt:lpstr>Units and Sets of Units</vt:lpstr>
      <vt:lpstr>Units and Sets of Units</vt:lpstr>
      <vt:lpstr>Value Domains</vt:lpstr>
      <vt:lpstr>Value Domains</vt:lpstr>
      <vt:lpstr>Value Domains</vt:lpstr>
      <vt:lpstr>Conceptual domains</vt:lpstr>
      <vt:lpstr>Conceptual domains</vt:lpstr>
      <vt:lpstr>Variable Cascade</vt:lpstr>
      <vt:lpstr>Variable Cascade</vt:lpstr>
      <vt:lpstr>Variable Cascade - Concept</vt:lpstr>
      <vt:lpstr>Variable Cascade – Concept: Example</vt:lpstr>
      <vt:lpstr>Variable Cascade – Conceptual Variable</vt:lpstr>
      <vt:lpstr>Variable Cascade – Conceptual Variable</vt:lpstr>
      <vt:lpstr>Variable Cascade – Conceptual Variable: Example</vt:lpstr>
      <vt:lpstr>Variable Cascade – Represented Variable</vt:lpstr>
      <vt:lpstr>Variable Cascade – Represented Variable</vt:lpstr>
      <vt:lpstr>Variable Cascade – Represented Variable: Example</vt:lpstr>
      <vt:lpstr>Variable Cascade – Instance Variable</vt:lpstr>
      <vt:lpstr>Variable Cascade – Instance Variable: Example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Gillman, Daniel - BLS</dc:creator>
  <cp:lastModifiedBy>Gillman, Daniel - BLS</cp:lastModifiedBy>
  <cp:revision>43</cp:revision>
  <dcterms:created xsi:type="dcterms:W3CDTF">2025-02-06T16:09:29Z</dcterms:created>
  <dcterms:modified xsi:type="dcterms:W3CDTF">2025-02-20T14:52:26Z</dcterms:modified>
</cp:coreProperties>
</file>