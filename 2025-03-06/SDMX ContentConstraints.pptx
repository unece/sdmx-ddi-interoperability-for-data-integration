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3"/>
  </p:sldMasterIdLst>
  <p:notesMasterIdLst>
    <p:notesMasterId r:id="rId16"/>
  </p:notesMasterIdLst>
  <p:handoutMasterIdLst>
    <p:handoutMasterId r:id="rId17"/>
  </p:handoutMasterIdLst>
  <p:sldIdLst>
    <p:sldId id="256" r:id="rId4"/>
    <p:sldId id="263" r:id="rId5"/>
    <p:sldId id="276" r:id="rId6"/>
    <p:sldId id="266" r:id="rId7"/>
    <p:sldId id="275" r:id="rId8"/>
    <p:sldId id="278" r:id="rId9"/>
    <p:sldId id="274" r:id="rId10"/>
    <p:sldId id="277" r:id="rId11"/>
    <p:sldId id="279" r:id="rId12"/>
    <p:sldId id="280" r:id="rId13"/>
    <p:sldId id="281" r:id="rId14"/>
    <p:sldId id="273" r:id="rId15"/>
  </p:sldIdLst>
  <p:sldSz cx="12192000" cy="6858000"/>
  <p:notesSz cx="6718300" cy="98552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6C7E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autoAdjust="0"/>
    <p:restoredTop sz="93595" autoAdjust="0"/>
  </p:normalViewPr>
  <p:slideViewPr>
    <p:cSldViewPr>
      <p:cViewPr varScale="1">
        <p:scale>
          <a:sx n="65" d="100"/>
          <a:sy n="65" d="100"/>
        </p:scale>
        <p:origin x="912" y="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5" d="100"/>
          <a:sy n="45" d="100"/>
        </p:scale>
        <p:origin x="2780"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gs" Target="tags/tag1.xml"/><Relationship Id="rId3" Type="http://schemas.openxmlformats.org/officeDocument/2006/relationships/slideMaster" Target="slideMasters/slideMaster1.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EFE3C7-D3AC-4FD7-BFAB-96B511E1A2DB}"/>
              </a:ext>
            </a:extLst>
          </p:cNvPr>
          <p:cNvSpPr>
            <a:spLocks noGrp="1"/>
          </p:cNvSpPr>
          <p:nvPr>
            <p:ph type="hdr" sz="quarter"/>
          </p:nvPr>
        </p:nvSpPr>
        <p:spPr>
          <a:xfrm>
            <a:off x="0" y="0"/>
            <a:ext cx="2911475" cy="4937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B3D5BD-6709-45B4-8CCC-AAA9C4D3D8D3}"/>
              </a:ext>
            </a:extLst>
          </p:cNvPr>
          <p:cNvSpPr>
            <a:spLocks noGrp="1"/>
          </p:cNvSpPr>
          <p:nvPr>
            <p:ph type="dt" sz="quarter" idx="1"/>
          </p:nvPr>
        </p:nvSpPr>
        <p:spPr>
          <a:xfrm>
            <a:off x="3805238" y="0"/>
            <a:ext cx="2911475" cy="493713"/>
          </a:xfrm>
          <a:prstGeom prst="rect">
            <a:avLst/>
          </a:prstGeom>
        </p:spPr>
        <p:txBody>
          <a:bodyPr vert="horz" lIns="91440" tIns="45720" rIns="91440" bIns="45720" rtlCol="0"/>
          <a:lstStyle>
            <a:lvl1pPr algn="r">
              <a:defRPr sz="1200"/>
            </a:lvl1pPr>
          </a:lstStyle>
          <a:p>
            <a:fld id="{55C65B5F-4738-48E1-8083-7B577C6A9366}" type="datetimeFigureOut">
              <a:rPr lang="en-US" smtClean="0"/>
              <a:t>3/6/2025</a:t>
            </a:fld>
            <a:endParaRPr lang="en-US"/>
          </a:p>
        </p:txBody>
      </p:sp>
      <p:sp>
        <p:nvSpPr>
          <p:cNvPr id="4" name="Footer Placeholder 3">
            <a:extLst>
              <a:ext uri="{FF2B5EF4-FFF2-40B4-BE49-F238E27FC236}">
                <a16:creationId xmlns:a16="http://schemas.microsoft.com/office/drawing/2014/main" id="{E9CEE918-0FA6-4614-8355-0B52A7958338}"/>
              </a:ext>
            </a:extLst>
          </p:cNvPr>
          <p:cNvSpPr>
            <a:spLocks noGrp="1"/>
          </p:cNvSpPr>
          <p:nvPr>
            <p:ph type="ftr" sz="quarter" idx="2"/>
          </p:nvPr>
        </p:nvSpPr>
        <p:spPr>
          <a:xfrm>
            <a:off x="0" y="9361488"/>
            <a:ext cx="2911475" cy="4937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8F4F2D3-B469-4DB7-BFE0-0418E5203ECF}"/>
              </a:ext>
            </a:extLst>
          </p:cNvPr>
          <p:cNvSpPr>
            <a:spLocks noGrp="1"/>
          </p:cNvSpPr>
          <p:nvPr>
            <p:ph type="sldNum" sz="quarter" idx="3"/>
          </p:nvPr>
        </p:nvSpPr>
        <p:spPr>
          <a:xfrm>
            <a:off x="3805238" y="9361488"/>
            <a:ext cx="2911475" cy="493712"/>
          </a:xfrm>
          <a:prstGeom prst="rect">
            <a:avLst/>
          </a:prstGeom>
        </p:spPr>
        <p:txBody>
          <a:bodyPr vert="horz" lIns="91440" tIns="45720" rIns="91440" bIns="45720" rtlCol="0" anchor="b"/>
          <a:lstStyle>
            <a:lvl1pPr algn="r">
              <a:defRPr sz="1200"/>
            </a:lvl1pPr>
          </a:lstStyle>
          <a:p>
            <a:fld id="{19B7A943-BD5D-45E5-B192-91D74721CBEE}" type="slidenum">
              <a:rPr lang="en-US" smtClean="0"/>
              <a:t>‹#›</a:t>
            </a:fld>
            <a:endParaRPr lang="en-US"/>
          </a:p>
        </p:txBody>
      </p:sp>
    </p:spTree>
    <p:extLst>
      <p:ext uri="{BB962C8B-B14F-4D97-AF65-F5344CB8AC3E}">
        <p14:creationId xmlns:p14="http://schemas.microsoft.com/office/powerpoint/2010/main" val="9482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F515297-C66C-4C39-9D75-E316A4EB36C3}"/>
              </a:ext>
            </a:extLst>
          </p:cNvPr>
          <p:cNvSpPr>
            <a:spLocks noGrp="1" noChangeArrowheads="1"/>
          </p:cNvSpPr>
          <p:nvPr>
            <p:ph type="hdr" sz="quarter"/>
          </p:nvPr>
        </p:nvSpPr>
        <p:spPr bwMode="auto">
          <a:xfrm>
            <a:off x="0" y="0"/>
            <a:ext cx="2911475" cy="492125"/>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GB" altLang="en-US"/>
          </a:p>
        </p:txBody>
      </p:sp>
      <p:sp>
        <p:nvSpPr>
          <p:cNvPr id="4099" name="Rectangle 3">
            <a:extLst>
              <a:ext uri="{FF2B5EF4-FFF2-40B4-BE49-F238E27FC236}">
                <a16:creationId xmlns:a16="http://schemas.microsoft.com/office/drawing/2014/main" id="{0F04096E-3529-4010-8791-7A3AB8507473}"/>
              </a:ext>
            </a:extLst>
          </p:cNvPr>
          <p:cNvSpPr>
            <a:spLocks noGrp="1" noChangeArrowheads="1"/>
          </p:cNvSpPr>
          <p:nvPr>
            <p:ph type="dt" idx="1"/>
          </p:nvPr>
        </p:nvSpPr>
        <p:spPr bwMode="auto">
          <a:xfrm>
            <a:off x="3805238" y="0"/>
            <a:ext cx="2911475" cy="4921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GB" altLang="en-US"/>
          </a:p>
        </p:txBody>
      </p:sp>
      <p:sp>
        <p:nvSpPr>
          <p:cNvPr id="13316" name="Rectangle 4">
            <a:extLst>
              <a:ext uri="{FF2B5EF4-FFF2-40B4-BE49-F238E27FC236}">
                <a16:creationId xmlns:a16="http://schemas.microsoft.com/office/drawing/2014/main" id="{C810F2FE-DA89-4160-99FB-C7EE2629211E}"/>
              </a:ext>
            </a:extLst>
          </p:cNvPr>
          <p:cNvSpPr>
            <a:spLocks noGrp="1" noRot="1" noChangeAspect="1" noChangeArrowheads="1" noTextEdit="1"/>
          </p:cNvSpPr>
          <p:nvPr>
            <p:ph type="sldImg" idx="2"/>
          </p:nvPr>
        </p:nvSpPr>
        <p:spPr bwMode="auto">
          <a:xfrm>
            <a:off x="74613" y="739775"/>
            <a:ext cx="6569075" cy="36957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D99E97EE-DFC8-4B33-8E8C-67B1CBDDD5E8}"/>
              </a:ext>
            </a:extLst>
          </p:cNvPr>
          <p:cNvSpPr>
            <a:spLocks noGrp="1" noChangeArrowheads="1"/>
          </p:cNvSpPr>
          <p:nvPr>
            <p:ph type="body" sz="quarter" idx="3"/>
          </p:nvPr>
        </p:nvSpPr>
        <p:spPr bwMode="auto">
          <a:xfrm>
            <a:off x="671513" y="4681538"/>
            <a:ext cx="5375275" cy="4433887"/>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4102" name="Rectangle 6">
            <a:extLst>
              <a:ext uri="{FF2B5EF4-FFF2-40B4-BE49-F238E27FC236}">
                <a16:creationId xmlns:a16="http://schemas.microsoft.com/office/drawing/2014/main" id="{72BD64D1-95C5-4F34-BA1D-2416564D3D8D}"/>
              </a:ext>
            </a:extLst>
          </p:cNvPr>
          <p:cNvSpPr>
            <a:spLocks noGrp="1" noChangeArrowheads="1"/>
          </p:cNvSpPr>
          <p:nvPr>
            <p:ph type="ftr" sz="quarter" idx="4"/>
          </p:nvPr>
        </p:nvSpPr>
        <p:spPr bwMode="auto">
          <a:xfrm>
            <a:off x="0" y="9361488"/>
            <a:ext cx="2911475" cy="492125"/>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GB" altLang="en-US"/>
          </a:p>
        </p:txBody>
      </p:sp>
      <p:sp>
        <p:nvSpPr>
          <p:cNvPr id="4103" name="Rectangle 7">
            <a:extLst>
              <a:ext uri="{FF2B5EF4-FFF2-40B4-BE49-F238E27FC236}">
                <a16:creationId xmlns:a16="http://schemas.microsoft.com/office/drawing/2014/main" id="{141E611F-6897-4BF7-BA76-809A5C30F3B6}"/>
              </a:ext>
            </a:extLst>
          </p:cNvPr>
          <p:cNvSpPr>
            <a:spLocks noGrp="1" noChangeArrowheads="1"/>
          </p:cNvSpPr>
          <p:nvPr>
            <p:ph type="sldNum" sz="quarter" idx="5"/>
          </p:nvPr>
        </p:nvSpPr>
        <p:spPr bwMode="auto">
          <a:xfrm>
            <a:off x="3805238" y="9361488"/>
            <a:ext cx="2911475" cy="492125"/>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05182E4-809E-4DB4-AE7F-5BEAB40DAF97}"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instance, a </a:t>
            </a:r>
            <a:r>
              <a:rPr lang="en-GB" dirty="0" err="1"/>
              <a:t>DataStructureDefinition</a:t>
            </a:r>
            <a:r>
              <a:rPr lang="en-GB" dirty="0"/>
              <a:t> specifies, for each Dimension, the list of allowable code values. However, a specific Dataflow that uses the </a:t>
            </a:r>
            <a:r>
              <a:rPr lang="en-GB" dirty="0" err="1"/>
              <a:t>DataStructureDefinition</a:t>
            </a:r>
            <a:r>
              <a:rPr lang="en-GB" dirty="0"/>
              <a:t> may contain only a subset of the possible range of keys that is theoretically possible from the </a:t>
            </a:r>
            <a:r>
              <a:rPr lang="en-GB" dirty="0" err="1"/>
              <a:t>DataStructureDefinition</a:t>
            </a:r>
            <a:r>
              <a:rPr lang="en-GB" dirty="0"/>
              <a:t> definition (the total range of possibilities is sometimes called the Cartesian product of the dimension values). In addition to this, a </a:t>
            </a:r>
            <a:r>
              <a:rPr lang="en-GB" dirty="0" err="1"/>
              <a:t>DataProvider</a:t>
            </a:r>
            <a:r>
              <a:rPr lang="en-GB" dirty="0"/>
              <a:t> that is capable of supplying data according to the Dataflow has a </a:t>
            </a:r>
            <a:r>
              <a:rPr lang="en-GB" dirty="0" err="1"/>
              <a:t>ProvisionAgreement</a:t>
            </a:r>
            <a:r>
              <a:rPr lang="en-GB" dirty="0"/>
              <a:t>, and the </a:t>
            </a:r>
            <a:r>
              <a:rPr lang="en-GB" dirty="0" err="1"/>
              <a:t>DataProvider</a:t>
            </a:r>
            <a:r>
              <a:rPr lang="en-GB" dirty="0"/>
              <a:t> may also wish to supply constraint information which may further constrain the range of possibilities in order to describe the data that the provider can supply. It may also be useful to describe the content of a data source in terms of the </a:t>
            </a:r>
            <a:r>
              <a:rPr lang="en-GB" dirty="0" err="1"/>
              <a:t>KeySets</a:t>
            </a:r>
            <a:r>
              <a:rPr lang="en-GB" dirty="0"/>
              <a:t> or </a:t>
            </a:r>
            <a:r>
              <a:rPr lang="en-GB" dirty="0" err="1"/>
              <a:t>CubeRegions</a:t>
            </a:r>
            <a:r>
              <a:rPr lang="en-GB" dirty="0"/>
              <a:t> contained within it. </a:t>
            </a:r>
          </a:p>
          <a:p>
            <a:endParaRPr lang="en-GB" dirty="0"/>
          </a:p>
          <a:p>
            <a:r>
              <a:rPr lang="en-GB" dirty="0"/>
              <a:t>A </a:t>
            </a:r>
            <a:r>
              <a:rPr lang="en-GB" dirty="0" err="1"/>
              <a:t>DataConstraint</a:t>
            </a:r>
            <a:r>
              <a:rPr lang="en-GB" dirty="0"/>
              <a:t> has a choice of two ways of specifying value subsets:</a:t>
            </a:r>
          </a:p>
          <a:p>
            <a:pPr marL="228600" indent="-228600">
              <a:buAutoNum type="arabicPeriod"/>
            </a:pPr>
            <a:r>
              <a:rPr lang="en-GB" dirty="0"/>
              <a:t>As a set of keys that can be present in the </a:t>
            </a:r>
            <a:r>
              <a:rPr lang="en-GB" dirty="0" err="1"/>
              <a:t>DataSet</a:t>
            </a:r>
            <a:r>
              <a:rPr lang="en-GB" dirty="0"/>
              <a:t> (</a:t>
            </a:r>
            <a:r>
              <a:rPr lang="en-GB" dirty="0" err="1"/>
              <a:t>DataKeySet</a:t>
            </a:r>
            <a:r>
              <a:rPr lang="en-GB" dirty="0"/>
              <a:t>). Each </a:t>
            </a:r>
            <a:r>
              <a:rPr lang="en-GB" dirty="0" err="1"/>
              <a:t>DataKey</a:t>
            </a:r>
            <a:r>
              <a:rPr lang="en-GB" dirty="0"/>
              <a:t> specifies a number of </a:t>
            </a:r>
            <a:r>
              <a:rPr lang="en-GB" dirty="0" err="1"/>
              <a:t>ComponentValues</a:t>
            </a:r>
            <a:r>
              <a:rPr lang="en-GB" dirty="0"/>
              <a:t> each of which reference a Component (e.g., Dimension, </a:t>
            </a:r>
            <a:r>
              <a:rPr lang="en-GB" dirty="0" err="1"/>
              <a:t>DataAttribute</a:t>
            </a:r>
            <a:r>
              <a:rPr lang="en-GB" dirty="0"/>
              <a:t>). Each </a:t>
            </a:r>
            <a:r>
              <a:rPr lang="en-GB" dirty="0" err="1"/>
              <a:t>ComponentValue</a:t>
            </a:r>
            <a:r>
              <a:rPr lang="en-GB" dirty="0"/>
              <a:t> is a value that may be present for a Component of a structure when contained in a </a:t>
            </a:r>
            <a:r>
              <a:rPr lang="en-GB" dirty="0" err="1"/>
              <a:t>DataSet</a:t>
            </a:r>
            <a:r>
              <a:rPr lang="en-GB" dirty="0"/>
              <a:t>. In addition, each </a:t>
            </a:r>
            <a:r>
              <a:rPr lang="en-GB" dirty="0" err="1"/>
              <a:t>DataKeySet</a:t>
            </a:r>
            <a:r>
              <a:rPr lang="en-GB" dirty="0"/>
              <a:t> may also include </a:t>
            </a:r>
            <a:r>
              <a:rPr lang="en-GB" dirty="0" err="1"/>
              <a:t>MemberSelections</a:t>
            </a:r>
            <a:r>
              <a:rPr lang="en-GB" dirty="0"/>
              <a:t> for </a:t>
            </a:r>
            <a:r>
              <a:rPr lang="en-GB" dirty="0" err="1"/>
              <a:t>AttributeComponents</a:t>
            </a:r>
            <a:r>
              <a:rPr lang="en-GB" dirty="0"/>
              <a:t> or Measures. </a:t>
            </a:r>
          </a:p>
          <a:p>
            <a:pPr marL="228600" indent="-228600">
              <a:buAutoNum type="arabicPeriod"/>
            </a:pPr>
            <a:r>
              <a:rPr lang="en-GB" dirty="0"/>
              <a:t>As a set of </a:t>
            </a:r>
            <a:r>
              <a:rPr lang="en-GB" dirty="0" err="1"/>
              <a:t>CubeRegions</a:t>
            </a:r>
            <a:r>
              <a:rPr lang="en-GB" dirty="0"/>
              <a:t> each of which defines a “slice” of the total structure (</a:t>
            </a:r>
            <a:r>
              <a:rPr lang="en-GB" dirty="0" err="1"/>
              <a:t>MemberSelection</a:t>
            </a:r>
            <a:r>
              <a:rPr lang="en-GB" dirty="0"/>
              <a:t>) in terms of one or more </a:t>
            </a:r>
            <a:r>
              <a:rPr lang="en-GB" dirty="0" err="1"/>
              <a:t>MemberValues</a:t>
            </a:r>
            <a:r>
              <a:rPr lang="en-GB" dirty="0"/>
              <a:t> that may be present for a Component of a structure when contained in a </a:t>
            </a:r>
            <a:r>
              <a:rPr lang="en-GB" dirty="0" err="1"/>
              <a:t>DataSet</a:t>
            </a:r>
            <a:r>
              <a:rPr lang="en-GB" dirty="0"/>
              <a:t>.</a:t>
            </a:r>
          </a:p>
          <a:p>
            <a:pPr marL="228600" indent="-228600">
              <a:buAutoNum type="arabicPeriod"/>
            </a:pPr>
            <a:endParaRPr lang="en-GB" dirty="0"/>
          </a:p>
          <a:p>
            <a:pPr marL="0" indent="0">
              <a:buNone/>
            </a:pPr>
            <a:r>
              <a:rPr lang="en-GB" dirty="0"/>
              <a:t>The difference between (1) and (2) above is that in (1) a complete key is defined whereas in (2) above the “slice” defines a list of possible values for each of the Components but does not specify specific key combinations.</a:t>
            </a:r>
            <a:endParaRPr lang="es-UY" dirty="0"/>
          </a:p>
        </p:txBody>
      </p:sp>
      <p:sp>
        <p:nvSpPr>
          <p:cNvPr id="4" name="Slide Number Placeholder 3"/>
          <p:cNvSpPr>
            <a:spLocks noGrp="1"/>
          </p:cNvSpPr>
          <p:nvPr>
            <p:ph type="sldNum" sz="quarter" idx="5"/>
          </p:nvPr>
        </p:nvSpPr>
        <p:spPr/>
        <p:txBody>
          <a:bodyPr/>
          <a:lstStyle/>
          <a:p>
            <a:pPr>
              <a:defRPr/>
            </a:pPr>
            <a:fld id="{E05182E4-809E-4DB4-AE7F-5BEAB40DAF97}" type="slidenum">
              <a:rPr lang="en-GB" altLang="en-US" smtClean="0"/>
              <a:pPr>
                <a:defRPr/>
              </a:pPr>
              <a:t>2</a:t>
            </a:fld>
            <a:endParaRPr lang="en-GB" altLang="en-US"/>
          </a:p>
        </p:txBody>
      </p:sp>
    </p:spTree>
    <p:extLst>
      <p:ext uri="{BB962C8B-B14F-4D97-AF65-F5344CB8AC3E}">
        <p14:creationId xmlns:p14="http://schemas.microsoft.com/office/powerpoint/2010/main" val="3984183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AAB64-CA21-4980-9AFE-C580021581DA}"/>
              </a:ext>
            </a:extLst>
          </p:cNvPr>
          <p:cNvSpPr>
            <a:spLocks noGrp="1"/>
          </p:cNvSpPr>
          <p:nvPr>
            <p:ph type="ctrTitle" hasCustomPrompt="1"/>
          </p:nvPr>
        </p:nvSpPr>
        <p:spPr>
          <a:xfrm>
            <a:off x="1524000" y="2420888"/>
            <a:ext cx="9144000" cy="1296144"/>
          </a:xfrm>
        </p:spPr>
        <p:txBody>
          <a:bodyPr anchor="b">
            <a:normAutofit/>
          </a:bodyPr>
          <a:lstStyle>
            <a:lvl1pPr algn="ctr">
              <a:defRPr sz="4000" b="1"/>
            </a:lvl1pPr>
          </a:lstStyle>
          <a:p>
            <a:r>
              <a:rPr lang="en-US" dirty="0"/>
              <a:t>Presentation title</a:t>
            </a:r>
          </a:p>
        </p:txBody>
      </p:sp>
      <p:sp>
        <p:nvSpPr>
          <p:cNvPr id="3" name="Subtitle 2">
            <a:extLst>
              <a:ext uri="{FF2B5EF4-FFF2-40B4-BE49-F238E27FC236}">
                <a16:creationId xmlns:a16="http://schemas.microsoft.com/office/drawing/2014/main" id="{3E472036-0337-48FD-B2C7-9D5AB2F3154C}"/>
              </a:ext>
            </a:extLst>
          </p:cNvPr>
          <p:cNvSpPr>
            <a:spLocks noGrp="1"/>
          </p:cNvSpPr>
          <p:nvPr>
            <p:ph type="subTitle" idx="1" hasCustomPrompt="1"/>
          </p:nvPr>
        </p:nvSpPr>
        <p:spPr>
          <a:xfrm>
            <a:off x="1524000" y="3748147"/>
            <a:ext cx="9144000" cy="525088"/>
          </a:xfrm>
        </p:spPr>
        <p:txBody>
          <a:bodyPr>
            <a:normAutofit/>
          </a:bodyPr>
          <a:lstStyle>
            <a:lvl1pPr marL="0" indent="0" algn="ctr" defTabSz="685800" rtl="0" eaLnBrk="1" latinLnBrk="0" hangingPunct="1">
              <a:lnSpc>
                <a:spcPct val="90000"/>
              </a:lnSpc>
              <a:spcBef>
                <a:spcPct val="0"/>
              </a:spcBef>
              <a:buNone/>
              <a:defRPr lang="en-US" sz="2000" kern="1200" dirty="0">
                <a:solidFill>
                  <a:schemeClr val="tx2"/>
                </a:solidFill>
                <a:latin typeface="+mn-lt"/>
                <a:ea typeface="+mj-ea"/>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MONTH DD, YYYY</a:t>
            </a:r>
          </a:p>
        </p:txBody>
      </p:sp>
      <p:sp>
        <p:nvSpPr>
          <p:cNvPr id="20" name="Text Placeholder 11">
            <a:extLst>
              <a:ext uri="{FF2B5EF4-FFF2-40B4-BE49-F238E27FC236}">
                <a16:creationId xmlns:a16="http://schemas.microsoft.com/office/drawing/2014/main" id="{1F566136-FDCE-4E87-AC9B-EDA664E610DE}"/>
              </a:ext>
            </a:extLst>
          </p:cNvPr>
          <p:cNvSpPr>
            <a:spLocks noGrp="1"/>
          </p:cNvSpPr>
          <p:nvPr>
            <p:ph type="body" sz="quarter" idx="10" hasCustomPrompt="1"/>
          </p:nvPr>
        </p:nvSpPr>
        <p:spPr>
          <a:xfrm>
            <a:off x="2419144" y="4555704"/>
            <a:ext cx="7353712" cy="889521"/>
          </a:xfrm>
        </p:spPr>
        <p:txBody>
          <a:bodyPr lIns="0" tIns="0" rIns="0" bIns="0" anchor="b" anchorCtr="0">
            <a:normAutofit/>
          </a:bodyPr>
          <a:lstStyle>
            <a:lvl1pPr marL="0" indent="0" algn="ctr">
              <a:spcBef>
                <a:spcPts val="300"/>
              </a:spcBef>
              <a:buNone/>
              <a:tabLst/>
              <a:defRPr sz="2000">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dirty="0"/>
              <a:t>Speaker Name</a:t>
            </a:r>
          </a:p>
          <a:p>
            <a:pPr lvl="0"/>
            <a:r>
              <a:rPr lang="en-US" dirty="0"/>
              <a:t>Title/Affiliation</a:t>
            </a:r>
          </a:p>
        </p:txBody>
      </p:sp>
    </p:spTree>
    <p:extLst>
      <p:ext uri="{BB962C8B-B14F-4D97-AF65-F5344CB8AC3E}">
        <p14:creationId xmlns:p14="http://schemas.microsoft.com/office/powerpoint/2010/main" val="3077178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DC6A8-49E7-4AF8-9EAD-FDAF4A0044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EE43D-5617-441E-B45C-00AF7FDFB0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7D23DF48-C87D-45D3-9453-2B247C45360B}"/>
              </a:ext>
            </a:extLst>
          </p:cNvPr>
          <p:cNvSpPr>
            <a:spLocks noGrp="1"/>
          </p:cNvSpPr>
          <p:nvPr>
            <p:ph type="sldNum" sz="quarter" idx="12"/>
          </p:nvPr>
        </p:nvSpPr>
        <p:spPr/>
        <p:txBody>
          <a:bodyPr/>
          <a:lstStyle/>
          <a:p>
            <a:fld id="{E358E709-A26E-433C-9FB4-EDC6104FF2C5}" type="slidenum">
              <a:rPr lang="en-US" smtClean="0"/>
              <a:t>‹#›</a:t>
            </a:fld>
            <a:endParaRPr lang="en-US"/>
          </a:p>
        </p:txBody>
      </p:sp>
    </p:spTree>
    <p:extLst>
      <p:ext uri="{BB962C8B-B14F-4D97-AF65-F5344CB8AC3E}">
        <p14:creationId xmlns:p14="http://schemas.microsoft.com/office/powerpoint/2010/main" val="264803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0046-F164-4E0C-A9A6-572A6672C417}"/>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DFFD99A-0F1E-496F-B3C6-96B57FC0E11F}"/>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0AA03490-6E23-44AF-A7F8-559449151C3D}"/>
              </a:ext>
            </a:extLst>
          </p:cNvPr>
          <p:cNvSpPr>
            <a:spLocks noGrp="1"/>
          </p:cNvSpPr>
          <p:nvPr>
            <p:ph type="sldNum" sz="quarter" idx="12"/>
          </p:nvPr>
        </p:nvSpPr>
        <p:spPr/>
        <p:txBody>
          <a:bodyPr/>
          <a:lstStyle/>
          <a:p>
            <a:fld id="{E358E709-A26E-433C-9FB4-EDC6104FF2C5}" type="slidenum">
              <a:rPr lang="en-US" smtClean="0"/>
              <a:t>‹#›</a:t>
            </a:fld>
            <a:endParaRPr lang="en-US"/>
          </a:p>
        </p:txBody>
      </p:sp>
    </p:spTree>
    <p:extLst>
      <p:ext uri="{BB962C8B-B14F-4D97-AF65-F5344CB8AC3E}">
        <p14:creationId xmlns:p14="http://schemas.microsoft.com/office/powerpoint/2010/main" val="2959279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7182-150B-4B37-A813-E4961347A0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4789B2-FC7E-445D-96EB-1B9928908BB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8183A2-B342-4864-9517-2A00EB57000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0CDBDA3F-909F-4CE1-990F-C11FFB54E2EC}"/>
              </a:ext>
            </a:extLst>
          </p:cNvPr>
          <p:cNvSpPr>
            <a:spLocks noGrp="1"/>
          </p:cNvSpPr>
          <p:nvPr>
            <p:ph type="sldNum" sz="quarter" idx="12"/>
          </p:nvPr>
        </p:nvSpPr>
        <p:spPr/>
        <p:txBody>
          <a:bodyPr/>
          <a:lstStyle/>
          <a:p>
            <a:fld id="{E358E709-A26E-433C-9FB4-EDC6104FF2C5}" type="slidenum">
              <a:rPr lang="en-US" smtClean="0"/>
              <a:t>‹#›</a:t>
            </a:fld>
            <a:endParaRPr lang="en-US"/>
          </a:p>
        </p:txBody>
      </p:sp>
    </p:spTree>
    <p:extLst>
      <p:ext uri="{BB962C8B-B14F-4D97-AF65-F5344CB8AC3E}">
        <p14:creationId xmlns:p14="http://schemas.microsoft.com/office/powerpoint/2010/main" val="1500270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52017-2033-4904-B501-CB1800EE5303}"/>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7351C0-8259-4673-B19C-A396856F3660}"/>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4DB9ABB5-DC77-4D5B-94D0-42A7B8B0CE76}"/>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129A1-D972-4D64-B5C4-CA4A054C6A7A}"/>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FE0DBB9A-F942-4281-B96C-7331CA40E0DE}"/>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4AD9BA8F-43EB-4934-81F6-041158C0CB38}"/>
              </a:ext>
            </a:extLst>
          </p:cNvPr>
          <p:cNvSpPr>
            <a:spLocks noGrp="1"/>
          </p:cNvSpPr>
          <p:nvPr>
            <p:ph type="sldNum" sz="quarter" idx="12"/>
          </p:nvPr>
        </p:nvSpPr>
        <p:spPr/>
        <p:txBody>
          <a:bodyPr/>
          <a:lstStyle/>
          <a:p>
            <a:pPr>
              <a:defRPr/>
            </a:pPr>
            <a:fld id="{BB66D1C4-DE73-4DD8-8C0D-D6900DDDD4F0}" type="slidenum">
              <a:rPr lang="en-GB" altLang="en-US" smtClean="0"/>
              <a:pPr>
                <a:defRPr/>
              </a:pPr>
              <a:t>‹#›</a:t>
            </a:fld>
            <a:endParaRPr lang="en-GB" altLang="en-US"/>
          </a:p>
        </p:txBody>
      </p:sp>
    </p:spTree>
    <p:extLst>
      <p:ext uri="{BB962C8B-B14F-4D97-AF65-F5344CB8AC3E}">
        <p14:creationId xmlns:p14="http://schemas.microsoft.com/office/powerpoint/2010/main" val="914470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526CC-7A16-4121-AC34-8CC2F871832D}"/>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5E39B76A-3AE5-4BBE-8D1E-9E2E89DF87B6}"/>
              </a:ext>
            </a:extLst>
          </p:cNvPr>
          <p:cNvSpPr>
            <a:spLocks noGrp="1"/>
          </p:cNvSpPr>
          <p:nvPr>
            <p:ph type="sldNum" sz="quarter" idx="12"/>
          </p:nvPr>
        </p:nvSpPr>
        <p:spPr/>
        <p:txBody>
          <a:bodyPr/>
          <a:lstStyle/>
          <a:p>
            <a:pPr>
              <a:defRPr/>
            </a:pPr>
            <a:fld id="{A9E3123B-E958-4CBA-9E94-193DB87FA803}" type="slidenum">
              <a:rPr lang="en-GB" altLang="en-US" smtClean="0"/>
              <a:pPr>
                <a:defRPr/>
              </a:pPr>
              <a:t>‹#›</a:t>
            </a:fld>
            <a:endParaRPr lang="en-GB" altLang="en-US"/>
          </a:p>
        </p:txBody>
      </p:sp>
    </p:spTree>
    <p:extLst>
      <p:ext uri="{BB962C8B-B14F-4D97-AF65-F5344CB8AC3E}">
        <p14:creationId xmlns:p14="http://schemas.microsoft.com/office/powerpoint/2010/main" val="226341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62C411-79E5-4B8C-9D2E-ACF713EFCB15}"/>
              </a:ext>
            </a:extLst>
          </p:cNvPr>
          <p:cNvSpPr>
            <a:spLocks noGrp="1"/>
          </p:cNvSpPr>
          <p:nvPr>
            <p:ph type="sldNum" sz="quarter" idx="12"/>
          </p:nvPr>
        </p:nvSpPr>
        <p:spPr/>
        <p:txBody>
          <a:bodyPr/>
          <a:lstStyle/>
          <a:p>
            <a:pPr>
              <a:defRPr/>
            </a:pPr>
            <a:fld id="{63EDC010-A07D-45AC-B508-0E941F34D47C}" type="slidenum">
              <a:rPr lang="en-GB" altLang="en-US" smtClean="0"/>
              <a:pPr>
                <a:defRPr/>
              </a:pPr>
              <a:t>‹#›</a:t>
            </a:fld>
            <a:endParaRPr lang="en-GB" altLang="en-US"/>
          </a:p>
        </p:txBody>
      </p:sp>
    </p:spTree>
    <p:extLst>
      <p:ext uri="{BB962C8B-B14F-4D97-AF65-F5344CB8AC3E}">
        <p14:creationId xmlns:p14="http://schemas.microsoft.com/office/powerpoint/2010/main" val="310928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1C92-474E-41DE-B69E-05B0C8D803D7}"/>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72CB056F-E954-4D86-96B7-4EE02502B5A8}"/>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18A15B-241E-49FF-AB3A-3446D48C2EE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a:extLst>
              <a:ext uri="{FF2B5EF4-FFF2-40B4-BE49-F238E27FC236}">
                <a16:creationId xmlns:a16="http://schemas.microsoft.com/office/drawing/2014/main" id="{49890E6C-A4B3-4018-9718-ADAE3B5B5685}"/>
              </a:ext>
            </a:extLst>
          </p:cNvPr>
          <p:cNvSpPr>
            <a:spLocks noGrp="1"/>
          </p:cNvSpPr>
          <p:nvPr>
            <p:ph type="sldNum" sz="quarter" idx="12"/>
          </p:nvPr>
        </p:nvSpPr>
        <p:spPr/>
        <p:txBody>
          <a:bodyPr/>
          <a:lstStyle/>
          <a:p>
            <a:pPr>
              <a:defRPr/>
            </a:pPr>
            <a:fld id="{5D23F4F1-97A2-41D8-A1B5-445044538572}" type="slidenum">
              <a:rPr lang="en-GB" altLang="en-US" smtClean="0"/>
              <a:pPr>
                <a:defRPr/>
              </a:pPr>
              <a:t>‹#›</a:t>
            </a:fld>
            <a:endParaRPr lang="en-GB" altLang="en-US"/>
          </a:p>
        </p:txBody>
      </p:sp>
    </p:spTree>
    <p:extLst>
      <p:ext uri="{BB962C8B-B14F-4D97-AF65-F5344CB8AC3E}">
        <p14:creationId xmlns:p14="http://schemas.microsoft.com/office/powerpoint/2010/main" val="2784303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807E-601F-4306-9A39-186E76D33323}"/>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90A4E52B-A6B1-4368-9E75-15B2826BF0E0}"/>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BF7F69E-0E33-4C40-911A-739FFEB78F9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a:extLst>
              <a:ext uri="{FF2B5EF4-FFF2-40B4-BE49-F238E27FC236}">
                <a16:creationId xmlns:a16="http://schemas.microsoft.com/office/drawing/2014/main" id="{3C4B48A3-1FE0-4B8F-A5DE-7E4712A359D1}"/>
              </a:ext>
            </a:extLst>
          </p:cNvPr>
          <p:cNvSpPr>
            <a:spLocks noGrp="1"/>
          </p:cNvSpPr>
          <p:nvPr>
            <p:ph type="sldNum" sz="quarter" idx="12"/>
          </p:nvPr>
        </p:nvSpPr>
        <p:spPr/>
        <p:txBody>
          <a:bodyPr/>
          <a:lstStyle/>
          <a:p>
            <a:pPr>
              <a:defRPr/>
            </a:pPr>
            <a:fld id="{4CC8A13A-85FE-42FE-A0B1-50A6E5814DB3}" type="slidenum">
              <a:rPr lang="en-GB" altLang="en-US" smtClean="0"/>
              <a:pPr>
                <a:defRPr/>
              </a:pPr>
              <a:t>‹#›</a:t>
            </a:fld>
            <a:endParaRPr lang="en-GB" altLang="en-US"/>
          </a:p>
        </p:txBody>
      </p:sp>
    </p:spTree>
    <p:extLst>
      <p:ext uri="{BB962C8B-B14F-4D97-AF65-F5344CB8AC3E}">
        <p14:creationId xmlns:p14="http://schemas.microsoft.com/office/powerpoint/2010/main" val="3824826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653D-BC12-47AD-B132-1DAB51DFD3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6B5D09-EB60-4C90-A424-571B971A47C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13E8BBF-DA0E-4A91-928C-5DE7884EB80B}"/>
              </a:ext>
            </a:extLst>
          </p:cNvPr>
          <p:cNvSpPr>
            <a:spLocks noGrp="1"/>
          </p:cNvSpPr>
          <p:nvPr>
            <p:ph type="sldNum" sz="quarter" idx="12"/>
          </p:nvPr>
        </p:nvSpPr>
        <p:spPr/>
        <p:txBody>
          <a:bodyPr/>
          <a:lstStyle/>
          <a:p>
            <a:pPr>
              <a:defRPr/>
            </a:pPr>
            <a:fld id="{9911B845-97F2-4110-9A82-435AB51283B4}" type="slidenum">
              <a:rPr lang="en-GB" altLang="en-US" smtClean="0"/>
              <a:pPr>
                <a:defRPr/>
              </a:pPr>
              <a:t>‹#›</a:t>
            </a:fld>
            <a:endParaRPr lang="en-GB" altLang="en-US"/>
          </a:p>
        </p:txBody>
      </p:sp>
    </p:spTree>
    <p:extLst>
      <p:ext uri="{BB962C8B-B14F-4D97-AF65-F5344CB8AC3E}">
        <p14:creationId xmlns:p14="http://schemas.microsoft.com/office/powerpoint/2010/main" val="2096726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EC3003-55E9-4F23-B37C-47D5453DF1EB}"/>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1B7A8D-7AEA-4B2E-8E7B-AF617A9D735B}"/>
              </a:ext>
            </a:extLst>
          </p:cNvPr>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C95955C-D36F-4E3C-A0C2-DF8C04548D99}"/>
              </a:ext>
            </a:extLst>
          </p:cNvPr>
          <p:cNvSpPr>
            <a:spLocks noGrp="1"/>
          </p:cNvSpPr>
          <p:nvPr>
            <p:ph type="sldNum" sz="quarter" idx="12"/>
          </p:nvPr>
        </p:nvSpPr>
        <p:spPr/>
        <p:txBody>
          <a:bodyPr/>
          <a:lstStyle/>
          <a:p>
            <a:pPr>
              <a:defRPr/>
            </a:pPr>
            <a:fld id="{4CC26424-F582-469F-A72C-912AFD629FA4}" type="slidenum">
              <a:rPr lang="en-GB" altLang="en-US" smtClean="0"/>
              <a:pPr>
                <a:defRPr/>
              </a:pPr>
              <a:t>‹#›</a:t>
            </a:fld>
            <a:endParaRPr lang="en-GB" altLang="en-US"/>
          </a:p>
        </p:txBody>
      </p:sp>
    </p:spTree>
    <p:extLst>
      <p:ext uri="{BB962C8B-B14F-4D97-AF65-F5344CB8AC3E}">
        <p14:creationId xmlns:p14="http://schemas.microsoft.com/office/powerpoint/2010/main" val="4080813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18DE14C-11A1-46C6-B509-FF1A92D0D0A2}"/>
              </a:ext>
            </a:extLst>
          </p:cNvPr>
          <p:cNvGraphicFramePr>
            <a:graphicFrameLocks noChangeAspect="1"/>
          </p:cNvGraphicFramePr>
          <p:nvPr userDrawn="1">
            <p:custDataLst>
              <p:tags r:id="rId13"/>
            </p:custDataLst>
            <p:extLst>
              <p:ext uri="{D42A27DB-BD31-4B8C-83A1-F6EECF244321}">
                <p14:modId xmlns:p14="http://schemas.microsoft.com/office/powerpoint/2010/main" val="2593821100"/>
              </p:ext>
            </p:ext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14" imgW="408" imgH="408" progId="TCLayout.ActiveDocument.1">
                  <p:embed/>
                </p:oleObj>
              </mc:Choice>
              <mc:Fallback>
                <p:oleObj name="think-cell Slide" r:id="rId14" imgW="408" imgH="408" progId="TCLayout.ActiveDocument.1">
                  <p:embed/>
                  <p:pic>
                    <p:nvPicPr>
                      <p:cNvPr id="0" name=""/>
                      <p:cNvPicPr/>
                      <p:nvPr/>
                    </p:nvPicPr>
                    <p:blipFill>
                      <a:blip r:embed="rId15"/>
                      <a:stretch>
                        <a:fillRect/>
                      </a:stretch>
                    </p:blipFill>
                    <p:spPr>
                      <a:xfrm>
                        <a:off x="2118" y="1588"/>
                        <a:ext cx="211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AA022BF7-37EF-4F44-80FD-19DBE91F846D}"/>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11EF49-9992-4787-B243-803FF85337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3D86291F-6B50-47ED-BB90-66DA5C48DC4D}"/>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358E709-A26E-433C-9FB4-EDC6104FF2C5}" type="slidenum">
              <a:rPr lang="en-US" smtClean="0"/>
              <a:t>‹#›</a:t>
            </a:fld>
            <a:endParaRPr lang="en-US"/>
          </a:p>
        </p:txBody>
      </p:sp>
      <p:pic>
        <p:nvPicPr>
          <p:cNvPr id="7" name="Picture 7">
            <a:extLst>
              <a:ext uri="{FF2B5EF4-FFF2-40B4-BE49-F238E27FC236}">
                <a16:creationId xmlns:a16="http://schemas.microsoft.com/office/drawing/2014/main" id="{40E1814F-21CA-44E1-89DE-BEC66745025B}"/>
              </a:ext>
            </a:extLst>
          </p:cNvPr>
          <p:cNvPicPr>
            <a:picLocks noChangeAspect="1" noChangeArrowheads="1"/>
          </p:cNvPicPr>
          <p:nvPr userDrawn="1"/>
        </p:nvPicPr>
        <p:blipFill>
          <a:blip r:embed="rId16" cstate="hqprint">
            <a:extLst>
              <a:ext uri="{28A0092B-C50C-407E-A947-70E740481C1C}">
                <a14:useLocalDpi xmlns:a14="http://schemas.microsoft.com/office/drawing/2010/main" val="0"/>
              </a:ext>
            </a:extLst>
          </a:blip>
          <a:srcRect/>
          <a:stretch>
            <a:fillRect/>
          </a:stretch>
        </p:blipFill>
        <p:spPr bwMode="auto">
          <a:xfrm>
            <a:off x="239349" y="6066088"/>
            <a:ext cx="2743200" cy="62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6282072"/>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p:txStyles>
    <p:titleStyle>
      <a:lvl1pPr algn="l" defTabSz="685800" rtl="0" eaLnBrk="1" latinLnBrk="0" hangingPunct="1">
        <a:lnSpc>
          <a:spcPct val="90000"/>
        </a:lnSpc>
        <a:spcBef>
          <a:spcPct val="0"/>
        </a:spcBef>
        <a:buNone/>
        <a:defRPr sz="3600" kern="1200">
          <a:solidFill>
            <a:schemeClr val="tx2"/>
          </a:solidFill>
          <a:latin typeface="Arial Black" panose="020B0A04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685800" rtl="0" eaLnBrk="1" latinLnBrk="0" hangingPunct="1">
        <a:lnSpc>
          <a:spcPct val="90000"/>
        </a:lnSpc>
        <a:spcBef>
          <a:spcPts val="750"/>
        </a:spcBef>
        <a:buClr>
          <a:schemeClr val="bg2">
            <a:lumMod val="50000"/>
          </a:schemeClr>
        </a:buClr>
        <a:buFont typeface="Wingdings" panose="05000000000000000000" pitchFamily="2" charset="2"/>
        <a:buChar char="§"/>
        <a:defRPr sz="2100" kern="1200">
          <a:solidFill>
            <a:schemeClr val="tx1"/>
          </a:solidFill>
          <a:latin typeface="+mn-lt"/>
          <a:ea typeface="+mn-ea"/>
          <a:cs typeface="+mn-cs"/>
        </a:defRPr>
      </a:lvl1pPr>
      <a:lvl2pPr marL="628650" indent="-285750" algn="l" defTabSz="685800" rtl="0" eaLnBrk="1" latinLnBrk="0" hangingPunct="1">
        <a:lnSpc>
          <a:spcPct val="90000"/>
        </a:lnSpc>
        <a:spcBef>
          <a:spcPts val="375"/>
        </a:spcBef>
        <a:buClr>
          <a:schemeClr val="bg2">
            <a:lumMod val="50000"/>
          </a:schemeClr>
        </a:buClr>
        <a:buFont typeface="Wingdings" panose="05000000000000000000" pitchFamily="2" charset="2"/>
        <a:buChar char="§"/>
        <a:defRPr sz="1800" kern="1200">
          <a:solidFill>
            <a:schemeClr val="tx1"/>
          </a:solidFill>
          <a:latin typeface="+mn-lt"/>
          <a:ea typeface="+mn-ea"/>
          <a:cs typeface="+mn-cs"/>
        </a:defRPr>
      </a:lvl2pPr>
      <a:lvl3pPr marL="971550" indent="-285750" algn="l" defTabSz="685800" rtl="0" eaLnBrk="1" latinLnBrk="0" hangingPunct="1">
        <a:lnSpc>
          <a:spcPct val="90000"/>
        </a:lnSpc>
        <a:spcBef>
          <a:spcPts val="375"/>
        </a:spcBef>
        <a:buClr>
          <a:schemeClr val="bg2">
            <a:lumMod val="50000"/>
          </a:schemeClr>
        </a:buClr>
        <a:buFont typeface="Wingdings" panose="05000000000000000000" pitchFamily="2" charset="2"/>
        <a:buChar char="§"/>
        <a:defRPr sz="1500" kern="1200">
          <a:solidFill>
            <a:schemeClr val="tx1"/>
          </a:solidFill>
          <a:latin typeface="+mn-lt"/>
          <a:ea typeface="+mn-ea"/>
          <a:cs typeface="+mn-cs"/>
        </a:defRPr>
      </a:lvl3pPr>
      <a:lvl4pPr marL="1314450" indent="-285750" algn="l" defTabSz="685800" rtl="0" eaLnBrk="1" latinLnBrk="0" hangingPunct="1">
        <a:lnSpc>
          <a:spcPct val="90000"/>
        </a:lnSpc>
        <a:spcBef>
          <a:spcPts val="375"/>
        </a:spcBef>
        <a:buClr>
          <a:schemeClr val="bg2">
            <a:lumMod val="50000"/>
          </a:schemeClr>
        </a:buClr>
        <a:buFont typeface="Wingdings" panose="05000000000000000000" pitchFamily="2" charset="2"/>
        <a:buChar char="§"/>
        <a:defRPr sz="1350" kern="1200">
          <a:solidFill>
            <a:schemeClr val="tx1"/>
          </a:solidFill>
          <a:latin typeface="+mn-lt"/>
          <a:ea typeface="+mn-ea"/>
          <a:cs typeface="+mn-cs"/>
        </a:defRPr>
      </a:lvl4pPr>
      <a:lvl5pPr marL="1657350" indent="-285750" algn="l" defTabSz="685800" rtl="0" eaLnBrk="1" latinLnBrk="0" hangingPunct="1">
        <a:lnSpc>
          <a:spcPct val="90000"/>
        </a:lnSpc>
        <a:spcBef>
          <a:spcPts val="375"/>
        </a:spcBef>
        <a:buClr>
          <a:schemeClr val="bg2">
            <a:lumMod val="50000"/>
          </a:schemeClr>
        </a:buClr>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35A234D-ACED-46B0-9AB1-C2E8979AF89C}"/>
              </a:ext>
            </a:extLst>
          </p:cNvPr>
          <p:cNvGraphicFramePr>
            <a:graphicFrameLocks noChangeAspect="1"/>
          </p:cNvGraphicFramePr>
          <p:nvPr>
            <p:custDataLst>
              <p:tags r:id="rId1"/>
            </p:custDataLst>
            <p:extLst>
              <p:ext uri="{D42A27DB-BD31-4B8C-83A1-F6EECF244321}">
                <p14:modId xmlns:p14="http://schemas.microsoft.com/office/powerpoint/2010/main" val="235111246"/>
              </p:ext>
            </p:extLst>
          </p:nvPr>
        </p:nvGraphicFramePr>
        <p:xfrm>
          <a:off x="1525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8" imgH="408" progId="TCLayout.ActiveDocument.1">
                  <p:embed/>
                </p:oleObj>
              </mc:Choice>
              <mc:Fallback>
                <p:oleObj name="think-cell Slide" r:id="rId3" imgW="408" imgH="408" progId="TCLayout.ActiveDocument.1">
                  <p:embed/>
                  <p:pic>
                    <p:nvPicPr>
                      <p:cNvPr id="0" name=""/>
                      <p:cNvPicPr/>
                      <p:nvPr/>
                    </p:nvPicPr>
                    <p:blipFill>
                      <a:blip r:embed="rId4"/>
                      <a:stretch>
                        <a:fillRect/>
                      </a:stretch>
                    </p:blipFill>
                    <p:spPr>
                      <a:xfrm>
                        <a:off x="1525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F1340EC-014F-482E-A00A-3B2CF3B118BF}"/>
              </a:ext>
            </a:extLst>
          </p:cNvPr>
          <p:cNvSpPr>
            <a:spLocks noGrp="1"/>
          </p:cNvSpPr>
          <p:nvPr>
            <p:ph type="ctrTitle"/>
          </p:nvPr>
        </p:nvSpPr>
        <p:spPr>
          <a:xfrm>
            <a:off x="2671863" y="1772816"/>
            <a:ext cx="6858000" cy="1296144"/>
          </a:xfrm>
        </p:spPr>
        <p:txBody>
          <a:bodyPr vert="horz"/>
          <a:lstStyle/>
          <a:p>
            <a:r>
              <a:rPr lang="en-US" dirty="0"/>
              <a:t>SDMX </a:t>
            </a:r>
            <a:br>
              <a:rPr lang="en-US" dirty="0"/>
            </a:br>
            <a:r>
              <a:rPr lang="en-US" dirty="0"/>
              <a:t>Content Constraints</a:t>
            </a:r>
          </a:p>
        </p:txBody>
      </p:sp>
      <p:sp>
        <p:nvSpPr>
          <p:cNvPr id="3" name="Subtitle 2">
            <a:extLst>
              <a:ext uri="{FF2B5EF4-FFF2-40B4-BE49-F238E27FC236}">
                <a16:creationId xmlns:a16="http://schemas.microsoft.com/office/drawing/2014/main" id="{D4A1436F-6DC6-4BE5-A562-8B9C6F768D78}"/>
              </a:ext>
            </a:extLst>
          </p:cNvPr>
          <p:cNvSpPr>
            <a:spLocks noGrp="1"/>
          </p:cNvSpPr>
          <p:nvPr>
            <p:ph type="subTitle" idx="1"/>
          </p:nvPr>
        </p:nvSpPr>
        <p:spPr/>
        <p:txBody>
          <a:bodyPr/>
          <a:lstStyle/>
          <a:p>
            <a:r>
              <a:rPr lang="en-US" dirty="0"/>
              <a:t>March 2025</a:t>
            </a:r>
          </a:p>
        </p:txBody>
      </p:sp>
      <p:sp>
        <p:nvSpPr>
          <p:cNvPr id="4" name="Text Placeholder 3">
            <a:extLst>
              <a:ext uri="{FF2B5EF4-FFF2-40B4-BE49-F238E27FC236}">
                <a16:creationId xmlns:a16="http://schemas.microsoft.com/office/drawing/2014/main" id="{0B1B6D04-5200-4DC3-A29E-74384F97566C}"/>
              </a:ext>
            </a:extLst>
          </p:cNvPr>
          <p:cNvSpPr>
            <a:spLocks noGrp="1"/>
          </p:cNvSpPr>
          <p:nvPr>
            <p:ph type="body" sz="quarter" idx="10"/>
          </p:nvPr>
        </p:nvSpPr>
        <p:spPr>
          <a:xfrm>
            <a:off x="2999656" y="4273235"/>
            <a:ext cx="6336704" cy="1171990"/>
          </a:xfrm>
        </p:spPr>
        <p:txBody>
          <a:bodyPr>
            <a:normAutofit/>
          </a:bodyPr>
          <a:lstStyle/>
          <a:p>
            <a:endParaRPr lang="en-US" dirty="0"/>
          </a:p>
          <a:p>
            <a:r>
              <a:rPr lang="en-US" dirty="0"/>
              <a:t>Edgardo Greising</a:t>
            </a:r>
          </a:p>
          <a:p>
            <a:endParaRPr lang="en-US" dirty="0"/>
          </a:p>
        </p:txBody>
      </p:sp>
    </p:spTree>
    <p:extLst>
      <p:ext uri="{BB962C8B-B14F-4D97-AF65-F5344CB8AC3E}">
        <p14:creationId xmlns:p14="http://schemas.microsoft.com/office/powerpoint/2010/main" val="2477325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Constraints</a:t>
            </a:r>
            <a:endParaRPr lang="en-US" dirty="0"/>
          </a:p>
        </p:txBody>
      </p:sp>
      <p:sp>
        <p:nvSpPr>
          <p:cNvPr id="3" name="Content Placeholder 2"/>
          <p:cNvSpPr>
            <a:spLocks noGrp="1"/>
          </p:cNvSpPr>
          <p:nvPr>
            <p:ph idx="1"/>
          </p:nvPr>
        </p:nvSpPr>
        <p:spPr>
          <a:xfrm>
            <a:off x="838200" y="1556792"/>
            <a:ext cx="10515600" cy="4411687"/>
          </a:xfrm>
        </p:spPr>
        <p:txBody>
          <a:bodyPr>
            <a:normAutofit/>
          </a:bodyPr>
          <a:lstStyle/>
          <a:p>
            <a:r>
              <a:rPr lang="en-US" sz="2800" dirty="0"/>
              <a:t>There are two types of Constraints: </a:t>
            </a:r>
            <a:r>
              <a:rPr lang="en-US" sz="2800" i="1" dirty="0" err="1"/>
              <a:t>DataConstraint</a:t>
            </a:r>
            <a:r>
              <a:rPr lang="en-US" sz="2800" dirty="0"/>
              <a:t> and </a:t>
            </a:r>
            <a:r>
              <a:rPr lang="en-US" sz="2800" i="1" dirty="0" err="1"/>
              <a:t>MetadataConstraint</a:t>
            </a:r>
            <a:endParaRPr lang="en-US" sz="2800" i="1" dirty="0"/>
          </a:p>
          <a:p>
            <a:r>
              <a:rPr lang="en-US" sz="2800" dirty="0"/>
              <a:t>A constraint is used to:</a:t>
            </a:r>
          </a:p>
          <a:p>
            <a:pPr lvl="1"/>
            <a:r>
              <a:rPr lang="en-US" sz="2400" dirty="0"/>
              <a:t>further restrict a code list by defining a subset of allowed or forbidden values (</a:t>
            </a:r>
            <a:r>
              <a:rPr lang="en-US" sz="2400" i="1" dirty="0" err="1"/>
              <a:t>CubeRegion</a:t>
            </a:r>
            <a:r>
              <a:rPr lang="en-US" sz="2400" i="1" dirty="0"/>
              <a:t> </a:t>
            </a:r>
            <a:r>
              <a:rPr lang="en-US" sz="2400" dirty="0"/>
              <a:t>&amp;</a:t>
            </a:r>
            <a:r>
              <a:rPr lang="en-US" sz="2400" i="1" dirty="0"/>
              <a:t> </a:t>
            </a:r>
            <a:r>
              <a:rPr lang="en-US" sz="2400" i="1" dirty="0" err="1"/>
              <a:t>MetadataTargetRegion</a:t>
            </a:r>
            <a:r>
              <a:rPr lang="en-US" sz="2400" dirty="0"/>
              <a:t>)</a:t>
            </a:r>
          </a:p>
          <a:p>
            <a:pPr lvl="1"/>
            <a:r>
              <a:rPr lang="en-US" sz="2400" dirty="0"/>
              <a:t>define allowed or forbidden full or partial series’ keys (</a:t>
            </a:r>
            <a:r>
              <a:rPr lang="en-US" sz="2400" i="1" dirty="0" err="1"/>
              <a:t>DataKeySet</a:t>
            </a:r>
            <a:r>
              <a:rPr lang="en-US" sz="2400" dirty="0"/>
              <a:t>)</a:t>
            </a:r>
          </a:p>
          <a:p>
            <a:pPr lvl="1"/>
            <a:r>
              <a:rPr lang="en-US" sz="2400" dirty="0"/>
              <a:t>define a </a:t>
            </a:r>
            <a:r>
              <a:rPr lang="en-US" sz="2400" i="1" dirty="0"/>
              <a:t>validity period </a:t>
            </a:r>
            <a:r>
              <a:rPr lang="en-US" sz="2400" dirty="0"/>
              <a:t>for the constrained artefact</a:t>
            </a:r>
          </a:p>
          <a:p>
            <a:pPr lvl="1"/>
            <a:r>
              <a:rPr lang="en-IE" sz="2400" dirty="0"/>
              <a:t>establish a </a:t>
            </a:r>
            <a:r>
              <a:rPr lang="en-IE" sz="2400" i="1" dirty="0" err="1"/>
              <a:t>ReleaseCalendar</a:t>
            </a:r>
            <a:r>
              <a:rPr lang="en-IE" sz="2400" dirty="0"/>
              <a:t> </a:t>
            </a:r>
          </a:p>
          <a:p>
            <a:pPr lvl="1"/>
            <a:r>
              <a:rPr lang="en-IE" sz="2400" dirty="0"/>
              <a:t>define slices of the full set of data and to which metadata can be attached in a dataset or metadata set (</a:t>
            </a:r>
            <a:r>
              <a:rPr lang="en-GB" sz="2400" i="1" dirty="0" err="1"/>
              <a:t>AttachmentConstraint</a:t>
            </a:r>
            <a:r>
              <a:rPr lang="en-US" sz="2400" dirty="0"/>
              <a:t>) </a:t>
            </a:r>
          </a:p>
          <a:p>
            <a:pPr marL="685800" lvl="2" indent="0">
              <a:buNone/>
            </a:pPr>
            <a:r>
              <a:rPr lang="en-US" sz="2400" b="1" i="1" dirty="0">
                <a:solidFill>
                  <a:srgbClr val="FF0000"/>
                </a:solidFill>
                <a:sym typeface="Wingdings" panose="05000000000000000000" pitchFamily="2" charset="2"/>
              </a:rPr>
              <a:t> Deprecated in SDMX 3.0.0 </a:t>
            </a:r>
            <a:r>
              <a:rPr lang="en-GB" sz="2400" b="1" i="1" dirty="0">
                <a:solidFill>
                  <a:srgbClr val="FF0000"/>
                </a:solidFill>
                <a:sym typeface="Wingdings" panose="05000000000000000000" pitchFamily="2" charset="2"/>
              </a:rPr>
              <a:t>due to the lack of use cases</a:t>
            </a:r>
            <a:endParaRPr lang="en-US" sz="1800" b="1" i="1" dirty="0">
              <a:solidFill>
                <a:srgbClr val="FF0000"/>
              </a:solidFill>
            </a:endParaRPr>
          </a:p>
        </p:txBody>
      </p:sp>
      <p:sp>
        <p:nvSpPr>
          <p:cNvPr id="4" name="Slide Number Placeholder 3"/>
          <p:cNvSpPr>
            <a:spLocks noGrp="1"/>
          </p:cNvSpPr>
          <p:nvPr>
            <p:ph type="sldNum" sz="quarter" idx="12"/>
          </p:nvPr>
        </p:nvSpPr>
        <p:spPr/>
        <p:txBody>
          <a:bodyPr/>
          <a:lstStyle/>
          <a:p>
            <a:fld id="{E358E709-A26E-433C-9FB4-EDC6104FF2C5}" type="slidenum">
              <a:rPr lang="en-US" smtClean="0"/>
              <a:t>2</a:t>
            </a:fld>
            <a:endParaRPr lang="en-US"/>
          </a:p>
        </p:txBody>
      </p:sp>
    </p:spTree>
    <p:extLst>
      <p:ext uri="{BB962C8B-B14F-4D97-AF65-F5344CB8AC3E}">
        <p14:creationId xmlns:p14="http://schemas.microsoft.com/office/powerpoint/2010/main" val="161632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62BE-60C7-82F3-B5A5-E23E5D7FE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11BF1-D222-1E5F-67CB-88DC7D826E7D}"/>
              </a:ext>
            </a:extLst>
          </p:cNvPr>
          <p:cNvSpPr>
            <a:spLocks noGrp="1"/>
          </p:cNvSpPr>
          <p:nvPr>
            <p:ph type="title"/>
          </p:nvPr>
        </p:nvSpPr>
        <p:spPr/>
        <p:txBody>
          <a:bodyPr/>
          <a:lstStyle/>
          <a:p>
            <a:r>
              <a:rPr lang="en-GB" dirty="0"/>
              <a:t>Constraints</a:t>
            </a:r>
            <a:endParaRPr lang="en-US" dirty="0"/>
          </a:p>
        </p:txBody>
      </p:sp>
      <p:sp>
        <p:nvSpPr>
          <p:cNvPr id="3" name="Content Placeholder 2">
            <a:extLst>
              <a:ext uri="{FF2B5EF4-FFF2-40B4-BE49-F238E27FC236}">
                <a16:creationId xmlns:a16="http://schemas.microsoft.com/office/drawing/2014/main" id="{CC25D923-DCBD-FE1A-FDB9-B3AF2FF54A73}"/>
              </a:ext>
            </a:extLst>
          </p:cNvPr>
          <p:cNvSpPr>
            <a:spLocks noGrp="1"/>
          </p:cNvSpPr>
          <p:nvPr>
            <p:ph idx="1"/>
          </p:nvPr>
        </p:nvSpPr>
        <p:spPr>
          <a:xfrm>
            <a:off x="838200" y="1690690"/>
            <a:ext cx="10515600" cy="4351338"/>
          </a:xfrm>
        </p:spPr>
        <p:txBody>
          <a:bodyPr>
            <a:normAutofit/>
          </a:bodyPr>
          <a:lstStyle/>
          <a:p>
            <a:r>
              <a:rPr lang="en-US" sz="2800" i="1" dirty="0" err="1"/>
              <a:t>ContentConstraints</a:t>
            </a:r>
            <a:r>
              <a:rPr lang="en-US" sz="2800" i="1" dirty="0"/>
              <a:t> </a:t>
            </a:r>
            <a:r>
              <a:rPr lang="en-US" sz="2800" dirty="0"/>
              <a:t>are semantically split in two roles:</a:t>
            </a:r>
          </a:p>
          <a:p>
            <a:pPr lvl="1"/>
            <a:r>
              <a:rPr lang="en-IE" sz="2400" i="1" dirty="0"/>
              <a:t>Allowed</a:t>
            </a:r>
            <a:r>
              <a:rPr lang="en-IE" sz="2400" dirty="0"/>
              <a:t> </a:t>
            </a:r>
            <a:r>
              <a:rPr lang="en-IE" sz="2400" dirty="0" err="1"/>
              <a:t>ContentConstraint</a:t>
            </a:r>
            <a:r>
              <a:rPr lang="en-IE" sz="2400" dirty="0"/>
              <a:t>: to describe the allowed values that DSD dimensions may take within datasets</a:t>
            </a:r>
          </a:p>
          <a:p>
            <a:pPr lvl="1"/>
            <a:r>
              <a:rPr lang="en-IE" sz="2400" i="1" dirty="0"/>
              <a:t>Actual</a:t>
            </a:r>
            <a:r>
              <a:rPr lang="en-IE" sz="2400" dirty="0"/>
              <a:t> </a:t>
            </a:r>
            <a:r>
              <a:rPr lang="en-IE" sz="2400" dirty="0" err="1"/>
              <a:t>ContentConstraint</a:t>
            </a:r>
            <a:r>
              <a:rPr lang="en-IE" sz="2400" dirty="0"/>
              <a:t>: to present the actual data that an organisation has available in an SDMX web service</a:t>
            </a:r>
          </a:p>
          <a:p>
            <a:pPr marL="342900" lvl="1" indent="0">
              <a:buNone/>
            </a:pPr>
            <a:r>
              <a:rPr lang="en-IE" sz="3200" b="1" i="1" dirty="0">
                <a:solidFill>
                  <a:srgbClr val="FF0000"/>
                </a:solidFill>
                <a:sym typeface="Wingdings" panose="05000000000000000000" pitchFamily="2" charset="2"/>
              </a:rPr>
              <a:t>	</a:t>
            </a:r>
            <a:r>
              <a:rPr lang="en-US" sz="2800" b="1" i="1" dirty="0">
                <a:solidFill>
                  <a:srgbClr val="FF0000"/>
                </a:solidFill>
                <a:sym typeface="Wingdings" panose="05000000000000000000" pitchFamily="2" charset="2"/>
              </a:rPr>
              <a:t> </a:t>
            </a:r>
            <a:r>
              <a:rPr lang="en-US" sz="2000" b="1" i="1" dirty="0">
                <a:solidFill>
                  <a:srgbClr val="FF0000"/>
                </a:solidFill>
                <a:sym typeface="Wingdings" panose="05000000000000000000" pitchFamily="2" charset="2"/>
              </a:rPr>
              <a:t>Maintainable artefact deprecated in SDMX 3.0.0</a:t>
            </a:r>
            <a:endParaRPr lang="en-US" sz="2000" b="1" i="1" dirty="0">
              <a:solidFill>
                <a:srgbClr val="FF0000"/>
              </a:solidFill>
            </a:endParaRPr>
          </a:p>
          <a:p>
            <a:pPr lvl="2"/>
            <a:r>
              <a:rPr lang="en-GB" sz="2400" dirty="0"/>
              <a:t>Can no longer be maintained in a </a:t>
            </a:r>
            <a:r>
              <a:rPr lang="en-GB" sz="2400" i="1" dirty="0"/>
              <a:t>Registry</a:t>
            </a:r>
          </a:p>
          <a:p>
            <a:pPr lvl="2"/>
            <a:r>
              <a:rPr lang="en-GB" sz="2400" dirty="0"/>
              <a:t>it is always a response to the data availability SDMX REST API query. </a:t>
            </a:r>
            <a:endParaRPr lang="en-IE" sz="2000" dirty="0"/>
          </a:p>
          <a:p>
            <a:endParaRPr lang="en-US" sz="2800" dirty="0"/>
          </a:p>
        </p:txBody>
      </p:sp>
      <p:sp>
        <p:nvSpPr>
          <p:cNvPr id="4" name="Slide Number Placeholder 3">
            <a:extLst>
              <a:ext uri="{FF2B5EF4-FFF2-40B4-BE49-F238E27FC236}">
                <a16:creationId xmlns:a16="http://schemas.microsoft.com/office/drawing/2014/main" id="{1A8EBE6C-7FC4-BBF9-85A7-F59F6D0CFBFD}"/>
              </a:ext>
            </a:extLst>
          </p:cNvPr>
          <p:cNvSpPr>
            <a:spLocks noGrp="1"/>
          </p:cNvSpPr>
          <p:nvPr>
            <p:ph type="sldNum" sz="quarter" idx="12"/>
          </p:nvPr>
        </p:nvSpPr>
        <p:spPr/>
        <p:txBody>
          <a:bodyPr/>
          <a:lstStyle/>
          <a:p>
            <a:fld id="{E358E709-A26E-433C-9FB4-EDC6104FF2C5}" type="slidenum">
              <a:rPr lang="en-US" smtClean="0"/>
              <a:t>3</a:t>
            </a:fld>
            <a:endParaRPr lang="en-US"/>
          </a:p>
        </p:txBody>
      </p:sp>
    </p:spTree>
    <p:extLst>
      <p:ext uri="{BB962C8B-B14F-4D97-AF65-F5344CB8AC3E}">
        <p14:creationId xmlns:p14="http://schemas.microsoft.com/office/powerpoint/2010/main" val="248622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161D72-467B-A938-FAE4-0A608B4D41E1}"/>
              </a:ext>
            </a:extLst>
          </p:cNvPr>
          <p:cNvPicPr>
            <a:picLocks noChangeAspect="1"/>
          </p:cNvPicPr>
          <p:nvPr/>
        </p:nvPicPr>
        <p:blipFill>
          <a:blip r:embed="rId2"/>
          <a:stretch>
            <a:fillRect/>
          </a:stretch>
        </p:blipFill>
        <p:spPr>
          <a:xfrm>
            <a:off x="905613" y="1366709"/>
            <a:ext cx="10380773" cy="5268243"/>
          </a:xfrm>
          <a:prstGeom prst="rect">
            <a:avLst/>
          </a:prstGeom>
          <a:noFill/>
        </p:spPr>
      </p:pic>
      <p:sp>
        <p:nvSpPr>
          <p:cNvPr id="2" name="Title 1"/>
          <p:cNvSpPr>
            <a:spLocks noGrp="1"/>
          </p:cNvSpPr>
          <p:nvPr>
            <p:ph type="title"/>
          </p:nvPr>
        </p:nvSpPr>
        <p:spPr>
          <a:xfrm>
            <a:off x="838200" y="365127"/>
            <a:ext cx="10515600" cy="1325563"/>
          </a:xfrm>
        </p:spPr>
        <p:txBody>
          <a:bodyPr anchor="ctr">
            <a:normAutofit/>
          </a:bodyPr>
          <a:lstStyle/>
          <a:p>
            <a:r>
              <a:rPr lang="en-GB" dirty="0"/>
              <a:t>Constraints in SDMX 2.1</a:t>
            </a:r>
            <a:endParaRPr lang="en-US" dirty="0"/>
          </a:p>
        </p:txBody>
      </p:sp>
      <p:sp>
        <p:nvSpPr>
          <p:cNvPr id="4" name="Slide Number Placeholder 3"/>
          <p:cNvSpPr>
            <a:spLocks noGrp="1"/>
          </p:cNvSpPr>
          <p:nvPr>
            <p:ph type="sldNum" sz="quarter" idx="12"/>
          </p:nvPr>
        </p:nvSpPr>
        <p:spPr>
          <a:xfrm>
            <a:off x="8610600" y="6356352"/>
            <a:ext cx="2743200" cy="365125"/>
          </a:xfrm>
        </p:spPr>
        <p:txBody>
          <a:bodyPr anchor="ctr">
            <a:normAutofit/>
          </a:bodyPr>
          <a:lstStyle/>
          <a:p>
            <a:pPr>
              <a:spcAft>
                <a:spcPts val="600"/>
              </a:spcAft>
            </a:pPr>
            <a:fld id="{E358E709-A26E-433C-9FB4-EDC6104FF2C5}" type="slidenum">
              <a:rPr lang="en-US" smtClean="0"/>
              <a:pPr>
                <a:spcAft>
                  <a:spcPts val="600"/>
                </a:spcAft>
              </a:pPr>
              <a:t>4</a:t>
            </a:fld>
            <a:endParaRPr lang="en-US"/>
          </a:p>
        </p:txBody>
      </p:sp>
    </p:spTree>
    <p:extLst>
      <p:ext uri="{BB962C8B-B14F-4D97-AF65-F5344CB8AC3E}">
        <p14:creationId xmlns:p14="http://schemas.microsoft.com/office/powerpoint/2010/main" val="51376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18DA-AA1B-2B18-8C23-018BB3A2B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8A868-CB3B-ECC3-06D3-E682FC91739A}"/>
              </a:ext>
            </a:extLst>
          </p:cNvPr>
          <p:cNvSpPr>
            <a:spLocks noGrp="1"/>
          </p:cNvSpPr>
          <p:nvPr>
            <p:ph type="title"/>
          </p:nvPr>
        </p:nvSpPr>
        <p:spPr>
          <a:xfrm>
            <a:off x="838200" y="365127"/>
            <a:ext cx="10515600" cy="1325563"/>
          </a:xfrm>
        </p:spPr>
        <p:txBody>
          <a:bodyPr anchor="ctr">
            <a:normAutofit/>
          </a:bodyPr>
          <a:lstStyle/>
          <a:p>
            <a:r>
              <a:rPr lang="en-GB" dirty="0"/>
              <a:t>Constraints in SDMX 3.0.0</a:t>
            </a:r>
            <a:endParaRPr lang="en-US" dirty="0"/>
          </a:p>
        </p:txBody>
      </p:sp>
      <p:pic>
        <p:nvPicPr>
          <p:cNvPr id="5" name="Picture 4">
            <a:extLst>
              <a:ext uri="{FF2B5EF4-FFF2-40B4-BE49-F238E27FC236}">
                <a16:creationId xmlns:a16="http://schemas.microsoft.com/office/drawing/2014/main" id="{55AF2645-D312-EA0C-B7D9-3FCE1075BC0A}"/>
              </a:ext>
            </a:extLst>
          </p:cNvPr>
          <p:cNvPicPr>
            <a:picLocks noChangeAspect="1"/>
          </p:cNvPicPr>
          <p:nvPr/>
        </p:nvPicPr>
        <p:blipFill>
          <a:blip r:embed="rId2"/>
          <a:stretch>
            <a:fillRect/>
          </a:stretch>
        </p:blipFill>
        <p:spPr>
          <a:xfrm>
            <a:off x="1296144" y="1433486"/>
            <a:ext cx="9599711" cy="4895852"/>
          </a:xfrm>
          <a:prstGeom prst="rect">
            <a:avLst/>
          </a:prstGeom>
          <a:noFill/>
        </p:spPr>
      </p:pic>
      <p:sp>
        <p:nvSpPr>
          <p:cNvPr id="4" name="Slide Number Placeholder 3">
            <a:extLst>
              <a:ext uri="{FF2B5EF4-FFF2-40B4-BE49-F238E27FC236}">
                <a16:creationId xmlns:a16="http://schemas.microsoft.com/office/drawing/2014/main" id="{0836CAD3-84E0-75DC-33F3-52BAB9847F17}"/>
              </a:ext>
            </a:extLst>
          </p:cNvPr>
          <p:cNvSpPr>
            <a:spLocks noGrp="1"/>
          </p:cNvSpPr>
          <p:nvPr>
            <p:ph type="sldNum" sz="quarter" idx="12"/>
          </p:nvPr>
        </p:nvSpPr>
        <p:spPr>
          <a:xfrm>
            <a:off x="8610600" y="6356352"/>
            <a:ext cx="2743200" cy="365125"/>
          </a:xfrm>
        </p:spPr>
        <p:txBody>
          <a:bodyPr anchor="ctr">
            <a:normAutofit/>
          </a:bodyPr>
          <a:lstStyle/>
          <a:p>
            <a:pPr>
              <a:spcAft>
                <a:spcPts val="600"/>
              </a:spcAft>
            </a:pPr>
            <a:fld id="{E358E709-A26E-433C-9FB4-EDC6104FF2C5}" type="slidenum">
              <a:rPr lang="en-US" smtClean="0"/>
              <a:pPr>
                <a:spcAft>
                  <a:spcPts val="600"/>
                </a:spcAft>
              </a:pPr>
              <a:t>5</a:t>
            </a:fld>
            <a:endParaRPr lang="en-US"/>
          </a:p>
        </p:txBody>
      </p:sp>
    </p:spTree>
    <p:extLst>
      <p:ext uri="{BB962C8B-B14F-4D97-AF65-F5344CB8AC3E}">
        <p14:creationId xmlns:p14="http://schemas.microsoft.com/office/powerpoint/2010/main" val="2582298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38013-E242-9270-39CF-764A4D550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F469A-29E3-7FFC-26E7-CF6952943C8E}"/>
              </a:ext>
            </a:extLst>
          </p:cNvPr>
          <p:cNvSpPr>
            <a:spLocks noGrp="1"/>
          </p:cNvSpPr>
          <p:nvPr>
            <p:ph type="title"/>
          </p:nvPr>
        </p:nvSpPr>
        <p:spPr>
          <a:xfrm>
            <a:off x="838200" y="365127"/>
            <a:ext cx="10515600" cy="1325563"/>
          </a:xfrm>
        </p:spPr>
        <p:txBody>
          <a:bodyPr anchor="ctr">
            <a:normAutofit/>
          </a:bodyPr>
          <a:lstStyle/>
          <a:p>
            <a:r>
              <a:rPr lang="en-GB" dirty="0"/>
              <a:t>Constraints in SDMX 3.0.0 - Detail</a:t>
            </a:r>
            <a:endParaRPr lang="en-US" dirty="0"/>
          </a:p>
        </p:txBody>
      </p:sp>
      <p:pic>
        <p:nvPicPr>
          <p:cNvPr id="6" name="Picture 5">
            <a:extLst>
              <a:ext uri="{FF2B5EF4-FFF2-40B4-BE49-F238E27FC236}">
                <a16:creationId xmlns:a16="http://schemas.microsoft.com/office/drawing/2014/main" id="{9AE50380-D9D8-FA0E-50BA-B3A32E409C12}"/>
              </a:ext>
            </a:extLst>
          </p:cNvPr>
          <p:cNvPicPr>
            <a:picLocks noChangeAspect="1"/>
          </p:cNvPicPr>
          <p:nvPr/>
        </p:nvPicPr>
        <p:blipFill>
          <a:blip r:embed="rId2"/>
          <a:stretch>
            <a:fillRect/>
          </a:stretch>
        </p:blipFill>
        <p:spPr>
          <a:xfrm>
            <a:off x="3748147" y="1337962"/>
            <a:ext cx="4695705" cy="5412917"/>
          </a:xfrm>
          <a:prstGeom prst="rect">
            <a:avLst/>
          </a:prstGeom>
          <a:noFill/>
        </p:spPr>
      </p:pic>
      <p:sp>
        <p:nvSpPr>
          <p:cNvPr id="4" name="Slide Number Placeholder 3">
            <a:extLst>
              <a:ext uri="{FF2B5EF4-FFF2-40B4-BE49-F238E27FC236}">
                <a16:creationId xmlns:a16="http://schemas.microsoft.com/office/drawing/2014/main" id="{3917676C-4231-6470-192E-88F427391B54}"/>
              </a:ext>
            </a:extLst>
          </p:cNvPr>
          <p:cNvSpPr>
            <a:spLocks noGrp="1"/>
          </p:cNvSpPr>
          <p:nvPr>
            <p:ph type="sldNum" sz="quarter" idx="12"/>
          </p:nvPr>
        </p:nvSpPr>
        <p:spPr>
          <a:xfrm>
            <a:off x="8610600" y="6356352"/>
            <a:ext cx="2743200" cy="365125"/>
          </a:xfrm>
        </p:spPr>
        <p:txBody>
          <a:bodyPr anchor="ctr">
            <a:normAutofit/>
          </a:bodyPr>
          <a:lstStyle/>
          <a:p>
            <a:pPr>
              <a:spcAft>
                <a:spcPts val="600"/>
              </a:spcAft>
            </a:pPr>
            <a:fld id="{E358E709-A26E-433C-9FB4-EDC6104FF2C5}" type="slidenum">
              <a:rPr lang="en-US" smtClean="0"/>
              <a:pPr>
                <a:spcAft>
                  <a:spcPts val="600"/>
                </a:spcAft>
              </a:pPr>
              <a:t>6</a:t>
            </a:fld>
            <a:endParaRPr lang="en-US"/>
          </a:p>
        </p:txBody>
      </p:sp>
    </p:spTree>
    <p:extLst>
      <p:ext uri="{BB962C8B-B14F-4D97-AF65-F5344CB8AC3E}">
        <p14:creationId xmlns:p14="http://schemas.microsoft.com/office/powerpoint/2010/main" val="56334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D88F-C2E3-BE87-B34D-DE5947F4F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BD860-0445-A239-1E41-C48331E7A729}"/>
              </a:ext>
            </a:extLst>
          </p:cNvPr>
          <p:cNvSpPr>
            <a:spLocks noGrp="1"/>
          </p:cNvSpPr>
          <p:nvPr>
            <p:ph type="title"/>
          </p:nvPr>
        </p:nvSpPr>
        <p:spPr/>
        <p:txBody>
          <a:bodyPr/>
          <a:lstStyle/>
          <a:p>
            <a:r>
              <a:rPr lang="en-GB" dirty="0"/>
              <a:t>Constraints’ characteristics</a:t>
            </a:r>
            <a:endParaRPr lang="en-US" dirty="0"/>
          </a:p>
        </p:txBody>
      </p:sp>
      <p:sp>
        <p:nvSpPr>
          <p:cNvPr id="3" name="Content Placeholder 2">
            <a:extLst>
              <a:ext uri="{FF2B5EF4-FFF2-40B4-BE49-F238E27FC236}">
                <a16:creationId xmlns:a16="http://schemas.microsoft.com/office/drawing/2014/main" id="{7A9A7F2C-6B29-9BBA-A31E-A85F5DC9255A}"/>
              </a:ext>
            </a:extLst>
          </p:cNvPr>
          <p:cNvSpPr>
            <a:spLocks noGrp="1"/>
          </p:cNvSpPr>
          <p:nvPr>
            <p:ph idx="1"/>
          </p:nvPr>
        </p:nvSpPr>
        <p:spPr>
          <a:xfrm>
            <a:off x="862229" y="1323977"/>
            <a:ext cx="10515600" cy="5032375"/>
          </a:xfrm>
        </p:spPr>
        <p:txBody>
          <a:bodyPr>
            <a:normAutofit/>
          </a:bodyPr>
          <a:lstStyle/>
          <a:p>
            <a:r>
              <a:rPr lang="en-IE" sz="2800" dirty="0"/>
              <a:t>The Constraint “references” the constrained artefact </a:t>
            </a:r>
          </a:p>
          <a:p>
            <a:pPr lvl="1"/>
            <a:r>
              <a:rPr lang="en-IE" sz="2500" i="1" dirty="0"/>
              <a:t>Dataflow, DSD, </a:t>
            </a:r>
            <a:r>
              <a:rPr lang="en-IE" sz="2500" i="1" dirty="0" err="1"/>
              <a:t>ProvisionAgreement</a:t>
            </a:r>
            <a:r>
              <a:rPr lang="en-IE" sz="2500" i="1" dirty="0"/>
              <a:t>, </a:t>
            </a:r>
            <a:r>
              <a:rPr lang="en-IE" sz="2500" i="1" dirty="0" err="1"/>
              <a:t>DataProvider</a:t>
            </a:r>
            <a:r>
              <a:rPr lang="en-IE" sz="2500" i="1" dirty="0"/>
              <a:t>, </a:t>
            </a:r>
            <a:r>
              <a:rPr lang="en-IE" sz="2500" i="1" dirty="0" err="1"/>
              <a:t>Metadataflow</a:t>
            </a:r>
            <a:r>
              <a:rPr lang="en-IE" sz="2500" i="1" dirty="0"/>
              <a:t>, MSD, </a:t>
            </a:r>
            <a:r>
              <a:rPr lang="en-IE" sz="2500" i="1" dirty="0" err="1"/>
              <a:t>MetadataProvisionAgreement</a:t>
            </a:r>
            <a:endParaRPr lang="en-IE" sz="2500" i="1" dirty="0"/>
          </a:p>
          <a:p>
            <a:r>
              <a:rPr lang="en-IE" sz="2800" dirty="0"/>
              <a:t>No artefact references a Constraint </a:t>
            </a:r>
          </a:p>
          <a:p>
            <a:pPr lvl="1"/>
            <a:r>
              <a:rPr lang="en-IE" sz="2500" dirty="0"/>
              <a:t>the latest stable versions of Constraints per Constrainable artefact are taken as effective Constraints.</a:t>
            </a:r>
          </a:p>
          <a:p>
            <a:r>
              <a:rPr lang="en-IE" sz="2800" dirty="0"/>
              <a:t>Since SDMX 3.0.0 </a:t>
            </a:r>
            <a:r>
              <a:rPr lang="en-IE" sz="2800" i="1" dirty="0"/>
              <a:t>Attributes</a:t>
            </a:r>
            <a:r>
              <a:rPr lang="en-IE" sz="2800" dirty="0"/>
              <a:t> and </a:t>
            </a:r>
            <a:r>
              <a:rPr lang="en-IE" sz="2800" i="1" dirty="0"/>
              <a:t>Measures</a:t>
            </a:r>
            <a:r>
              <a:rPr lang="en-IE" sz="2800" dirty="0"/>
              <a:t> are allowed in </a:t>
            </a:r>
            <a:r>
              <a:rPr lang="en-IE" sz="2800" i="1" dirty="0" err="1"/>
              <a:t>DataKeySets</a:t>
            </a:r>
            <a:r>
              <a:rPr lang="en-IE" sz="2800" dirty="0"/>
              <a:t>, within each </a:t>
            </a:r>
            <a:r>
              <a:rPr lang="en-IE" sz="2800" i="1" dirty="0" err="1"/>
              <a:t>KeySet</a:t>
            </a:r>
            <a:r>
              <a:rPr lang="en-IE" sz="2800" dirty="0"/>
              <a:t>.</a:t>
            </a:r>
          </a:p>
          <a:p>
            <a:r>
              <a:rPr lang="en-IE" sz="2800" dirty="0"/>
              <a:t>The character “%” wildcards any 0…n character</a:t>
            </a:r>
            <a:r>
              <a:rPr lang="el-GR" sz="2800" dirty="0"/>
              <a:t>(</a:t>
            </a:r>
            <a:r>
              <a:rPr lang="en-GB" sz="2800" dirty="0"/>
              <a:t>s)</a:t>
            </a:r>
          </a:p>
          <a:p>
            <a:pPr lvl="1"/>
            <a:r>
              <a:rPr lang="en-IE" sz="2500" dirty="0"/>
              <a:t>to the right part of a specified prefix, </a:t>
            </a:r>
          </a:p>
          <a:p>
            <a:pPr lvl="1"/>
            <a:r>
              <a:rPr lang="en-IE" sz="2500" dirty="0"/>
              <a:t>any other part of a Value expression</a:t>
            </a:r>
          </a:p>
          <a:p>
            <a:pPr lvl="1"/>
            <a:r>
              <a:rPr lang="en-IE" sz="2500" dirty="0"/>
              <a:t>includes all items matching that pattern.</a:t>
            </a:r>
          </a:p>
        </p:txBody>
      </p:sp>
      <p:sp>
        <p:nvSpPr>
          <p:cNvPr id="4" name="Slide Number Placeholder 3">
            <a:extLst>
              <a:ext uri="{FF2B5EF4-FFF2-40B4-BE49-F238E27FC236}">
                <a16:creationId xmlns:a16="http://schemas.microsoft.com/office/drawing/2014/main" id="{C07246C7-9BF2-2300-0973-65492AB4E799}"/>
              </a:ext>
            </a:extLst>
          </p:cNvPr>
          <p:cNvSpPr>
            <a:spLocks noGrp="1"/>
          </p:cNvSpPr>
          <p:nvPr>
            <p:ph type="sldNum" sz="quarter" idx="12"/>
          </p:nvPr>
        </p:nvSpPr>
        <p:spPr/>
        <p:txBody>
          <a:bodyPr/>
          <a:lstStyle/>
          <a:p>
            <a:fld id="{E358E709-A26E-433C-9FB4-EDC6104FF2C5}" type="slidenum">
              <a:rPr lang="en-US" smtClean="0"/>
              <a:t>7</a:t>
            </a:fld>
            <a:endParaRPr lang="en-US"/>
          </a:p>
        </p:txBody>
      </p:sp>
    </p:spTree>
    <p:extLst>
      <p:ext uri="{BB962C8B-B14F-4D97-AF65-F5344CB8AC3E}">
        <p14:creationId xmlns:p14="http://schemas.microsoft.com/office/powerpoint/2010/main" val="3753440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2330-C0DD-B6C8-92A3-CC70848A3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D42BF-CBB1-7544-E497-9D3D2686BA59}"/>
              </a:ext>
            </a:extLst>
          </p:cNvPr>
          <p:cNvSpPr>
            <a:spLocks noGrp="1"/>
          </p:cNvSpPr>
          <p:nvPr>
            <p:ph type="title"/>
          </p:nvPr>
        </p:nvSpPr>
        <p:spPr/>
        <p:txBody>
          <a:bodyPr/>
          <a:lstStyle/>
          <a:p>
            <a:r>
              <a:rPr lang="en-GB" dirty="0"/>
              <a:t>Constraints’ characteristics</a:t>
            </a:r>
            <a:endParaRPr lang="en-US" dirty="0"/>
          </a:p>
        </p:txBody>
      </p:sp>
      <p:sp>
        <p:nvSpPr>
          <p:cNvPr id="3" name="Content Placeholder 2">
            <a:extLst>
              <a:ext uri="{FF2B5EF4-FFF2-40B4-BE49-F238E27FC236}">
                <a16:creationId xmlns:a16="http://schemas.microsoft.com/office/drawing/2014/main" id="{4036EC29-EC05-2BD3-0675-771BEB1E7CC1}"/>
              </a:ext>
            </a:extLst>
          </p:cNvPr>
          <p:cNvSpPr>
            <a:spLocks noGrp="1"/>
          </p:cNvSpPr>
          <p:nvPr>
            <p:ph idx="1"/>
          </p:nvPr>
        </p:nvSpPr>
        <p:spPr>
          <a:xfrm>
            <a:off x="838200" y="1507334"/>
            <a:ext cx="10515600" cy="5032375"/>
          </a:xfrm>
        </p:spPr>
        <p:txBody>
          <a:bodyPr>
            <a:normAutofit/>
          </a:bodyPr>
          <a:lstStyle/>
          <a:p>
            <a:r>
              <a:rPr lang="en-GB" sz="2800" dirty="0"/>
              <a:t>It is possible to define for the </a:t>
            </a:r>
            <a:r>
              <a:rPr lang="en-GB" sz="2800" i="1" dirty="0" err="1"/>
              <a:t>DataKeySet</a:t>
            </a:r>
            <a:r>
              <a:rPr lang="en-GB" sz="2800" dirty="0"/>
              <a:t>, </a:t>
            </a:r>
            <a:r>
              <a:rPr lang="en-GB" sz="2800" i="1" dirty="0" err="1"/>
              <a:t>DataKey</a:t>
            </a:r>
            <a:r>
              <a:rPr lang="en-GB" sz="2800" dirty="0"/>
              <a:t>, </a:t>
            </a:r>
            <a:r>
              <a:rPr lang="en-GB" sz="2800" i="1" dirty="0" err="1"/>
              <a:t>CubeRegion</a:t>
            </a:r>
            <a:r>
              <a:rPr lang="en-GB" sz="2800" dirty="0"/>
              <a:t>, </a:t>
            </a:r>
            <a:r>
              <a:rPr lang="en-GB" sz="2800" i="1" dirty="0" err="1"/>
              <a:t>MetadataTargetRegion</a:t>
            </a:r>
            <a:r>
              <a:rPr lang="en-GB" sz="2800" dirty="0"/>
              <a:t> and </a:t>
            </a:r>
            <a:r>
              <a:rPr lang="en-GB" sz="2800" i="1" dirty="0" err="1"/>
              <a:t>MemberSelection</a:t>
            </a:r>
            <a:r>
              <a:rPr lang="en-GB" sz="2800" dirty="0"/>
              <a:t> whether the set is included (</a:t>
            </a:r>
            <a:r>
              <a:rPr lang="en-GB" sz="2800" i="1" dirty="0" err="1"/>
              <a:t>isIncluded</a:t>
            </a:r>
            <a:r>
              <a:rPr lang="en-GB" sz="2800" i="1" dirty="0"/>
              <a:t> = "true",</a:t>
            </a:r>
            <a:r>
              <a:rPr lang="en-GB" sz="2800" dirty="0"/>
              <a:t> default) or excluded (</a:t>
            </a:r>
            <a:r>
              <a:rPr lang="en-GB" sz="2800" i="1" dirty="0" err="1"/>
              <a:t>isIncluded</a:t>
            </a:r>
            <a:r>
              <a:rPr lang="en-GB" sz="2800" i="1" dirty="0"/>
              <a:t> = "false"</a:t>
            </a:r>
            <a:r>
              <a:rPr lang="en-GB" sz="2800" dirty="0"/>
              <a:t>) from the Constraint definition</a:t>
            </a:r>
            <a:endParaRPr lang="es-UY" sz="2800" i="1" dirty="0"/>
          </a:p>
          <a:p>
            <a:r>
              <a:rPr lang="es-UY" sz="2800" i="1" dirty="0" err="1"/>
              <a:t>cascadeValues</a:t>
            </a:r>
            <a:r>
              <a:rPr lang="en-IE" sz="2500" i="1" dirty="0"/>
              <a:t> </a:t>
            </a:r>
            <a:r>
              <a:rPr lang="en-GB" sz="2800" dirty="0"/>
              <a:t>specifies that child values (e.g., child items in a codelist) are included in the Constraint </a:t>
            </a:r>
          </a:p>
          <a:p>
            <a:pPr lvl="1"/>
            <a:r>
              <a:rPr lang="en-GB" sz="2400" dirty="0"/>
              <a:t>It may take the following values: </a:t>
            </a:r>
          </a:p>
          <a:p>
            <a:pPr lvl="2"/>
            <a:r>
              <a:rPr lang="en-GB" sz="2100" dirty="0"/>
              <a:t>"</a:t>
            </a:r>
            <a:r>
              <a:rPr lang="en-GB" sz="2100" i="1" dirty="0"/>
              <a:t>true</a:t>
            </a:r>
            <a:r>
              <a:rPr lang="en-GB" sz="2100" dirty="0"/>
              <a:t>": all children are included, </a:t>
            </a:r>
          </a:p>
          <a:p>
            <a:pPr lvl="2"/>
            <a:r>
              <a:rPr lang="en-GB" sz="2100" dirty="0"/>
              <a:t>"</a:t>
            </a:r>
            <a:r>
              <a:rPr lang="en-GB" sz="2100" i="1" dirty="0"/>
              <a:t>false</a:t>
            </a:r>
            <a:r>
              <a:rPr lang="en-GB" sz="2100" dirty="0"/>
              <a:t>" (default), no cascading</a:t>
            </a:r>
          </a:p>
          <a:p>
            <a:pPr lvl="2"/>
            <a:r>
              <a:rPr lang="en-GB" sz="2100" dirty="0"/>
              <a:t>"</a:t>
            </a:r>
            <a:r>
              <a:rPr lang="en-GB" sz="2100" dirty="0" err="1"/>
              <a:t>excludeRoot</a:t>
            </a:r>
            <a:r>
              <a:rPr lang="en-GB" sz="2100" dirty="0"/>
              <a:t>", where all children are included, but the root Code is excluded (i.e. the referenced Code)</a:t>
            </a:r>
            <a:endParaRPr lang="en-IE" sz="1900" dirty="0"/>
          </a:p>
          <a:p>
            <a:endParaRPr lang="en-US" sz="2800" b="1" dirty="0"/>
          </a:p>
          <a:p>
            <a:endParaRPr lang="en-US" sz="2800" dirty="0"/>
          </a:p>
        </p:txBody>
      </p:sp>
      <p:sp>
        <p:nvSpPr>
          <p:cNvPr id="4" name="Slide Number Placeholder 3">
            <a:extLst>
              <a:ext uri="{FF2B5EF4-FFF2-40B4-BE49-F238E27FC236}">
                <a16:creationId xmlns:a16="http://schemas.microsoft.com/office/drawing/2014/main" id="{B4FB7C71-50BC-311E-61EE-483AC4AFA777}"/>
              </a:ext>
            </a:extLst>
          </p:cNvPr>
          <p:cNvSpPr>
            <a:spLocks noGrp="1"/>
          </p:cNvSpPr>
          <p:nvPr>
            <p:ph type="sldNum" sz="quarter" idx="12"/>
          </p:nvPr>
        </p:nvSpPr>
        <p:spPr/>
        <p:txBody>
          <a:bodyPr/>
          <a:lstStyle/>
          <a:p>
            <a:fld id="{E358E709-A26E-433C-9FB4-EDC6104FF2C5}" type="slidenum">
              <a:rPr lang="en-US" smtClean="0"/>
              <a:t>8</a:t>
            </a:fld>
            <a:endParaRPr lang="en-US"/>
          </a:p>
        </p:txBody>
      </p:sp>
    </p:spTree>
    <p:extLst>
      <p:ext uri="{BB962C8B-B14F-4D97-AF65-F5344CB8AC3E}">
        <p14:creationId xmlns:p14="http://schemas.microsoft.com/office/powerpoint/2010/main" val="3430458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9E05-29B1-4B93-9B25-218A3275C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CB1EE-81D3-9D3F-4D9D-0F05FCCEAFB9}"/>
              </a:ext>
            </a:extLst>
          </p:cNvPr>
          <p:cNvSpPr>
            <a:spLocks noGrp="1"/>
          </p:cNvSpPr>
          <p:nvPr>
            <p:ph type="title"/>
          </p:nvPr>
        </p:nvSpPr>
        <p:spPr/>
        <p:txBody>
          <a:bodyPr/>
          <a:lstStyle/>
          <a:p>
            <a:r>
              <a:rPr lang="en-GB" dirty="0"/>
              <a:t>Constraints’ characteristics</a:t>
            </a:r>
            <a:endParaRPr lang="en-US" dirty="0"/>
          </a:p>
        </p:txBody>
      </p:sp>
      <p:sp>
        <p:nvSpPr>
          <p:cNvPr id="3" name="Content Placeholder 2">
            <a:extLst>
              <a:ext uri="{FF2B5EF4-FFF2-40B4-BE49-F238E27FC236}">
                <a16:creationId xmlns:a16="http://schemas.microsoft.com/office/drawing/2014/main" id="{080803EE-A6BB-E271-0EEA-A70E277FEE1D}"/>
              </a:ext>
            </a:extLst>
          </p:cNvPr>
          <p:cNvSpPr>
            <a:spLocks noGrp="1"/>
          </p:cNvSpPr>
          <p:nvPr>
            <p:ph idx="1"/>
          </p:nvPr>
        </p:nvSpPr>
        <p:spPr>
          <a:xfrm>
            <a:off x="843136" y="1853787"/>
            <a:ext cx="10515600" cy="2799349"/>
          </a:xfrm>
        </p:spPr>
        <p:txBody>
          <a:bodyPr>
            <a:normAutofit/>
          </a:bodyPr>
          <a:lstStyle/>
          <a:p>
            <a:r>
              <a:rPr lang="en-GB" sz="2800" dirty="0"/>
              <a:t>It is possible to remove a prefix that has been used to group items in a codelist (e.g. for a classification variant) with the property </a:t>
            </a:r>
            <a:r>
              <a:rPr lang="en-GB" sz="2800" i="1" dirty="0" err="1"/>
              <a:t>removePrefix</a:t>
            </a:r>
            <a:r>
              <a:rPr lang="en-GB" sz="2800" dirty="0"/>
              <a:t>,</a:t>
            </a:r>
            <a:endParaRPr lang="en-US" sz="2800" b="1" dirty="0"/>
          </a:p>
          <a:p>
            <a:r>
              <a:rPr lang="en-GB" sz="2700" dirty="0"/>
              <a:t>In </a:t>
            </a:r>
            <a:r>
              <a:rPr lang="en-GB" sz="2700" i="1" dirty="0" err="1"/>
              <a:t>DataKey</a:t>
            </a:r>
            <a:r>
              <a:rPr lang="en-GB" sz="2700" dirty="0" err="1"/>
              <a:t>s</a:t>
            </a:r>
            <a:r>
              <a:rPr lang="en-GB" sz="2700" dirty="0"/>
              <a:t> and </a:t>
            </a:r>
            <a:r>
              <a:rPr lang="en-GB" sz="2700" i="1" dirty="0" err="1"/>
              <a:t>MemberValue</a:t>
            </a:r>
            <a:r>
              <a:rPr lang="en-GB" sz="2700" dirty="0" err="1"/>
              <a:t>s</a:t>
            </a:r>
            <a:r>
              <a:rPr lang="en-GB" sz="2700" dirty="0"/>
              <a:t> it is possible, via the </a:t>
            </a:r>
            <a:r>
              <a:rPr lang="en-GB" sz="2700" i="1" dirty="0" err="1"/>
              <a:t>validFrom</a:t>
            </a:r>
            <a:r>
              <a:rPr lang="en-GB" sz="2700" dirty="0"/>
              <a:t> and </a:t>
            </a:r>
            <a:r>
              <a:rPr lang="en-GB" sz="2700" i="1" dirty="0" err="1"/>
              <a:t>validTo</a:t>
            </a:r>
            <a:r>
              <a:rPr lang="en-GB" sz="2700" dirty="0"/>
              <a:t> properties to set a validity period for which the selected key or value is constrained.</a:t>
            </a:r>
          </a:p>
        </p:txBody>
      </p:sp>
      <p:sp>
        <p:nvSpPr>
          <p:cNvPr id="4" name="Slide Number Placeholder 3">
            <a:extLst>
              <a:ext uri="{FF2B5EF4-FFF2-40B4-BE49-F238E27FC236}">
                <a16:creationId xmlns:a16="http://schemas.microsoft.com/office/drawing/2014/main" id="{E8E1DC9C-B191-1757-DA6F-513F67F6AA7D}"/>
              </a:ext>
            </a:extLst>
          </p:cNvPr>
          <p:cNvSpPr>
            <a:spLocks noGrp="1"/>
          </p:cNvSpPr>
          <p:nvPr>
            <p:ph type="sldNum" sz="quarter" idx="12"/>
          </p:nvPr>
        </p:nvSpPr>
        <p:spPr/>
        <p:txBody>
          <a:bodyPr/>
          <a:lstStyle/>
          <a:p>
            <a:fld id="{E358E709-A26E-433C-9FB4-EDC6104FF2C5}" type="slidenum">
              <a:rPr lang="en-US" smtClean="0"/>
              <a:t>9</a:t>
            </a:fld>
            <a:endParaRPr lang="en-US"/>
          </a:p>
        </p:txBody>
      </p:sp>
    </p:spTree>
    <p:extLst>
      <p:ext uri="{BB962C8B-B14F-4D97-AF65-F5344CB8AC3E}">
        <p14:creationId xmlns:p14="http://schemas.microsoft.com/office/powerpoint/2010/main" val="3596145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EF7A-575C-210D-AC2C-87C274B40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4BB39-9A38-3573-C13F-58EE587D494B}"/>
              </a:ext>
            </a:extLst>
          </p:cNvPr>
          <p:cNvSpPr>
            <a:spLocks noGrp="1"/>
          </p:cNvSpPr>
          <p:nvPr>
            <p:ph type="title"/>
          </p:nvPr>
        </p:nvSpPr>
        <p:spPr/>
        <p:txBody>
          <a:bodyPr/>
          <a:lstStyle/>
          <a:p>
            <a:r>
              <a:rPr lang="en-GB" dirty="0"/>
              <a:t>Constraints’ examples</a:t>
            </a:r>
            <a:endParaRPr lang="en-US" dirty="0"/>
          </a:p>
        </p:txBody>
      </p:sp>
      <p:sp>
        <p:nvSpPr>
          <p:cNvPr id="3" name="Content Placeholder 2">
            <a:extLst>
              <a:ext uri="{FF2B5EF4-FFF2-40B4-BE49-F238E27FC236}">
                <a16:creationId xmlns:a16="http://schemas.microsoft.com/office/drawing/2014/main" id="{BA003A57-CF21-0291-6E1F-02E28118753F}"/>
              </a:ext>
            </a:extLst>
          </p:cNvPr>
          <p:cNvSpPr>
            <a:spLocks noGrp="1"/>
          </p:cNvSpPr>
          <p:nvPr>
            <p:ph idx="1"/>
          </p:nvPr>
        </p:nvSpPr>
        <p:spPr>
          <a:xfrm>
            <a:off x="856111" y="1460498"/>
            <a:ext cx="10515600" cy="5032375"/>
          </a:xfrm>
        </p:spPr>
        <p:txBody>
          <a:bodyPr>
            <a:normAutofit lnSpcReduction="10000"/>
          </a:bodyPr>
          <a:lstStyle/>
          <a:p>
            <a:r>
              <a:rPr lang="fr-CH" sz="2800" dirty="0" err="1"/>
              <a:t>Allow</a:t>
            </a:r>
            <a:r>
              <a:rPr lang="fr-CH" sz="2800" dirty="0"/>
              <a:t> EU country codes </a:t>
            </a:r>
            <a:r>
              <a:rPr lang="fr-CH" sz="2800" dirty="0" err="1"/>
              <a:t>before</a:t>
            </a:r>
            <a:r>
              <a:rPr lang="fr-CH" sz="2800" dirty="0"/>
              <a:t> and </a:t>
            </a:r>
            <a:r>
              <a:rPr lang="fr-CH" sz="2800" dirty="0" err="1"/>
              <a:t>after</a:t>
            </a:r>
            <a:r>
              <a:rPr lang="fr-CH" sz="2800" dirty="0"/>
              <a:t> Brexit</a:t>
            </a:r>
            <a:r>
              <a:rPr lang="en-GB" sz="2400" dirty="0"/>
              <a:t> </a:t>
            </a:r>
          </a:p>
          <a:p>
            <a:pPr lvl="1"/>
            <a:r>
              <a:rPr lang="en-GB" sz="2400" dirty="0"/>
              <a:t>A PA has a </a:t>
            </a:r>
            <a:r>
              <a:rPr lang="en-GB" sz="2400" dirty="0" err="1"/>
              <a:t>ContentConstraint</a:t>
            </a:r>
            <a:r>
              <a:rPr lang="en-GB" sz="2400" dirty="0"/>
              <a:t> with:</a:t>
            </a:r>
          </a:p>
          <a:p>
            <a:pPr lvl="2"/>
            <a:r>
              <a:rPr lang="en-GB" sz="2100" i="1" dirty="0" err="1"/>
              <a:t>isIncluded</a:t>
            </a:r>
            <a:r>
              <a:rPr lang="en-GB" sz="2100" dirty="0"/>
              <a:t> = </a:t>
            </a:r>
            <a:r>
              <a:rPr lang="en-GB" sz="2100" i="1" dirty="0"/>
              <a:t>true</a:t>
            </a:r>
            <a:r>
              <a:rPr lang="en-GB" sz="2100" dirty="0"/>
              <a:t> </a:t>
            </a:r>
          </a:p>
          <a:p>
            <a:pPr lvl="2"/>
            <a:r>
              <a:rPr lang="en-GB" sz="2100" i="1" dirty="0" err="1"/>
              <a:t>KeyValue</a:t>
            </a:r>
            <a:r>
              <a:rPr lang="en-GB" sz="2100" i="1" dirty="0"/>
              <a:t> </a:t>
            </a:r>
            <a:r>
              <a:rPr lang="en-GB" sz="2000" i="1" dirty="0"/>
              <a:t>id=REF_AREA </a:t>
            </a:r>
            <a:endParaRPr lang="en-GB" sz="2100" i="1" dirty="0"/>
          </a:p>
          <a:p>
            <a:pPr lvl="3"/>
            <a:r>
              <a:rPr lang="en-GB" sz="1950" i="1" dirty="0"/>
              <a:t>Value </a:t>
            </a:r>
            <a:r>
              <a:rPr lang="en-GB" sz="1950" dirty="0"/>
              <a:t>= “</a:t>
            </a:r>
            <a:r>
              <a:rPr lang="en-GB" sz="1950" i="1" dirty="0"/>
              <a:t>AT, BE, BG, CY, CZ, DE, DK, EE, ES, FI, FR, GB, GR, HR,  HU, IE, IT, LT, LU, LV, MT, NL, PL, PT, RO, SE, SI, SK</a:t>
            </a:r>
            <a:r>
              <a:rPr lang="en-GB" sz="1950" dirty="0"/>
              <a:t>” </a:t>
            </a:r>
          </a:p>
          <a:p>
            <a:pPr lvl="3"/>
            <a:r>
              <a:rPr lang="en-GB" sz="1950" i="1" dirty="0" err="1"/>
              <a:t>TimeDimensionValue</a:t>
            </a:r>
            <a:r>
              <a:rPr lang="en-GB" sz="1950" i="1" dirty="0"/>
              <a:t> operator=LE </a:t>
            </a:r>
            <a:r>
              <a:rPr lang="en-GB" sz="1950" i="1" dirty="0" err="1"/>
              <a:t>timeValue</a:t>
            </a:r>
            <a:r>
              <a:rPr lang="en-GB" sz="1950" i="1" dirty="0"/>
              <a:t>=2020-01-31</a:t>
            </a:r>
            <a:r>
              <a:rPr lang="en-GB" sz="1950" dirty="0"/>
              <a:t> </a:t>
            </a:r>
          </a:p>
          <a:p>
            <a:pPr lvl="3"/>
            <a:r>
              <a:rPr lang="en-GB" sz="2000" b="1" dirty="0"/>
              <a:t>to include GB until the Brexit effective date</a:t>
            </a:r>
          </a:p>
          <a:p>
            <a:pPr lvl="2"/>
            <a:r>
              <a:rPr lang="en-GB" sz="2100" i="1" dirty="0" err="1"/>
              <a:t>KeyValue</a:t>
            </a:r>
            <a:r>
              <a:rPr lang="en-GB" sz="2100" i="1" dirty="0"/>
              <a:t> </a:t>
            </a:r>
            <a:r>
              <a:rPr lang="en-GB" sz="2000" i="1" dirty="0"/>
              <a:t>id=REF_AREA</a:t>
            </a:r>
            <a:endParaRPr lang="en-GB" sz="2100" i="1" dirty="0"/>
          </a:p>
          <a:p>
            <a:pPr lvl="3"/>
            <a:r>
              <a:rPr lang="en-GB" sz="1950" i="1" dirty="0"/>
              <a:t>Value </a:t>
            </a:r>
            <a:r>
              <a:rPr lang="en-GB" sz="1950" dirty="0"/>
              <a:t>= “</a:t>
            </a:r>
            <a:r>
              <a:rPr lang="en-GB" sz="1950" i="1" dirty="0"/>
              <a:t>AT, BE, BG, CY, CZ, DE, DK, EE, ES, FI, FR, GR, HR,  HU, IE, IT, LT, LU, LV, MT, NL, PL, PT, RO, SE, SI, SK</a:t>
            </a:r>
            <a:r>
              <a:rPr lang="en-GB" sz="1950" dirty="0"/>
              <a:t>” </a:t>
            </a:r>
          </a:p>
          <a:p>
            <a:pPr lvl="3"/>
            <a:r>
              <a:rPr lang="en-GB" sz="1950" i="1" dirty="0" err="1"/>
              <a:t>TimeDimensionValue</a:t>
            </a:r>
            <a:r>
              <a:rPr lang="en-GB" sz="1950" i="1" dirty="0"/>
              <a:t> operator=GE </a:t>
            </a:r>
            <a:r>
              <a:rPr lang="en-GB" sz="1950" i="1" dirty="0" err="1"/>
              <a:t>timeValue</a:t>
            </a:r>
            <a:r>
              <a:rPr lang="en-GB" sz="1950" i="1" dirty="0"/>
              <a:t>=2020-02-01</a:t>
            </a:r>
            <a:r>
              <a:rPr lang="en-GB" sz="1950" dirty="0"/>
              <a:t> </a:t>
            </a:r>
          </a:p>
          <a:p>
            <a:pPr lvl="3"/>
            <a:r>
              <a:rPr lang="en-GB" sz="2000" b="1" dirty="0"/>
              <a:t>to remove GB data as from the Brexit effective date</a:t>
            </a:r>
            <a:endParaRPr lang="en-GB" sz="2100" dirty="0"/>
          </a:p>
          <a:p>
            <a:pPr lvl="1"/>
            <a:r>
              <a:rPr lang="en-GB" sz="2400" dirty="0"/>
              <a:t>Data submission under this PA will validate the pertinence of including GB data or not depending on the reference period</a:t>
            </a:r>
          </a:p>
          <a:p>
            <a:pPr lvl="1"/>
            <a:endParaRPr lang="en-GB" sz="2400" dirty="0"/>
          </a:p>
          <a:p>
            <a:pPr lvl="2"/>
            <a:endParaRPr lang="en-GB" sz="2100" dirty="0"/>
          </a:p>
        </p:txBody>
      </p:sp>
      <p:sp>
        <p:nvSpPr>
          <p:cNvPr id="4" name="Slide Number Placeholder 3">
            <a:extLst>
              <a:ext uri="{FF2B5EF4-FFF2-40B4-BE49-F238E27FC236}">
                <a16:creationId xmlns:a16="http://schemas.microsoft.com/office/drawing/2014/main" id="{4B4CE5F9-1D15-6C94-79A1-D2C26830527F}"/>
              </a:ext>
            </a:extLst>
          </p:cNvPr>
          <p:cNvSpPr>
            <a:spLocks noGrp="1"/>
          </p:cNvSpPr>
          <p:nvPr>
            <p:ph type="sldNum" sz="quarter" idx="12"/>
          </p:nvPr>
        </p:nvSpPr>
        <p:spPr/>
        <p:txBody>
          <a:bodyPr/>
          <a:lstStyle/>
          <a:p>
            <a:fld id="{E358E709-A26E-433C-9FB4-EDC6104FF2C5}" type="slidenum">
              <a:rPr lang="en-US" smtClean="0"/>
              <a:t>10</a:t>
            </a:fld>
            <a:endParaRPr lang="en-US"/>
          </a:p>
        </p:txBody>
      </p:sp>
    </p:spTree>
    <p:extLst>
      <p:ext uri="{BB962C8B-B14F-4D97-AF65-F5344CB8AC3E}">
        <p14:creationId xmlns:p14="http://schemas.microsoft.com/office/powerpoint/2010/main" val="3004403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E1E17-FC0D-7371-9CBF-6696CDE0D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10267-288C-2559-1346-81A772E1C67A}"/>
              </a:ext>
            </a:extLst>
          </p:cNvPr>
          <p:cNvSpPr>
            <a:spLocks noGrp="1"/>
          </p:cNvSpPr>
          <p:nvPr>
            <p:ph type="title"/>
          </p:nvPr>
        </p:nvSpPr>
        <p:spPr/>
        <p:txBody>
          <a:bodyPr/>
          <a:lstStyle/>
          <a:p>
            <a:r>
              <a:rPr lang="en-GB" dirty="0"/>
              <a:t>Constraints’ examples</a:t>
            </a:r>
            <a:endParaRPr lang="en-US" dirty="0"/>
          </a:p>
        </p:txBody>
      </p:sp>
      <p:sp>
        <p:nvSpPr>
          <p:cNvPr id="3" name="Content Placeholder 2">
            <a:extLst>
              <a:ext uri="{FF2B5EF4-FFF2-40B4-BE49-F238E27FC236}">
                <a16:creationId xmlns:a16="http://schemas.microsoft.com/office/drawing/2014/main" id="{E9A88BAB-0871-38C2-FBEC-FB1701A985DB}"/>
              </a:ext>
            </a:extLst>
          </p:cNvPr>
          <p:cNvSpPr>
            <a:spLocks noGrp="1"/>
          </p:cNvSpPr>
          <p:nvPr>
            <p:ph idx="1"/>
          </p:nvPr>
        </p:nvSpPr>
        <p:spPr>
          <a:xfrm>
            <a:off x="858761" y="1507334"/>
            <a:ext cx="10515600" cy="5032375"/>
          </a:xfrm>
        </p:spPr>
        <p:txBody>
          <a:bodyPr>
            <a:normAutofit lnSpcReduction="10000"/>
          </a:bodyPr>
          <a:lstStyle/>
          <a:p>
            <a:r>
              <a:rPr lang="en-GB" sz="2800" dirty="0"/>
              <a:t>Remove a prefix that has been used to group items in a codelist for a classification variant</a:t>
            </a:r>
            <a:endParaRPr lang="en-US" sz="2800" b="1" dirty="0"/>
          </a:p>
          <a:p>
            <a:pPr lvl="1"/>
            <a:r>
              <a:rPr lang="en-GB" sz="2400" dirty="0"/>
              <a:t>The CL_ECO codelist contains ISIC and NACE variants with the original codes prefixed with the variant id, like “ISIC4_”, “ISIC3_”, “NACE2_”, etc. to avoid code conflicts. </a:t>
            </a:r>
          </a:p>
          <a:p>
            <a:pPr lvl="1"/>
            <a:r>
              <a:rPr lang="en-GB" sz="2400" dirty="0"/>
              <a:t>A DF that uses ISIC Rev 4 has a specific </a:t>
            </a:r>
            <a:r>
              <a:rPr lang="en-GB" sz="2400" dirty="0" err="1"/>
              <a:t>ContentConstraint</a:t>
            </a:r>
            <a:r>
              <a:rPr lang="en-GB" sz="2400" dirty="0"/>
              <a:t> with:</a:t>
            </a:r>
          </a:p>
          <a:p>
            <a:pPr lvl="2"/>
            <a:r>
              <a:rPr lang="en-GB" sz="2100" i="1" dirty="0" err="1"/>
              <a:t>isIncluded</a:t>
            </a:r>
            <a:r>
              <a:rPr lang="en-GB" sz="2100" dirty="0"/>
              <a:t> = </a:t>
            </a:r>
            <a:r>
              <a:rPr lang="en-GB" sz="2100" i="1" dirty="0"/>
              <a:t>true</a:t>
            </a:r>
            <a:r>
              <a:rPr lang="en-GB" sz="2100" dirty="0"/>
              <a:t> </a:t>
            </a:r>
          </a:p>
          <a:p>
            <a:pPr lvl="2"/>
            <a:r>
              <a:rPr lang="en-GB" sz="2100" i="1" dirty="0" err="1"/>
              <a:t>KeyValue</a:t>
            </a:r>
            <a:r>
              <a:rPr lang="en-GB" sz="2100" i="1" dirty="0"/>
              <a:t> </a:t>
            </a:r>
            <a:r>
              <a:rPr lang="en-GB" sz="2000" i="1" dirty="0"/>
              <a:t>id=ECO</a:t>
            </a:r>
            <a:endParaRPr lang="en-GB" sz="2100" i="1" dirty="0"/>
          </a:p>
          <a:p>
            <a:pPr lvl="3"/>
            <a:r>
              <a:rPr lang="en-GB" sz="2000" i="1" dirty="0"/>
              <a:t>Value</a:t>
            </a:r>
            <a:r>
              <a:rPr lang="en-GB" sz="2000" dirty="0"/>
              <a:t>=“</a:t>
            </a:r>
            <a:r>
              <a:rPr lang="en-GB" sz="2000" i="1" dirty="0"/>
              <a:t>ISIC4_%</a:t>
            </a:r>
            <a:r>
              <a:rPr lang="en-GB" sz="2000" dirty="0"/>
              <a:t>”, 		</a:t>
            </a:r>
            <a:r>
              <a:rPr lang="en-GB" sz="2000" b="1" dirty="0"/>
              <a:t>to include all items of the ISIC Rev 4 variant </a:t>
            </a:r>
          </a:p>
          <a:p>
            <a:pPr lvl="3"/>
            <a:r>
              <a:rPr lang="en-GB" sz="2000" i="1" dirty="0" err="1"/>
              <a:t>removePrefix</a:t>
            </a:r>
            <a:r>
              <a:rPr lang="en-GB" sz="2000" dirty="0"/>
              <a:t>=“</a:t>
            </a:r>
            <a:r>
              <a:rPr lang="en-GB" sz="2000" i="1" dirty="0"/>
              <a:t>ISIC4_</a:t>
            </a:r>
            <a:r>
              <a:rPr lang="en-GB" sz="2000" dirty="0"/>
              <a:t>”, 	</a:t>
            </a:r>
            <a:r>
              <a:rPr lang="en-GB" sz="2000" b="1" dirty="0"/>
              <a:t>to get the original codes </a:t>
            </a:r>
          </a:p>
          <a:p>
            <a:pPr lvl="1"/>
            <a:r>
              <a:rPr lang="en-GB" sz="2400" dirty="0"/>
              <a:t>A </a:t>
            </a:r>
            <a:r>
              <a:rPr lang="en-GB" sz="2400" i="1" dirty="0"/>
              <a:t>data</a:t>
            </a:r>
            <a:r>
              <a:rPr lang="en-GB" sz="2400" dirty="0"/>
              <a:t> query for the DF will include only data with the economic activity classified according to ISIC Rev. 4</a:t>
            </a:r>
          </a:p>
          <a:p>
            <a:pPr lvl="1"/>
            <a:r>
              <a:rPr lang="en-GB" sz="2400" dirty="0"/>
              <a:t>A </a:t>
            </a:r>
            <a:r>
              <a:rPr lang="en-GB" sz="2400" i="1" dirty="0"/>
              <a:t>structure</a:t>
            </a:r>
            <a:r>
              <a:rPr lang="en-GB" sz="2400" dirty="0"/>
              <a:t> query for the DF with </a:t>
            </a:r>
            <a:r>
              <a:rPr lang="en-GB" sz="2400" i="1" dirty="0"/>
              <a:t>references=descendants </a:t>
            </a:r>
            <a:r>
              <a:rPr lang="en-GB" sz="2400" dirty="0"/>
              <a:t>and </a:t>
            </a:r>
            <a:r>
              <a:rPr lang="en-GB" sz="2400" i="1" dirty="0"/>
              <a:t>detail=</a:t>
            </a:r>
            <a:r>
              <a:rPr lang="en-GB" sz="2400" i="1" dirty="0" err="1"/>
              <a:t>referencepartial</a:t>
            </a:r>
            <a:r>
              <a:rPr lang="en-GB" sz="2400" i="1" dirty="0"/>
              <a:t> </a:t>
            </a:r>
            <a:r>
              <a:rPr lang="en-GB" sz="2400" dirty="0"/>
              <a:t>will return CL_ECO with the constraints applied including only the items of the selected variant ISIC Rev.4</a:t>
            </a:r>
          </a:p>
          <a:p>
            <a:pPr lvl="1"/>
            <a:endParaRPr lang="en-GB" sz="2400" dirty="0"/>
          </a:p>
          <a:p>
            <a:pPr lvl="2"/>
            <a:endParaRPr lang="en-GB" sz="2100" dirty="0"/>
          </a:p>
        </p:txBody>
      </p:sp>
      <p:sp>
        <p:nvSpPr>
          <p:cNvPr id="4" name="Slide Number Placeholder 3">
            <a:extLst>
              <a:ext uri="{FF2B5EF4-FFF2-40B4-BE49-F238E27FC236}">
                <a16:creationId xmlns:a16="http://schemas.microsoft.com/office/drawing/2014/main" id="{045A7E0C-72C4-A936-DCA9-0AB1136C8AC3}"/>
              </a:ext>
            </a:extLst>
          </p:cNvPr>
          <p:cNvSpPr>
            <a:spLocks noGrp="1"/>
          </p:cNvSpPr>
          <p:nvPr>
            <p:ph type="sldNum" sz="quarter" idx="12"/>
          </p:nvPr>
        </p:nvSpPr>
        <p:spPr/>
        <p:txBody>
          <a:bodyPr/>
          <a:lstStyle/>
          <a:p>
            <a:fld id="{E358E709-A26E-433C-9FB4-EDC6104FF2C5}" type="slidenum">
              <a:rPr lang="en-US" smtClean="0"/>
              <a:t>11</a:t>
            </a:fld>
            <a:endParaRPr lang="en-US"/>
          </a:p>
        </p:txBody>
      </p:sp>
    </p:spTree>
    <p:extLst>
      <p:ext uri="{BB962C8B-B14F-4D97-AF65-F5344CB8AC3E}">
        <p14:creationId xmlns:p14="http://schemas.microsoft.com/office/powerpoint/2010/main" val="3537719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2650" y="1107195"/>
            <a:ext cx="7886700" cy="4241972"/>
          </a:xfrm>
        </p:spPr>
      </p:pic>
      <p:sp>
        <p:nvSpPr>
          <p:cNvPr id="4" name="Slide Number Placeholder 3"/>
          <p:cNvSpPr>
            <a:spLocks noGrp="1"/>
          </p:cNvSpPr>
          <p:nvPr>
            <p:ph type="sldNum" sz="quarter" idx="12"/>
          </p:nvPr>
        </p:nvSpPr>
        <p:spPr/>
        <p:txBody>
          <a:bodyPr/>
          <a:lstStyle/>
          <a:p>
            <a:fld id="{E358E709-A26E-433C-9FB4-EDC6104FF2C5}" type="slidenum">
              <a:rPr lang="en-US" smtClean="0"/>
              <a:t>12</a:t>
            </a:fld>
            <a:endParaRPr lang="en-US"/>
          </a:p>
        </p:txBody>
      </p:sp>
      <p:pic>
        <p:nvPicPr>
          <p:cNvPr id="5" name="Picture 4"/>
          <p:cNvPicPr>
            <a:picLocks noChangeAspect="1"/>
          </p:cNvPicPr>
          <p:nvPr/>
        </p:nvPicPr>
        <p:blipFill>
          <a:blip r:embed="rId3"/>
          <a:stretch>
            <a:fillRect/>
          </a:stretch>
        </p:blipFill>
        <p:spPr>
          <a:xfrm>
            <a:off x="1667508" y="692697"/>
            <a:ext cx="8856984" cy="4870673"/>
          </a:xfrm>
          <a:prstGeom prst="rect">
            <a:avLst/>
          </a:prstGeom>
        </p:spPr>
      </p:pic>
    </p:spTree>
    <p:extLst>
      <p:ext uri="{BB962C8B-B14F-4D97-AF65-F5344CB8AC3E}">
        <p14:creationId xmlns:p14="http://schemas.microsoft.com/office/powerpoint/2010/main" val="25663005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ustom Design">
  <a:themeElements>
    <a:clrScheme name="IMF Colors V2">
      <a:dk1>
        <a:srgbClr val="000000"/>
      </a:dk1>
      <a:lt1>
        <a:srgbClr val="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Dark Teal">
      <a:srgbClr val="00B0B9"/>
    </a:custClr>
    <a:custClr name="Accent Green">
      <a:srgbClr val="658D1B"/>
    </a:custClr>
    <a:custClr name="Accent Orange">
      <a:srgbClr val="E35205"/>
    </a:custClr>
    <a:custClr name="Plum">
      <a:srgbClr val="910048"/>
    </a:custClr>
    <a:custClr name="Blue-Gray">
      <a:srgbClr val="5E8AB4"/>
    </a:custClr>
    <a:custClr name="Cool Blue">
      <a:srgbClr val="407EC9"/>
    </a:custClr>
    <a:custClr name="Gray">
      <a:srgbClr val="707372"/>
    </a:custClr>
    <a:custClr name="Brown">
      <a:srgbClr val="6E6259"/>
    </a:custClr>
    <a:custClr name="Light Gray">
      <a:srgbClr val="B1B3B3"/>
    </a:custClr>
    <a:custClr name="Accent Dark Blue">
      <a:srgbClr val="001E60"/>
    </a:custClr>
  </a:custClrLst>
  <a:extLst>
    <a:ext uri="{05A4C25C-085E-4340-85A3-A5531E510DB2}">
      <thm15:themeFamily xmlns:thm15="http://schemas.microsoft.com/office/thememl/2012/main" name="SDMX_template  -  Read-Only" id="{670E8374-A5D8-4083-B45B-3A3DF294966D}" vid="{A0B8673C-E25B-4449-9DA0-58D16A12D97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279c20c3caf3300dae6b438536eb8c56">
  <xsd:schema xmlns:xsd="http://www.w3.org/2001/XMLSchema" xmlns:p="http://schemas.microsoft.com/office/2006/metadata/properties" targetNamespace="http://schemas.microsoft.com/office/2006/metadata/properties" ma:root="true" ma:fieldsID="0d2e1ca116041f9e11471c52c4c9d60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BE5ABD-E8C8-4DFC-9F2A-12CCA7F6CC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160D5D35-958A-436A-A2B5-5D1CF351BE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SDMX_EGM21_PowerPoint_template</Template>
  <TotalTime>0</TotalTime>
  <Words>1149</Words>
  <Application>Microsoft Office PowerPoint</Application>
  <PresentationFormat>Widescreen</PresentationFormat>
  <Paragraphs>85</Paragraphs>
  <Slides>12</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Arial</vt:lpstr>
      <vt:lpstr>Arial Black</vt:lpstr>
      <vt:lpstr>Calibri</vt:lpstr>
      <vt:lpstr>Wingdings</vt:lpstr>
      <vt:lpstr>Custom Design</vt:lpstr>
      <vt:lpstr>think-cell Slide</vt:lpstr>
      <vt:lpstr>SDMX  Content Constraints</vt:lpstr>
      <vt:lpstr>Constraints</vt:lpstr>
      <vt:lpstr>Constraints</vt:lpstr>
      <vt:lpstr>Constraints in SDMX 2.1</vt:lpstr>
      <vt:lpstr>Constraints in SDMX 3.0.0</vt:lpstr>
      <vt:lpstr>Constraints in SDMX 3.0.0 - Detail</vt:lpstr>
      <vt:lpstr>Constraints’ characteristics</vt:lpstr>
      <vt:lpstr>Constraints’ characteristics</vt:lpstr>
      <vt:lpstr>Constraints’ characteristics</vt:lpstr>
      <vt:lpstr>Constraints’ examples</vt:lpstr>
      <vt:lpstr>Constraints’ examples</vt:lpstr>
      <vt:lpstr>PowerPoint Presentation</vt:lpstr>
    </vt:vector>
  </TitlesOfParts>
  <Company>European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SDMX 3.0 – Enhanced artefacts</dc:title>
  <dc:creator>DIEZ SOTO Alvaro (ESTAT)</dc:creator>
  <cp:lastModifiedBy>Greising, Edgardo</cp:lastModifiedBy>
  <cp:revision>10</cp:revision>
  <dcterms:created xsi:type="dcterms:W3CDTF">2021-01-13T10:52:25Z</dcterms:created>
  <dcterms:modified xsi:type="dcterms:W3CDTF">2025-03-06T13:59:59Z</dcterms:modified>
</cp:coreProperties>
</file>