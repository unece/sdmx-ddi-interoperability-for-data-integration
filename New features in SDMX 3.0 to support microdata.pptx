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3"/>
  </p:sldMasterIdLst>
  <p:notesMasterIdLst>
    <p:notesMasterId r:id="rId27"/>
  </p:notesMasterIdLst>
  <p:handoutMasterIdLst>
    <p:handoutMasterId r:id="rId28"/>
  </p:handoutMasterIdLst>
  <p:sldIdLst>
    <p:sldId id="256" r:id="rId4"/>
    <p:sldId id="262" r:id="rId5"/>
    <p:sldId id="263" r:id="rId6"/>
    <p:sldId id="264" r:id="rId7"/>
    <p:sldId id="261" r:id="rId8"/>
    <p:sldId id="273" r:id="rId9"/>
    <p:sldId id="265" r:id="rId10"/>
    <p:sldId id="274" r:id="rId11"/>
    <p:sldId id="266" r:id="rId12"/>
    <p:sldId id="275" r:id="rId13"/>
    <p:sldId id="276" r:id="rId14"/>
    <p:sldId id="277" r:id="rId15"/>
    <p:sldId id="278" r:id="rId16"/>
    <p:sldId id="279" r:id="rId17"/>
    <p:sldId id="280" r:id="rId18"/>
    <p:sldId id="281" r:id="rId19"/>
    <p:sldId id="267" r:id="rId20"/>
    <p:sldId id="268" r:id="rId21"/>
    <p:sldId id="269" r:id="rId22"/>
    <p:sldId id="283" r:id="rId23"/>
    <p:sldId id="270" r:id="rId24"/>
    <p:sldId id="282" r:id="rId25"/>
    <p:sldId id="272" r:id="rId26"/>
  </p:sldIdLst>
  <p:sldSz cx="12192000" cy="6858000"/>
  <p:notesSz cx="6718300" cy="985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2FEB"/>
    <a:srgbClr val="DDDDDD"/>
    <a:srgbClr val="6C7E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8088" autoAdjust="0"/>
  </p:normalViewPr>
  <p:slideViewPr>
    <p:cSldViewPr>
      <p:cViewPr varScale="1">
        <p:scale>
          <a:sx n="111" d="100"/>
          <a:sy n="111" d="100"/>
        </p:scale>
        <p:origin x="534"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2780"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EFE3C7-D3AC-4FD7-BFAB-96B511E1A2DB}"/>
              </a:ext>
            </a:extLst>
          </p:cNvPr>
          <p:cNvSpPr>
            <a:spLocks noGrp="1"/>
          </p:cNvSpPr>
          <p:nvPr>
            <p:ph type="hdr" sz="quarter"/>
          </p:nvPr>
        </p:nvSpPr>
        <p:spPr>
          <a:xfrm>
            <a:off x="0" y="0"/>
            <a:ext cx="2911475" cy="4937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B3D5BD-6709-45B4-8CCC-AAA9C4D3D8D3}"/>
              </a:ext>
            </a:extLst>
          </p:cNvPr>
          <p:cNvSpPr>
            <a:spLocks noGrp="1"/>
          </p:cNvSpPr>
          <p:nvPr>
            <p:ph type="dt" sz="quarter" idx="1"/>
          </p:nvPr>
        </p:nvSpPr>
        <p:spPr>
          <a:xfrm>
            <a:off x="3805238" y="0"/>
            <a:ext cx="2911475" cy="493713"/>
          </a:xfrm>
          <a:prstGeom prst="rect">
            <a:avLst/>
          </a:prstGeom>
        </p:spPr>
        <p:txBody>
          <a:bodyPr vert="horz" lIns="91440" tIns="45720" rIns="91440" bIns="45720" rtlCol="0"/>
          <a:lstStyle>
            <a:lvl1pPr algn="r">
              <a:defRPr sz="1200"/>
            </a:lvl1pPr>
          </a:lstStyle>
          <a:p>
            <a:fld id="{55C65B5F-4738-48E1-8083-7B577C6A9366}" type="datetimeFigureOut">
              <a:rPr lang="en-US" smtClean="0"/>
              <a:t>2/20/2025</a:t>
            </a:fld>
            <a:endParaRPr lang="en-US"/>
          </a:p>
        </p:txBody>
      </p:sp>
      <p:sp>
        <p:nvSpPr>
          <p:cNvPr id="4" name="Footer Placeholder 3">
            <a:extLst>
              <a:ext uri="{FF2B5EF4-FFF2-40B4-BE49-F238E27FC236}">
                <a16:creationId xmlns:a16="http://schemas.microsoft.com/office/drawing/2014/main" id="{E9CEE918-0FA6-4614-8355-0B52A7958338}"/>
              </a:ext>
            </a:extLst>
          </p:cNvPr>
          <p:cNvSpPr>
            <a:spLocks noGrp="1"/>
          </p:cNvSpPr>
          <p:nvPr>
            <p:ph type="ftr" sz="quarter" idx="2"/>
          </p:nvPr>
        </p:nvSpPr>
        <p:spPr>
          <a:xfrm>
            <a:off x="0" y="9361488"/>
            <a:ext cx="2911475" cy="4937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8F4F2D3-B469-4DB7-BFE0-0418E5203ECF}"/>
              </a:ext>
            </a:extLst>
          </p:cNvPr>
          <p:cNvSpPr>
            <a:spLocks noGrp="1"/>
          </p:cNvSpPr>
          <p:nvPr>
            <p:ph type="sldNum" sz="quarter" idx="3"/>
          </p:nvPr>
        </p:nvSpPr>
        <p:spPr>
          <a:xfrm>
            <a:off x="3805238" y="9361488"/>
            <a:ext cx="2911475" cy="493712"/>
          </a:xfrm>
          <a:prstGeom prst="rect">
            <a:avLst/>
          </a:prstGeom>
        </p:spPr>
        <p:txBody>
          <a:bodyPr vert="horz" lIns="91440" tIns="45720" rIns="91440" bIns="45720" rtlCol="0" anchor="b"/>
          <a:lstStyle>
            <a:lvl1pPr algn="r">
              <a:defRPr sz="1200"/>
            </a:lvl1pPr>
          </a:lstStyle>
          <a:p>
            <a:fld id="{19B7A943-BD5D-45E5-B192-91D74721CBEE}" type="slidenum">
              <a:rPr lang="en-US" smtClean="0"/>
              <a:t>‹#›</a:t>
            </a:fld>
            <a:endParaRPr lang="en-US"/>
          </a:p>
        </p:txBody>
      </p:sp>
    </p:spTree>
    <p:extLst>
      <p:ext uri="{BB962C8B-B14F-4D97-AF65-F5344CB8AC3E}">
        <p14:creationId xmlns:p14="http://schemas.microsoft.com/office/powerpoint/2010/main" val="9482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F515297-C66C-4C39-9D75-E316A4EB36C3}"/>
              </a:ext>
            </a:extLst>
          </p:cNvPr>
          <p:cNvSpPr>
            <a:spLocks noGrp="1" noChangeArrowheads="1"/>
          </p:cNvSpPr>
          <p:nvPr>
            <p:ph type="hdr" sz="quarter"/>
          </p:nvPr>
        </p:nvSpPr>
        <p:spPr bwMode="auto">
          <a:xfrm>
            <a:off x="0" y="0"/>
            <a:ext cx="2911475" cy="49212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4099" name="Rectangle 3">
            <a:extLst>
              <a:ext uri="{FF2B5EF4-FFF2-40B4-BE49-F238E27FC236}">
                <a16:creationId xmlns:a16="http://schemas.microsoft.com/office/drawing/2014/main" id="{0F04096E-3529-4010-8791-7A3AB8507473}"/>
              </a:ext>
            </a:extLst>
          </p:cNvPr>
          <p:cNvSpPr>
            <a:spLocks noGrp="1" noChangeArrowheads="1"/>
          </p:cNvSpPr>
          <p:nvPr>
            <p:ph type="dt" idx="1"/>
          </p:nvPr>
        </p:nvSpPr>
        <p:spPr bwMode="auto">
          <a:xfrm>
            <a:off x="3805238" y="0"/>
            <a:ext cx="2911475" cy="4921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ltLang="en-US"/>
          </a:p>
        </p:txBody>
      </p:sp>
      <p:sp>
        <p:nvSpPr>
          <p:cNvPr id="13316" name="Rectangle 4">
            <a:extLst>
              <a:ext uri="{FF2B5EF4-FFF2-40B4-BE49-F238E27FC236}">
                <a16:creationId xmlns:a16="http://schemas.microsoft.com/office/drawing/2014/main" id="{C810F2FE-DA89-4160-99FB-C7EE2629211E}"/>
              </a:ext>
            </a:extLst>
          </p:cNvPr>
          <p:cNvSpPr>
            <a:spLocks noGrp="1" noRot="1" noChangeAspect="1" noChangeArrowheads="1" noTextEdit="1"/>
          </p:cNvSpPr>
          <p:nvPr>
            <p:ph type="sldImg" idx="2"/>
          </p:nvPr>
        </p:nvSpPr>
        <p:spPr bwMode="auto">
          <a:xfrm>
            <a:off x="74613" y="739775"/>
            <a:ext cx="6569075" cy="36957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D99E97EE-DFC8-4B33-8E8C-67B1CBDDD5E8}"/>
              </a:ext>
            </a:extLst>
          </p:cNvPr>
          <p:cNvSpPr>
            <a:spLocks noGrp="1" noChangeArrowheads="1"/>
          </p:cNvSpPr>
          <p:nvPr>
            <p:ph type="body" sz="quarter" idx="3"/>
          </p:nvPr>
        </p:nvSpPr>
        <p:spPr bwMode="auto">
          <a:xfrm>
            <a:off x="671513" y="4681538"/>
            <a:ext cx="5375275" cy="4433887"/>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4102" name="Rectangle 6">
            <a:extLst>
              <a:ext uri="{FF2B5EF4-FFF2-40B4-BE49-F238E27FC236}">
                <a16:creationId xmlns:a16="http://schemas.microsoft.com/office/drawing/2014/main" id="{72BD64D1-95C5-4F34-BA1D-2416564D3D8D}"/>
              </a:ext>
            </a:extLst>
          </p:cNvPr>
          <p:cNvSpPr>
            <a:spLocks noGrp="1" noChangeArrowheads="1"/>
          </p:cNvSpPr>
          <p:nvPr>
            <p:ph type="ftr" sz="quarter" idx="4"/>
          </p:nvPr>
        </p:nvSpPr>
        <p:spPr bwMode="auto">
          <a:xfrm>
            <a:off x="0" y="9361488"/>
            <a:ext cx="2911475" cy="492125"/>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4103" name="Rectangle 7">
            <a:extLst>
              <a:ext uri="{FF2B5EF4-FFF2-40B4-BE49-F238E27FC236}">
                <a16:creationId xmlns:a16="http://schemas.microsoft.com/office/drawing/2014/main" id="{141E611F-6897-4BF7-BA76-809A5C30F3B6}"/>
              </a:ext>
            </a:extLst>
          </p:cNvPr>
          <p:cNvSpPr>
            <a:spLocks noGrp="1" noChangeArrowheads="1"/>
          </p:cNvSpPr>
          <p:nvPr>
            <p:ph type="sldNum" sz="quarter" idx="5"/>
          </p:nvPr>
        </p:nvSpPr>
        <p:spPr bwMode="auto">
          <a:xfrm>
            <a:off x="3805238" y="9361488"/>
            <a:ext cx="2911475" cy="492125"/>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05182E4-809E-4DB4-AE7F-5BEAB40DAF97}"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panose="020B0604020202020204" pitchFamily="34" charset="0"/>
                <a:ea typeface="+mn-ea"/>
                <a:cs typeface="+mn-cs"/>
              </a:rPr>
              <a:t>Many organisations use standard Code Lists, such as Cross Domain Code Lists and domain-specific Code Lists. However, these organisations wish to use a Code List that contains these harmonised codes, but wish to extend this Code List by adding their own codes, or by combining two or more Code Lists into a single Code List.</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At present if an organisation wishes to extend a Code List by accessing the codes in an another Code List or multiple Code Lists, the only solution is to create this new Code List ‘by hand’. There is no automation of this process.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This issue is often experienced when a harmonised Code List(s) is not maintained by the organisation wishing to add these codes. </a:t>
            </a:r>
            <a:endParaRPr lang="en-US" sz="1200" kern="1200" dirty="0">
              <a:solidFill>
                <a:schemeClr val="tx1"/>
              </a:solidFill>
              <a:effectLst/>
              <a:latin typeface="Arial" panose="020B0604020202020204" pitchFamily="3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3</a:t>
            </a:fld>
            <a:endParaRPr lang="en-GB" altLang="en-US"/>
          </a:p>
        </p:txBody>
      </p:sp>
    </p:spTree>
    <p:extLst>
      <p:ext uri="{BB962C8B-B14F-4D97-AF65-F5344CB8AC3E}">
        <p14:creationId xmlns:p14="http://schemas.microsoft.com/office/powerpoint/2010/main" val="270270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panose="020B0604020202020204" pitchFamily="34" charset="0"/>
                <a:ea typeface="+mn-ea"/>
                <a:cs typeface="+mn-cs"/>
              </a:rPr>
              <a:t>Many organisations use standard Code Lists, such as Cross Domain Code Lists and domain-specific Code Lists. However, these organisations wish to use a Code List that contains these harmonised codes, but wish to extend this Code List by adding their own codes, or by combining two or more Code Lists into a single Code List.</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At present if an organisation wishes to extend a Code List by accessing the codes in an another Code List or multiple Code Lists, the only solution is to create this new Code List ‘by hand’. There is no automation of this process.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This issue is often experienced when a harmonised Code List(s) is not maintained by the organisation wishing to add these codes. </a:t>
            </a:r>
            <a:endParaRPr lang="en-US" sz="1200" kern="1200" dirty="0">
              <a:solidFill>
                <a:schemeClr val="tx1"/>
              </a:solidFill>
              <a:effectLst/>
              <a:latin typeface="Arial" panose="020B0604020202020204" pitchFamily="3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4</a:t>
            </a:fld>
            <a:endParaRPr lang="en-GB" altLang="en-US"/>
          </a:p>
        </p:txBody>
      </p:sp>
    </p:spTree>
    <p:extLst>
      <p:ext uri="{BB962C8B-B14F-4D97-AF65-F5344CB8AC3E}">
        <p14:creationId xmlns:p14="http://schemas.microsoft.com/office/powerpoint/2010/main" val="2389667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13</a:t>
            </a:fld>
            <a:endParaRPr lang="en-GB" altLang="en-US"/>
          </a:p>
        </p:txBody>
      </p:sp>
    </p:spTree>
    <p:extLst>
      <p:ext uri="{BB962C8B-B14F-4D97-AF65-F5344CB8AC3E}">
        <p14:creationId xmlns:p14="http://schemas.microsoft.com/office/powerpoint/2010/main" val="1101869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14</a:t>
            </a:fld>
            <a:endParaRPr lang="en-GB" altLang="en-US"/>
          </a:p>
        </p:txBody>
      </p:sp>
    </p:spTree>
    <p:extLst>
      <p:ext uri="{BB962C8B-B14F-4D97-AF65-F5344CB8AC3E}">
        <p14:creationId xmlns:p14="http://schemas.microsoft.com/office/powerpoint/2010/main" val="226286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15</a:t>
            </a:fld>
            <a:endParaRPr lang="en-GB" altLang="en-US"/>
          </a:p>
        </p:txBody>
      </p:sp>
    </p:spTree>
    <p:extLst>
      <p:ext uri="{BB962C8B-B14F-4D97-AF65-F5344CB8AC3E}">
        <p14:creationId xmlns:p14="http://schemas.microsoft.com/office/powerpoint/2010/main" val="874964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4E90D-2050-51F7-F7CD-7326D16C1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D138A-7BFE-D829-55D2-7DD1711AB447}"/>
              </a:ext>
            </a:extLst>
          </p:cNvPr>
          <p:cNvSpPr>
            <a:spLocks noGrp="1" noRot="1" noChangeAspect="1"/>
          </p:cNvSpPr>
          <p:nvPr>
            <p:ph type="sldImg"/>
          </p:nvPr>
        </p:nvSpPr>
        <p:spPr>
          <a:xfrm>
            <a:off x="74613" y="739775"/>
            <a:ext cx="6569075" cy="3695700"/>
          </a:xfrm>
        </p:spPr>
      </p:sp>
      <p:sp>
        <p:nvSpPr>
          <p:cNvPr id="3" name="Notes Placeholder 2">
            <a:extLst>
              <a:ext uri="{FF2B5EF4-FFF2-40B4-BE49-F238E27FC236}">
                <a16:creationId xmlns:a16="http://schemas.microsoft.com/office/drawing/2014/main" id="{E86C38B2-E788-8CA3-C218-2ECBA3A9AD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FC42FE7-DBD6-DBD0-5EA7-05A39559A585}"/>
              </a:ext>
            </a:extLst>
          </p:cNvPr>
          <p:cNvSpPr>
            <a:spLocks noGrp="1"/>
          </p:cNvSpPr>
          <p:nvPr>
            <p:ph type="sldNum" sz="quarter" idx="10"/>
          </p:nvPr>
        </p:nvSpPr>
        <p:spPr/>
        <p:txBody>
          <a:bodyPr/>
          <a:lstStyle/>
          <a:p>
            <a:pPr>
              <a:defRPr/>
            </a:pPr>
            <a:fld id="{E05182E4-809E-4DB4-AE7F-5BEAB40DAF97}" type="slidenum">
              <a:rPr lang="en-GB" altLang="en-US" smtClean="0"/>
              <a:pPr>
                <a:defRPr/>
              </a:pPr>
              <a:t>16</a:t>
            </a:fld>
            <a:endParaRPr lang="en-GB" altLang="en-US"/>
          </a:p>
        </p:txBody>
      </p:sp>
    </p:spTree>
    <p:extLst>
      <p:ext uri="{BB962C8B-B14F-4D97-AF65-F5344CB8AC3E}">
        <p14:creationId xmlns:p14="http://schemas.microsoft.com/office/powerpoint/2010/main" val="685478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A195-830C-A6C8-B708-50987530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8942E-8D9F-6350-9DEA-53E70678663B}"/>
              </a:ext>
            </a:extLst>
          </p:cNvPr>
          <p:cNvSpPr>
            <a:spLocks noGrp="1" noRot="1" noChangeAspect="1"/>
          </p:cNvSpPr>
          <p:nvPr>
            <p:ph type="sldImg"/>
          </p:nvPr>
        </p:nvSpPr>
        <p:spPr>
          <a:xfrm>
            <a:off x="74613" y="739775"/>
            <a:ext cx="6569075" cy="3695700"/>
          </a:xfrm>
        </p:spPr>
      </p:sp>
      <p:sp>
        <p:nvSpPr>
          <p:cNvPr id="3" name="Notes Placeholder 2">
            <a:extLst>
              <a:ext uri="{FF2B5EF4-FFF2-40B4-BE49-F238E27FC236}">
                <a16:creationId xmlns:a16="http://schemas.microsoft.com/office/drawing/2014/main" id="{42740DD9-082C-C03C-2DED-73877035604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1" dirty="0"/>
              <a:t>Extending codelists horizontally</a:t>
            </a:r>
          </a:p>
          <a:p>
            <a:r>
              <a:rPr lang="en-GB" sz="1200" kern="1200" dirty="0">
                <a:solidFill>
                  <a:schemeClr val="tx1"/>
                </a:solidFill>
                <a:effectLst/>
                <a:latin typeface="Arial" panose="020B0604020202020204" pitchFamily="34" charset="0"/>
                <a:ea typeface="+mn-ea"/>
                <a:cs typeface="+mn-cs"/>
              </a:rPr>
              <a:t>For further thinking (and to be included in SDMX 3.1), I think a “MERGE” (or “JOIN”) option in the Extension of Codelists, allowing to “complete” empty elements in an item with existing information in a matching code item from an extending code list (instead of replacing it as it happens now with the normal treatment of conflicting codes) would work.</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For example, if I have a Codelist which items are coded A, B and C, with Names and Descriptions in French, plus some Annotations, and I make an Extension with a Global Codelist containing the same items but only with English labels and no Annotations, normally the resulting codelists should be equal to my own codelist, because all the extending items from the Global Codelist would be discarded due to the conflicting codes. However, if the extension is made with the proposed “MERGE” option, my items are “complemented” with the English translations (which are not present in my codelist) from the extending Global Codelist.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Similar behaviour can be established for Annotations, i.e. the Annotations in my CL remain provided they are not in the extending items; if the same Annotation Type is in both items, the “MERGE” would apply also to the Annotation’s elements, in order to </a:t>
            </a:r>
            <a:r>
              <a:rPr lang="en-GB" sz="1200" kern="1200" dirty="0" err="1">
                <a:solidFill>
                  <a:schemeClr val="tx1"/>
                </a:solidFill>
                <a:effectLst/>
                <a:latin typeface="Arial" panose="020B0604020202020204" pitchFamily="34" charset="0"/>
                <a:ea typeface="+mn-ea"/>
                <a:cs typeface="+mn-cs"/>
              </a:rPr>
              <a:t>to</a:t>
            </a:r>
            <a:r>
              <a:rPr lang="en-GB" sz="1200" kern="1200" dirty="0">
                <a:solidFill>
                  <a:schemeClr val="tx1"/>
                </a:solidFill>
                <a:effectLst/>
                <a:latin typeface="Arial" panose="020B0604020202020204" pitchFamily="34" charset="0"/>
                <a:ea typeface="+mn-ea"/>
                <a:cs typeface="+mn-cs"/>
              </a:rPr>
              <a:t> preserve the localized “ORDER” Annotation of the inherited translations, for example.</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b="1" dirty="0"/>
              <a:t>Allowing 0 dimensions</a:t>
            </a:r>
          </a:p>
          <a:p>
            <a:endParaRPr lang="en-GB" b="1" dirty="0"/>
          </a:p>
          <a:p>
            <a:r>
              <a:rPr lang="en-GB" sz="1200" b="0" i="0" kern="1200" dirty="0">
                <a:solidFill>
                  <a:schemeClr val="tx1"/>
                </a:solidFill>
                <a:effectLst/>
                <a:latin typeface="Arial" panose="020B0604020202020204" pitchFamily="34" charset="0"/>
                <a:ea typeface="+mn-ea"/>
                <a:cs typeface="+mn-cs"/>
              </a:rPr>
              <a:t>Data is designed using different layers covering different concerns (e.g. logical, technical, implementation related).</a:t>
            </a:r>
            <a:br>
              <a:rPr lang="en-GB" dirty="0"/>
            </a:br>
            <a:r>
              <a:rPr lang="en-GB" sz="1200" b="0" i="0" kern="1200" dirty="0">
                <a:solidFill>
                  <a:schemeClr val="tx1"/>
                </a:solidFill>
                <a:effectLst/>
                <a:latin typeface="Arial" panose="020B0604020202020204" pitchFamily="34" charset="0"/>
                <a:ea typeface="+mn-ea"/>
                <a:cs typeface="+mn-cs"/>
              </a:rPr>
              <a:t>Designing a high-level Conceptual model capturing the main aspects of the problem domain helps people involved in the design of the data to narrow down its scope. Based on such a Conceptual model subject matter experts in cooperation with data modelling experts may design a Logical Data Model (LDM) capturing the exact business logic of the problem domain in a highly normalised structure. During the design of the LDM no technical considerations are taken into account (“separation of concerns” principle). Because of its highly normalised design the LDM allows to design (forward engineer) different technical or physical data models fulfilling different needs. Examples for such technical or physical data models by their purpose in the data production chain are highly normalised validation models (enforcing referential integrity constraints) and data analysis models for business users to query the data (e.g. models applying a star schema). Another application of the forward engineering procedure of LDMs into physical models concerns the underlying technology. Based on an LDM it is possible to forward engineer physical models for different data base management systems, e.g. relational, graph or file-based data base management systems.</a:t>
            </a:r>
            <a:br>
              <a:rPr lang="en-GB" dirty="0"/>
            </a:br>
            <a:r>
              <a:rPr lang="en-GB" sz="1200" b="0" i="0" kern="1200" dirty="0">
                <a:solidFill>
                  <a:schemeClr val="tx1"/>
                </a:solidFill>
                <a:effectLst/>
                <a:latin typeface="Arial" panose="020B0604020202020204" pitchFamily="34" charset="0"/>
                <a:ea typeface="+mn-ea"/>
                <a:cs typeface="+mn-cs"/>
              </a:rPr>
              <a:t>Optimally a Metadata repository is capable to storing logical and technical models. In theory SDMX 3.0 can store most of the relevant aspects of these data models, however it is not capable of storing so called generalizations without primary keys, i.e. Entities that do not have a primary key. Especially in logical data models this modelling construct is used to create abstract Entity types which hold information applicable to different implementation types (having different primary keys). For example, assume that ECB employees and EUROSTAT employees are identified by different identifiers – we may say that they are different objects because they are identified by different primary keys. Both of them are employees and therefore they will have a lot of things in common, e.g. first name, last name, salary. All the things that they have in common may be modelled in an Entity (let’s call it Employee) having no primary key but holding only these Attributes that are common to the two different types. ECB employee and EUROSTAT employee may then inherit from the Entity Employee.</a:t>
            </a:r>
            <a:br>
              <a:rPr lang="en-GB" dirty="0"/>
            </a:br>
            <a:r>
              <a:rPr lang="en-GB" sz="1200" b="0" i="0" kern="1200" dirty="0">
                <a:solidFill>
                  <a:schemeClr val="tx1"/>
                </a:solidFill>
                <a:effectLst/>
                <a:latin typeface="Arial" panose="020B0604020202020204" pitchFamily="34" charset="0"/>
                <a:ea typeface="+mn-ea"/>
                <a:cs typeface="+mn-cs"/>
              </a:rPr>
              <a:t>For SDMX 3.0 to be capable of storing logical data models using such a modelling construct the following change request needs to be approved / implemented:</a:t>
            </a:r>
            <a:br>
              <a:rPr lang="en-GB" dirty="0"/>
            </a:br>
            <a:r>
              <a:rPr lang="en-GB" sz="1200" b="0" i="0" kern="1200" dirty="0">
                <a:solidFill>
                  <a:schemeClr val="tx1"/>
                </a:solidFill>
                <a:effectLst/>
                <a:latin typeface="Arial" panose="020B0604020202020204" pitchFamily="34" charset="0"/>
                <a:ea typeface="+mn-ea"/>
                <a:cs typeface="+mn-cs"/>
              </a:rPr>
              <a:t>• Enable Data Structure Definitions (DSDs) without Dimensions</a:t>
            </a:r>
            <a:br>
              <a:rPr lang="en-GB" dirty="0"/>
            </a:br>
            <a:r>
              <a:rPr lang="en-GB" sz="1200" b="0" i="0" kern="1200" dirty="0">
                <a:solidFill>
                  <a:schemeClr val="tx1"/>
                </a:solidFill>
                <a:effectLst/>
                <a:latin typeface="Arial" panose="020B0604020202020204" pitchFamily="34" charset="0"/>
                <a:ea typeface="+mn-ea"/>
                <a:cs typeface="+mn-cs"/>
              </a:rPr>
              <a:t>• Enable Structure maps without Component maps</a:t>
            </a:r>
            <a:endParaRPr lang="en-GB" b="0" dirty="0"/>
          </a:p>
        </p:txBody>
      </p:sp>
      <p:sp>
        <p:nvSpPr>
          <p:cNvPr id="4" name="Slide Number Placeholder 3">
            <a:extLst>
              <a:ext uri="{FF2B5EF4-FFF2-40B4-BE49-F238E27FC236}">
                <a16:creationId xmlns:a16="http://schemas.microsoft.com/office/drawing/2014/main" id="{BCD41BCB-1B1D-B826-B6E4-CD686BFD1869}"/>
              </a:ext>
            </a:extLst>
          </p:cNvPr>
          <p:cNvSpPr>
            <a:spLocks noGrp="1"/>
          </p:cNvSpPr>
          <p:nvPr>
            <p:ph type="sldNum" sz="quarter" idx="10"/>
          </p:nvPr>
        </p:nvSpPr>
        <p:spPr/>
        <p:txBody>
          <a:bodyPr/>
          <a:lstStyle/>
          <a:p>
            <a:pPr>
              <a:defRPr/>
            </a:pPr>
            <a:fld id="{E05182E4-809E-4DB4-AE7F-5BEAB40DAF97}" type="slidenum">
              <a:rPr lang="en-GB" altLang="en-US" smtClean="0"/>
              <a:pPr>
                <a:defRPr/>
              </a:pPr>
              <a:t>20</a:t>
            </a:fld>
            <a:endParaRPr lang="en-GB" altLang="en-US"/>
          </a:p>
        </p:txBody>
      </p:sp>
    </p:spTree>
    <p:extLst>
      <p:ext uri="{BB962C8B-B14F-4D97-AF65-F5344CB8AC3E}">
        <p14:creationId xmlns:p14="http://schemas.microsoft.com/office/powerpoint/2010/main" val="2908895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739775"/>
            <a:ext cx="6569075" cy="36957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1" dirty="0"/>
              <a:t>Extending codelists horizontally</a:t>
            </a:r>
          </a:p>
          <a:p>
            <a:r>
              <a:rPr lang="en-GB" sz="1200" kern="1200" dirty="0">
                <a:solidFill>
                  <a:schemeClr val="tx1"/>
                </a:solidFill>
                <a:effectLst/>
                <a:latin typeface="Arial" panose="020B0604020202020204" pitchFamily="34" charset="0"/>
                <a:ea typeface="+mn-ea"/>
                <a:cs typeface="+mn-cs"/>
              </a:rPr>
              <a:t>For further thinking (and to be included in SDMX 3.1), I think a “MERGE” (or “JOIN”) option in the Extension of Codelists, allowing to “complete” empty elements in an item with existing information in a matching code item from an extending code list (instead of replacing it as it happens now with the normal treatment of conflicting codes) would work.</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For example, if I have a Codelist which items are coded A, B and C, with Names and Descriptions in French, plus some Annotations, and I make an Extension with a Global Codelist containing the same items but only with English labels and no Annotations, normally the resulting codelists should be equal to my own codelist, because all the extending items from the Global Codelist would be discarded due to the conflicting codes. However, if the extension is made with the proposed “MERGE” option, my items are “complemented” with the English translations (which are not present in my codelist) from the extending Global Codelist.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Similar behaviour can be established for Annotations, i.e. the Annotations in my CL remain provided they are not in the extending items; if the same Annotation Type is in both items, the “MERGE” would apply also to the Annotation’s elements, in order to </a:t>
            </a:r>
            <a:r>
              <a:rPr lang="en-GB" sz="1200" kern="1200" dirty="0" err="1">
                <a:solidFill>
                  <a:schemeClr val="tx1"/>
                </a:solidFill>
                <a:effectLst/>
                <a:latin typeface="Arial" panose="020B0604020202020204" pitchFamily="34" charset="0"/>
                <a:ea typeface="+mn-ea"/>
                <a:cs typeface="+mn-cs"/>
              </a:rPr>
              <a:t>to</a:t>
            </a:r>
            <a:r>
              <a:rPr lang="en-GB" sz="1200" kern="1200" dirty="0">
                <a:solidFill>
                  <a:schemeClr val="tx1"/>
                </a:solidFill>
                <a:effectLst/>
                <a:latin typeface="Arial" panose="020B0604020202020204" pitchFamily="34" charset="0"/>
                <a:ea typeface="+mn-ea"/>
                <a:cs typeface="+mn-cs"/>
              </a:rPr>
              <a:t> preserve the localized “ORDER” Annotation of the inherited translations, for example.</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b="1" dirty="0"/>
              <a:t>Allowing 0 dimensions</a:t>
            </a:r>
          </a:p>
          <a:p>
            <a:endParaRPr lang="en-GB" b="1" dirty="0"/>
          </a:p>
          <a:p>
            <a:r>
              <a:rPr lang="en-GB" sz="1200" b="0" i="0" kern="1200" dirty="0">
                <a:solidFill>
                  <a:schemeClr val="tx1"/>
                </a:solidFill>
                <a:effectLst/>
                <a:latin typeface="Arial" panose="020B0604020202020204" pitchFamily="34" charset="0"/>
                <a:ea typeface="+mn-ea"/>
                <a:cs typeface="+mn-cs"/>
              </a:rPr>
              <a:t>Data is designed using different layers covering different concerns (e.g. logical, technical, implementation related).</a:t>
            </a:r>
            <a:br>
              <a:rPr lang="en-GB" dirty="0"/>
            </a:br>
            <a:r>
              <a:rPr lang="en-GB" sz="1200" b="0" i="0" kern="1200" dirty="0">
                <a:solidFill>
                  <a:schemeClr val="tx1"/>
                </a:solidFill>
                <a:effectLst/>
                <a:latin typeface="Arial" panose="020B0604020202020204" pitchFamily="34" charset="0"/>
                <a:ea typeface="+mn-ea"/>
                <a:cs typeface="+mn-cs"/>
              </a:rPr>
              <a:t>Designing a high-level Conceptual model capturing the main aspects of the problem domain helps people involved in the design of the data to narrow down its scope. Based on such a Conceptual model subject matter experts in cooperation with data modelling experts may design a Logical Data Model (LDM) capturing the exact business logic of the problem domain in a highly normalised structure. During the design of the LDM no technical considerations are taken into account (“separation of concerns” principle). Because of its highly normalised design the LDM allows to design (forward engineer) different technical or physical data models fulfilling different needs. Examples for such technical or physical data models by their purpose in the data production chain are highly normalised validation models (enforcing referential integrity constraints) and data analysis models for business users to query the data (e.g. models applying a star schema). Another application of the forward engineering procedure of LDMs into physical models concerns the underlying technology. Based on an LDM it is possible to forward engineer physical models for different data base management systems, e.g. relational, graph or file-based data base management systems.</a:t>
            </a:r>
            <a:br>
              <a:rPr lang="en-GB" dirty="0"/>
            </a:br>
            <a:r>
              <a:rPr lang="en-GB" sz="1200" b="0" i="0" kern="1200" dirty="0">
                <a:solidFill>
                  <a:schemeClr val="tx1"/>
                </a:solidFill>
                <a:effectLst/>
                <a:latin typeface="Arial" panose="020B0604020202020204" pitchFamily="34" charset="0"/>
                <a:ea typeface="+mn-ea"/>
                <a:cs typeface="+mn-cs"/>
              </a:rPr>
              <a:t>Optimally a Metadata repository is capable to storing logical and technical models. In theory SDMX 3.0 can store most of the relevant aspects of these data models, however it is not capable of storing so called generalizations without primary keys, i.e. Entities that do not have a primary key. Especially in logical data models this modelling construct is used to create abstract Entity types which hold information applicable to different implementation types (having different primary keys). For example, assume that ECB employees and EUROSTAT employees are identified by different identifiers – we may say that they are different objects because they are identified by different primary keys. Both of them are employees and therefore they will have a lot of things in common, e.g. first name, last name, salary. All the things that they have in common may be modelled in an Entity (let’s call it Employee) having no primary key but holding only these Attributes that are common to the two different types. ECB employee and EUROSTAT employee may then inherit from the Entity Employee.</a:t>
            </a:r>
            <a:br>
              <a:rPr lang="en-GB" dirty="0"/>
            </a:br>
            <a:r>
              <a:rPr lang="en-GB" sz="1200" b="0" i="0" kern="1200" dirty="0">
                <a:solidFill>
                  <a:schemeClr val="tx1"/>
                </a:solidFill>
                <a:effectLst/>
                <a:latin typeface="Arial" panose="020B0604020202020204" pitchFamily="34" charset="0"/>
                <a:ea typeface="+mn-ea"/>
                <a:cs typeface="+mn-cs"/>
              </a:rPr>
              <a:t>For SDMX 3.0 to be capable of storing logical data models using such a modelling construct the following change request needs to be approved / implemented:</a:t>
            </a:r>
            <a:br>
              <a:rPr lang="en-GB" dirty="0"/>
            </a:br>
            <a:r>
              <a:rPr lang="en-GB" sz="1200" b="0" i="0" kern="1200" dirty="0">
                <a:solidFill>
                  <a:schemeClr val="tx1"/>
                </a:solidFill>
                <a:effectLst/>
                <a:latin typeface="Arial" panose="020B0604020202020204" pitchFamily="34" charset="0"/>
                <a:ea typeface="+mn-ea"/>
                <a:cs typeface="+mn-cs"/>
              </a:rPr>
              <a:t>• Enable Data Structure Definitions (DSDs) without Dimensions</a:t>
            </a:r>
            <a:br>
              <a:rPr lang="en-GB" dirty="0"/>
            </a:br>
            <a:r>
              <a:rPr lang="en-GB" sz="1200" b="0" i="0" kern="1200" dirty="0">
                <a:solidFill>
                  <a:schemeClr val="tx1"/>
                </a:solidFill>
                <a:effectLst/>
                <a:latin typeface="Arial" panose="020B0604020202020204" pitchFamily="34" charset="0"/>
                <a:ea typeface="+mn-ea"/>
                <a:cs typeface="+mn-cs"/>
              </a:rPr>
              <a:t>• Enable Structure maps without Component maps</a:t>
            </a:r>
            <a:endParaRPr lang="en-GB" b="0" dirty="0"/>
          </a:p>
        </p:txBody>
      </p:sp>
      <p:sp>
        <p:nvSpPr>
          <p:cNvPr id="4" name="Slide Number Placeholder 3"/>
          <p:cNvSpPr>
            <a:spLocks noGrp="1"/>
          </p:cNvSpPr>
          <p:nvPr>
            <p:ph type="sldNum" sz="quarter" idx="10"/>
          </p:nvPr>
        </p:nvSpPr>
        <p:spPr/>
        <p:txBody>
          <a:bodyPr/>
          <a:lstStyle/>
          <a:p>
            <a:pPr>
              <a:defRPr/>
            </a:pPr>
            <a:fld id="{E05182E4-809E-4DB4-AE7F-5BEAB40DAF97}" type="slidenum">
              <a:rPr lang="en-GB" altLang="en-US" smtClean="0"/>
              <a:pPr>
                <a:defRPr/>
              </a:pPr>
              <a:t>21</a:t>
            </a:fld>
            <a:endParaRPr lang="en-GB" altLang="en-US"/>
          </a:p>
        </p:txBody>
      </p:sp>
    </p:spTree>
    <p:extLst>
      <p:ext uri="{BB962C8B-B14F-4D97-AF65-F5344CB8AC3E}">
        <p14:creationId xmlns:p14="http://schemas.microsoft.com/office/powerpoint/2010/main" val="2909279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E8B04-8299-348E-F8D7-3182DE84A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8F9611-2DAF-C1C2-7298-A1DE924CC428}"/>
              </a:ext>
            </a:extLst>
          </p:cNvPr>
          <p:cNvSpPr>
            <a:spLocks noGrp="1" noRot="1" noChangeAspect="1"/>
          </p:cNvSpPr>
          <p:nvPr>
            <p:ph type="sldImg"/>
          </p:nvPr>
        </p:nvSpPr>
        <p:spPr>
          <a:xfrm>
            <a:off x="74613" y="739775"/>
            <a:ext cx="6569075" cy="3695700"/>
          </a:xfrm>
        </p:spPr>
      </p:sp>
      <p:sp>
        <p:nvSpPr>
          <p:cNvPr id="3" name="Notes Placeholder 2">
            <a:extLst>
              <a:ext uri="{FF2B5EF4-FFF2-40B4-BE49-F238E27FC236}">
                <a16:creationId xmlns:a16="http://schemas.microsoft.com/office/drawing/2014/main" id="{DEBC37EE-21B7-2E59-ED96-5436118684F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1" dirty="0"/>
              <a:t>Extending codelists horizontally</a:t>
            </a:r>
          </a:p>
          <a:p>
            <a:r>
              <a:rPr lang="en-GB" sz="1200" kern="1200" dirty="0">
                <a:solidFill>
                  <a:schemeClr val="tx1"/>
                </a:solidFill>
                <a:effectLst/>
                <a:latin typeface="Arial" panose="020B0604020202020204" pitchFamily="34" charset="0"/>
                <a:ea typeface="+mn-ea"/>
                <a:cs typeface="+mn-cs"/>
              </a:rPr>
              <a:t>For further thinking (and to be included in SDMX 3.1), I think a “MERGE” (or “JOIN”) option in the Extension of Codelists, allowing to “complete” empty elements in an item with existing information in a matching code item from an extending code list (instead of replacing it as it happens now with the normal treatment of conflicting codes) would work.</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For example, if I have a Codelist which items are coded A, B and C, with Names and Descriptions in French, plus some Annotations, and I make an Extension with a Global Codelist containing the same items but only with English labels and no Annotations, normally the resulting codelists should be equal to my own codelist, because all the extending items from the Global Codelist would be discarded due to the conflicting codes. However, if the extension is made with the proposed “MERGE” option, my items are “complemented” with the English translations (which are not present in my codelist) from the extending Global Codelist.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Similar behaviour can be established for Annotations, i.e. the Annotations in my CL remain provided they are not in the extending items; if the same Annotation Type is in both items, the “MERGE” would apply also to the Annotation’s elements, in order to </a:t>
            </a:r>
            <a:r>
              <a:rPr lang="en-GB" sz="1200" kern="1200" dirty="0" err="1">
                <a:solidFill>
                  <a:schemeClr val="tx1"/>
                </a:solidFill>
                <a:effectLst/>
                <a:latin typeface="Arial" panose="020B0604020202020204" pitchFamily="34" charset="0"/>
                <a:ea typeface="+mn-ea"/>
                <a:cs typeface="+mn-cs"/>
              </a:rPr>
              <a:t>to</a:t>
            </a:r>
            <a:r>
              <a:rPr lang="en-GB" sz="1200" kern="1200" dirty="0">
                <a:solidFill>
                  <a:schemeClr val="tx1"/>
                </a:solidFill>
                <a:effectLst/>
                <a:latin typeface="Arial" panose="020B0604020202020204" pitchFamily="34" charset="0"/>
                <a:ea typeface="+mn-ea"/>
                <a:cs typeface="+mn-cs"/>
              </a:rPr>
              <a:t> preserve the localized “ORDER” Annotation of the inherited translations, for example.</a:t>
            </a:r>
            <a:endParaRPr lang="en-US" sz="1200" kern="1200" dirty="0">
              <a:solidFill>
                <a:schemeClr val="tx1"/>
              </a:solidFill>
              <a:effectLst/>
              <a:latin typeface="Arial" panose="020B0604020202020204" pitchFamily="34" charset="0"/>
              <a:ea typeface="+mn-ea"/>
              <a:cs typeface="+mn-cs"/>
            </a:endParaRPr>
          </a:p>
          <a:p>
            <a:r>
              <a:rPr lang="en-GB" sz="1200" kern="1200" dirty="0">
                <a:solidFill>
                  <a:schemeClr val="tx1"/>
                </a:solidFill>
                <a:effectLst/>
                <a:latin typeface="Arial" panose="020B0604020202020204" pitchFamily="34" charset="0"/>
                <a:ea typeface="+mn-ea"/>
                <a:cs typeface="+mn-cs"/>
              </a:rPr>
              <a:t> </a:t>
            </a:r>
            <a:endParaRPr lang="en-US" sz="1200" kern="1200" dirty="0">
              <a:solidFill>
                <a:schemeClr val="tx1"/>
              </a:solidFill>
              <a:effectLst/>
              <a:latin typeface="Arial" panose="020B0604020202020204" pitchFamily="34" charset="0"/>
              <a:ea typeface="+mn-ea"/>
              <a:cs typeface="+mn-cs"/>
            </a:endParaRPr>
          </a:p>
          <a:p>
            <a:r>
              <a:rPr lang="en-GB" b="1" dirty="0"/>
              <a:t>Allowing 0 dimensions</a:t>
            </a:r>
          </a:p>
          <a:p>
            <a:endParaRPr lang="en-GB" b="1" dirty="0"/>
          </a:p>
          <a:p>
            <a:r>
              <a:rPr lang="en-GB" sz="1200" b="0" i="0" kern="1200" dirty="0">
                <a:solidFill>
                  <a:schemeClr val="tx1"/>
                </a:solidFill>
                <a:effectLst/>
                <a:latin typeface="Arial" panose="020B0604020202020204" pitchFamily="34" charset="0"/>
                <a:ea typeface="+mn-ea"/>
                <a:cs typeface="+mn-cs"/>
              </a:rPr>
              <a:t>Data is designed using different layers covering different concerns (e.g. logical, technical, implementation related).</a:t>
            </a:r>
            <a:br>
              <a:rPr lang="en-GB" dirty="0"/>
            </a:br>
            <a:r>
              <a:rPr lang="en-GB" sz="1200" b="0" i="0" kern="1200" dirty="0">
                <a:solidFill>
                  <a:schemeClr val="tx1"/>
                </a:solidFill>
                <a:effectLst/>
                <a:latin typeface="Arial" panose="020B0604020202020204" pitchFamily="34" charset="0"/>
                <a:ea typeface="+mn-ea"/>
                <a:cs typeface="+mn-cs"/>
              </a:rPr>
              <a:t>Designing a high-level Conceptual model capturing the main aspects of the problem domain helps people involved in the design of the data to narrow down its scope. Based on such a Conceptual model subject matter experts in cooperation with data modelling experts may design a Logical Data Model (LDM) capturing the exact business logic of the problem domain in a highly normalised structure. During the design of the LDM no technical considerations are taken into account (“separation of concerns” principle). Because of its highly normalised design the LDM allows to design (forward engineer) different technical or physical data models fulfilling different needs. Examples for such technical or physical data models by their purpose in the data production chain are highly normalised validation models (enforcing referential integrity constraints) and data analysis models for business users to query the data (e.g. models applying a star schema). Another application of the forward engineering procedure of LDMs into physical models concerns the underlying technology. Based on an LDM it is possible to forward engineer physical models for different data base management systems, e.g. relational, graph or file-based data base management systems.</a:t>
            </a:r>
            <a:br>
              <a:rPr lang="en-GB" dirty="0"/>
            </a:br>
            <a:r>
              <a:rPr lang="en-GB" sz="1200" b="0" i="0" kern="1200" dirty="0">
                <a:solidFill>
                  <a:schemeClr val="tx1"/>
                </a:solidFill>
                <a:effectLst/>
                <a:latin typeface="Arial" panose="020B0604020202020204" pitchFamily="34" charset="0"/>
                <a:ea typeface="+mn-ea"/>
                <a:cs typeface="+mn-cs"/>
              </a:rPr>
              <a:t>Optimally a Metadata repository is capable to storing logical and technical models. In theory SDMX 3.0 can store most of the relevant aspects of these data models, however it is not capable of storing so called generalizations without primary keys, i.e. Entities that do not have a primary key. Especially in logical data models this modelling construct is used to create abstract Entity types which hold information applicable to different implementation types (having different primary keys). For example, assume that ECB employees and EUROSTAT employees are identified by different identifiers – we may say that they are different objects because they are identified by different primary keys. Both of them are employees and therefore they will have a lot of things in common, e.g. first name, last name, salary. All the things that they have in common may be modelled in an Entity (let’s call it Employee) having no primary key but holding only these Attributes that are common to the two different types. ECB employee and EUROSTAT employee may then inherit from the Entity Employee.</a:t>
            </a:r>
            <a:br>
              <a:rPr lang="en-GB" dirty="0"/>
            </a:br>
            <a:r>
              <a:rPr lang="en-GB" sz="1200" b="0" i="0" kern="1200" dirty="0">
                <a:solidFill>
                  <a:schemeClr val="tx1"/>
                </a:solidFill>
                <a:effectLst/>
                <a:latin typeface="Arial" panose="020B0604020202020204" pitchFamily="34" charset="0"/>
                <a:ea typeface="+mn-ea"/>
                <a:cs typeface="+mn-cs"/>
              </a:rPr>
              <a:t>For SDMX 3.0 to be capable of storing logical data models using such a modelling construct the following change request needs to be approved / implemented:</a:t>
            </a:r>
            <a:br>
              <a:rPr lang="en-GB" dirty="0"/>
            </a:br>
            <a:r>
              <a:rPr lang="en-GB" sz="1200" b="0" i="0" kern="1200" dirty="0">
                <a:solidFill>
                  <a:schemeClr val="tx1"/>
                </a:solidFill>
                <a:effectLst/>
                <a:latin typeface="Arial" panose="020B0604020202020204" pitchFamily="34" charset="0"/>
                <a:ea typeface="+mn-ea"/>
                <a:cs typeface="+mn-cs"/>
              </a:rPr>
              <a:t>• Enable Data Structure Definitions (DSDs) without Dimensions</a:t>
            </a:r>
            <a:br>
              <a:rPr lang="en-GB" dirty="0"/>
            </a:br>
            <a:r>
              <a:rPr lang="en-GB" sz="1200" b="0" i="0" kern="1200" dirty="0">
                <a:solidFill>
                  <a:schemeClr val="tx1"/>
                </a:solidFill>
                <a:effectLst/>
                <a:latin typeface="Arial" panose="020B0604020202020204" pitchFamily="34" charset="0"/>
                <a:ea typeface="+mn-ea"/>
                <a:cs typeface="+mn-cs"/>
              </a:rPr>
              <a:t>• Enable Structure maps without Component maps</a:t>
            </a:r>
            <a:endParaRPr lang="en-GB" b="0" dirty="0"/>
          </a:p>
        </p:txBody>
      </p:sp>
      <p:sp>
        <p:nvSpPr>
          <p:cNvPr id="4" name="Slide Number Placeholder 3">
            <a:extLst>
              <a:ext uri="{FF2B5EF4-FFF2-40B4-BE49-F238E27FC236}">
                <a16:creationId xmlns:a16="http://schemas.microsoft.com/office/drawing/2014/main" id="{E5BED228-28E5-2317-D476-20629FD7BAC6}"/>
              </a:ext>
            </a:extLst>
          </p:cNvPr>
          <p:cNvSpPr>
            <a:spLocks noGrp="1"/>
          </p:cNvSpPr>
          <p:nvPr>
            <p:ph type="sldNum" sz="quarter" idx="10"/>
          </p:nvPr>
        </p:nvSpPr>
        <p:spPr/>
        <p:txBody>
          <a:bodyPr/>
          <a:lstStyle/>
          <a:p>
            <a:pPr>
              <a:defRPr/>
            </a:pPr>
            <a:fld id="{E05182E4-809E-4DB4-AE7F-5BEAB40DAF97}" type="slidenum">
              <a:rPr lang="en-GB" altLang="en-US" smtClean="0"/>
              <a:pPr>
                <a:defRPr/>
              </a:pPr>
              <a:t>22</a:t>
            </a:fld>
            <a:endParaRPr lang="en-GB" altLang="en-US"/>
          </a:p>
        </p:txBody>
      </p:sp>
    </p:spTree>
    <p:extLst>
      <p:ext uri="{BB962C8B-B14F-4D97-AF65-F5344CB8AC3E}">
        <p14:creationId xmlns:p14="http://schemas.microsoft.com/office/powerpoint/2010/main" val="3371676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8E4AF59-9B6B-4732-8154-1EFEB006F855}"/>
              </a:ext>
            </a:extLst>
          </p:cNvPr>
          <p:cNvPicPr>
            <a:picLocks noChangeAspect="1"/>
          </p:cNvPicPr>
          <p:nvPr userDrawn="1"/>
        </p:nvPicPr>
        <p:blipFill>
          <a:blip r:embed="rId2"/>
          <a:stretch>
            <a:fillRect/>
          </a:stretch>
        </p:blipFill>
        <p:spPr>
          <a:xfrm>
            <a:off x="0" y="0"/>
            <a:ext cx="12192000" cy="2329682"/>
          </a:xfrm>
          <a:prstGeom prst="rect">
            <a:avLst/>
          </a:prstGeom>
        </p:spPr>
      </p:pic>
      <p:sp>
        <p:nvSpPr>
          <p:cNvPr id="18" name="Title 1">
            <a:extLst>
              <a:ext uri="{FF2B5EF4-FFF2-40B4-BE49-F238E27FC236}">
                <a16:creationId xmlns:a16="http://schemas.microsoft.com/office/drawing/2014/main" id="{7873A1E1-D5B2-4AF3-8D08-DE6CEDE83805}"/>
              </a:ext>
            </a:extLst>
          </p:cNvPr>
          <p:cNvSpPr>
            <a:spLocks noGrp="1"/>
          </p:cNvSpPr>
          <p:nvPr>
            <p:ph type="ctrTitle" hasCustomPrompt="1"/>
          </p:nvPr>
        </p:nvSpPr>
        <p:spPr>
          <a:xfrm>
            <a:off x="1524000" y="2420888"/>
            <a:ext cx="9144000" cy="1296144"/>
          </a:xfrm>
        </p:spPr>
        <p:txBody>
          <a:bodyPr anchor="b">
            <a:normAutofit/>
          </a:bodyPr>
          <a:lstStyle>
            <a:lvl1pPr algn="ctr">
              <a:defRPr sz="3000" b="1">
                <a:solidFill>
                  <a:srgbClr val="0070C0"/>
                </a:solidFill>
              </a:defRPr>
            </a:lvl1pPr>
          </a:lstStyle>
          <a:p>
            <a:r>
              <a:rPr lang="en-US" dirty="0"/>
              <a:t>Presentation title</a:t>
            </a:r>
          </a:p>
        </p:txBody>
      </p:sp>
      <p:sp>
        <p:nvSpPr>
          <p:cNvPr id="19" name="Subtitle 2">
            <a:extLst>
              <a:ext uri="{FF2B5EF4-FFF2-40B4-BE49-F238E27FC236}">
                <a16:creationId xmlns:a16="http://schemas.microsoft.com/office/drawing/2014/main" id="{A77D718D-215D-44D6-BD58-49CEAD5ABC46}"/>
              </a:ext>
            </a:extLst>
          </p:cNvPr>
          <p:cNvSpPr>
            <a:spLocks noGrp="1"/>
          </p:cNvSpPr>
          <p:nvPr>
            <p:ph type="subTitle" idx="1" hasCustomPrompt="1"/>
          </p:nvPr>
        </p:nvSpPr>
        <p:spPr>
          <a:xfrm>
            <a:off x="1524000" y="3748147"/>
            <a:ext cx="9144000" cy="525088"/>
          </a:xfrm>
        </p:spPr>
        <p:txBody>
          <a:bodyPr>
            <a:normAutofit/>
          </a:bodyPr>
          <a:lstStyle>
            <a:lvl1pPr marL="0" indent="0" algn="ctr" defTabSz="514350" rtl="0" eaLnBrk="1" latinLnBrk="0" hangingPunct="1">
              <a:lnSpc>
                <a:spcPct val="90000"/>
              </a:lnSpc>
              <a:spcBef>
                <a:spcPct val="0"/>
              </a:spcBef>
              <a:buNone/>
              <a:defRPr lang="en-US" sz="1500" kern="1200" dirty="0">
                <a:solidFill>
                  <a:srgbClr val="0070C0"/>
                </a:solidFill>
                <a:latin typeface="+mn-lt"/>
                <a:ea typeface="+mj-ea"/>
                <a:cs typeface="+mj-cs"/>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MONTH DD, YYYY</a:t>
            </a:r>
          </a:p>
        </p:txBody>
      </p:sp>
      <p:sp>
        <p:nvSpPr>
          <p:cNvPr id="21" name="Text Placeholder 11">
            <a:extLst>
              <a:ext uri="{FF2B5EF4-FFF2-40B4-BE49-F238E27FC236}">
                <a16:creationId xmlns:a16="http://schemas.microsoft.com/office/drawing/2014/main" id="{F900578B-80D8-4B2F-9AB1-C5FFDB43BB6E}"/>
              </a:ext>
            </a:extLst>
          </p:cNvPr>
          <p:cNvSpPr>
            <a:spLocks noGrp="1"/>
          </p:cNvSpPr>
          <p:nvPr>
            <p:ph type="body" sz="quarter" idx="10" hasCustomPrompt="1"/>
          </p:nvPr>
        </p:nvSpPr>
        <p:spPr>
          <a:xfrm>
            <a:off x="2419144" y="4555706"/>
            <a:ext cx="7353712" cy="889521"/>
          </a:xfrm>
        </p:spPr>
        <p:txBody>
          <a:bodyPr lIns="0" tIns="0" rIns="0" bIns="0" anchor="b" anchorCtr="0">
            <a:normAutofit/>
          </a:bodyPr>
          <a:lstStyle>
            <a:lvl1pPr marL="0" indent="0" algn="ctr">
              <a:spcBef>
                <a:spcPts val="225"/>
              </a:spcBef>
              <a:buNone/>
              <a:tabLst/>
              <a:defRPr sz="1500">
                <a:solidFill>
                  <a:schemeClr val="bg1">
                    <a:lumMod val="50000"/>
                  </a:schemeClr>
                </a:solidFill>
              </a:defRPr>
            </a:lvl1pPr>
            <a:lvl2pPr marL="0" indent="0">
              <a:spcBef>
                <a:spcPts val="225"/>
              </a:spcBef>
              <a:buNone/>
              <a:tabLst/>
              <a:defRPr>
                <a:solidFill>
                  <a:schemeClr val="bg1">
                    <a:lumMod val="50000"/>
                  </a:schemeClr>
                </a:solidFill>
              </a:defRPr>
            </a:lvl2pPr>
            <a:lvl3pPr marL="0" indent="0">
              <a:spcBef>
                <a:spcPts val="225"/>
              </a:spcBef>
              <a:buNone/>
              <a:tabLst/>
              <a:defRPr>
                <a:solidFill>
                  <a:schemeClr val="bg1">
                    <a:lumMod val="50000"/>
                  </a:schemeClr>
                </a:solidFill>
              </a:defRPr>
            </a:lvl3pPr>
            <a:lvl4pPr marL="0" indent="0">
              <a:spcBef>
                <a:spcPts val="225"/>
              </a:spcBef>
              <a:buNone/>
              <a:tabLst/>
              <a:defRPr>
                <a:solidFill>
                  <a:schemeClr val="bg1">
                    <a:lumMod val="50000"/>
                  </a:schemeClr>
                </a:solidFill>
              </a:defRPr>
            </a:lvl4pPr>
            <a:lvl5pPr marL="0" indent="0">
              <a:spcBef>
                <a:spcPts val="225"/>
              </a:spcBef>
              <a:buNone/>
              <a:tabLst/>
              <a:defRPr>
                <a:solidFill>
                  <a:schemeClr val="bg1">
                    <a:lumMod val="50000"/>
                  </a:schemeClr>
                </a:solidFill>
              </a:defRPr>
            </a:lvl5pPr>
          </a:lstStyle>
          <a:p>
            <a:pPr lvl="0"/>
            <a:r>
              <a:rPr lang="en-US" dirty="0"/>
              <a:t>Speaker Name/Title/Affiliation</a:t>
            </a:r>
          </a:p>
        </p:txBody>
      </p:sp>
    </p:spTree>
    <p:extLst>
      <p:ext uri="{BB962C8B-B14F-4D97-AF65-F5344CB8AC3E}">
        <p14:creationId xmlns:p14="http://schemas.microsoft.com/office/powerpoint/2010/main" val="3077178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C6A8-49E7-4AF8-9EAD-FDAF4A004441}"/>
              </a:ext>
            </a:extLst>
          </p:cNvPr>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3EE43D-5617-441E-B45C-00AF7FDFB0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7D23DF48-C87D-45D3-9453-2B247C45360B}"/>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264803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0046-F164-4E0C-A9A6-572A6672C417}"/>
              </a:ext>
            </a:extLst>
          </p:cNvPr>
          <p:cNvSpPr>
            <a:spLocks noGrp="1"/>
          </p:cNvSpPr>
          <p:nvPr>
            <p:ph type="title"/>
          </p:nvPr>
        </p:nvSpPr>
        <p:spPr>
          <a:xfrm>
            <a:off x="831851" y="1709742"/>
            <a:ext cx="10515600" cy="2852737"/>
          </a:xfrm>
        </p:spPr>
        <p:txBody>
          <a:bodyPr anchor="b"/>
          <a:lstStyle>
            <a:lvl1pPr>
              <a:defRPr sz="3375">
                <a:solidFill>
                  <a:srgbClr val="0070C0"/>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DFFD99A-0F1E-496F-B3C6-96B57FC0E11F}"/>
              </a:ext>
            </a:extLst>
          </p:cNvPr>
          <p:cNvSpPr>
            <a:spLocks noGrp="1"/>
          </p:cNvSpPr>
          <p:nvPr>
            <p:ph type="body" idx="1"/>
          </p:nvPr>
        </p:nvSpPr>
        <p:spPr>
          <a:xfrm>
            <a:off x="831851" y="4589467"/>
            <a:ext cx="10515600" cy="150018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0AA03490-6E23-44AF-A7F8-559449151C3D}"/>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2959279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7182-150B-4B37-A813-E4961347A01F}"/>
              </a:ext>
            </a:extLst>
          </p:cNvPr>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4789B2-FC7E-445D-96EB-1B9928908BB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8183A2-B342-4864-9517-2A00EB57000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0CDBDA3F-909F-4CE1-990F-C11FFB54E2EC}"/>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1500270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52017-2033-4904-B501-CB1800EE5303}"/>
              </a:ext>
            </a:extLst>
          </p:cNvPr>
          <p:cNvSpPr>
            <a:spLocks noGrp="1"/>
          </p:cNvSpPr>
          <p:nvPr>
            <p:ph type="title"/>
          </p:nvPr>
        </p:nvSpPr>
        <p:spPr>
          <a:xfrm>
            <a:off x="839788" y="365129"/>
            <a:ext cx="10515600" cy="1325563"/>
          </a:xfrm>
        </p:spPr>
        <p:txBody>
          <a:bodyPr/>
          <a:lstStyle>
            <a:lvl1pPr>
              <a:defRPr>
                <a:solidFill>
                  <a:srgbClr val="0070C0"/>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B7351C0-8259-4673-B19C-A396856F3660}"/>
              </a:ext>
            </a:extLst>
          </p:cNvPr>
          <p:cNvSpPr>
            <a:spLocks noGrp="1"/>
          </p:cNvSpPr>
          <p:nvPr>
            <p:ph type="body" idx="1"/>
          </p:nvPr>
        </p:nvSpPr>
        <p:spPr>
          <a:xfrm>
            <a:off x="839789" y="1681163"/>
            <a:ext cx="5157787"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a:extLst>
              <a:ext uri="{FF2B5EF4-FFF2-40B4-BE49-F238E27FC236}">
                <a16:creationId xmlns:a16="http://schemas.microsoft.com/office/drawing/2014/main" id="{4DB9ABB5-DC77-4D5B-94D0-42A7B8B0CE76}"/>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129A1-D972-4D64-B5C4-CA4A054C6A7A}"/>
              </a:ext>
            </a:extLst>
          </p:cNvPr>
          <p:cNvSpPr>
            <a:spLocks noGrp="1"/>
          </p:cNvSpPr>
          <p:nvPr>
            <p:ph type="body" sz="quarter" idx="3"/>
          </p:nvPr>
        </p:nvSpPr>
        <p:spPr>
          <a:xfrm>
            <a:off x="6172202" y="1681163"/>
            <a:ext cx="5183188"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a:extLst>
              <a:ext uri="{FF2B5EF4-FFF2-40B4-BE49-F238E27FC236}">
                <a16:creationId xmlns:a16="http://schemas.microsoft.com/office/drawing/2014/main" id="{FE0DBB9A-F942-4281-B96C-7331CA40E0DE}"/>
              </a:ext>
            </a:extLst>
          </p:cNvPr>
          <p:cNvSpPr>
            <a:spLocks noGrp="1"/>
          </p:cNvSpPr>
          <p:nvPr>
            <p:ph sz="quarter" idx="4"/>
          </p:nvPr>
        </p:nvSpPr>
        <p:spPr>
          <a:xfrm>
            <a:off x="6172202"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4AD9BA8F-43EB-4934-81F6-041158C0CB38}"/>
              </a:ext>
            </a:extLst>
          </p:cNvPr>
          <p:cNvSpPr>
            <a:spLocks noGrp="1"/>
          </p:cNvSpPr>
          <p:nvPr>
            <p:ph type="sldNum" sz="quarter" idx="12"/>
          </p:nvPr>
        </p:nvSpPr>
        <p:spPr/>
        <p:txBody>
          <a:bodyPr/>
          <a:lstStyle/>
          <a:p>
            <a:pPr>
              <a:defRPr/>
            </a:pPr>
            <a:fld id="{BB66D1C4-DE73-4DD8-8C0D-D6900DDDD4F0}" type="slidenum">
              <a:rPr lang="en-GB" altLang="en-US" smtClean="0"/>
              <a:pPr>
                <a:defRPr/>
              </a:pPr>
              <a:t>‹#›</a:t>
            </a:fld>
            <a:endParaRPr lang="en-GB" altLang="en-US"/>
          </a:p>
        </p:txBody>
      </p:sp>
    </p:spTree>
    <p:extLst>
      <p:ext uri="{BB962C8B-B14F-4D97-AF65-F5344CB8AC3E}">
        <p14:creationId xmlns:p14="http://schemas.microsoft.com/office/powerpoint/2010/main" val="914470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526CC-7A16-4121-AC34-8CC2F871832D}"/>
              </a:ext>
            </a:extLst>
          </p:cNvPr>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5E39B76A-3AE5-4BBE-8D1E-9E2E89DF87B6}"/>
              </a:ext>
            </a:extLst>
          </p:cNvPr>
          <p:cNvSpPr>
            <a:spLocks noGrp="1"/>
          </p:cNvSpPr>
          <p:nvPr>
            <p:ph type="sldNum" sz="quarter" idx="12"/>
          </p:nvPr>
        </p:nvSpPr>
        <p:spPr/>
        <p:txBody>
          <a:bodyPr/>
          <a:lstStyle/>
          <a:p>
            <a:pPr>
              <a:defRPr/>
            </a:pPr>
            <a:fld id="{A9E3123B-E958-4CBA-9E94-193DB87FA803}" type="slidenum">
              <a:rPr lang="en-GB" altLang="en-US" smtClean="0"/>
              <a:pPr>
                <a:defRPr/>
              </a:pPr>
              <a:t>‹#›</a:t>
            </a:fld>
            <a:endParaRPr lang="en-GB" altLang="en-US"/>
          </a:p>
        </p:txBody>
      </p:sp>
    </p:spTree>
    <p:extLst>
      <p:ext uri="{BB962C8B-B14F-4D97-AF65-F5344CB8AC3E}">
        <p14:creationId xmlns:p14="http://schemas.microsoft.com/office/powerpoint/2010/main" val="226341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62C411-79E5-4B8C-9D2E-ACF713EFCB15}"/>
              </a:ext>
            </a:extLst>
          </p:cNvPr>
          <p:cNvSpPr>
            <a:spLocks noGrp="1"/>
          </p:cNvSpPr>
          <p:nvPr>
            <p:ph type="sldNum" sz="quarter" idx="12"/>
          </p:nvPr>
        </p:nvSpPr>
        <p:spPr/>
        <p:txBody>
          <a:bodyPr/>
          <a:lstStyle/>
          <a:p>
            <a:pPr>
              <a:defRPr/>
            </a:pPr>
            <a:fld id="{63EDC010-A07D-45AC-B508-0E941F34D47C}" type="slidenum">
              <a:rPr lang="en-GB" altLang="en-US" smtClean="0"/>
              <a:pPr>
                <a:defRPr/>
              </a:pPr>
              <a:t>‹#›</a:t>
            </a:fld>
            <a:endParaRPr lang="en-GB" altLang="en-US"/>
          </a:p>
        </p:txBody>
      </p:sp>
    </p:spTree>
    <p:extLst>
      <p:ext uri="{BB962C8B-B14F-4D97-AF65-F5344CB8AC3E}">
        <p14:creationId xmlns:p14="http://schemas.microsoft.com/office/powerpoint/2010/main" val="310928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1C92-474E-41DE-B69E-05B0C8D803D7}"/>
              </a:ext>
            </a:extLst>
          </p:cNvPr>
          <p:cNvSpPr>
            <a:spLocks noGrp="1"/>
          </p:cNvSpPr>
          <p:nvPr>
            <p:ph type="title"/>
          </p:nvPr>
        </p:nvSpPr>
        <p:spPr>
          <a:xfrm>
            <a:off x="839788" y="457200"/>
            <a:ext cx="3932237" cy="1600200"/>
          </a:xfrm>
        </p:spPr>
        <p:txBody>
          <a:bodyPr anchor="b"/>
          <a:lstStyle>
            <a:lvl1pPr>
              <a:defRPr sz="1800">
                <a:solidFill>
                  <a:srgbClr val="0070C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2CB056F-E954-4D86-96B7-4EE02502B5A8}"/>
              </a:ext>
            </a:extLst>
          </p:cNvPr>
          <p:cNvSpPr>
            <a:spLocks noGrp="1"/>
          </p:cNvSpPr>
          <p:nvPr>
            <p:ph idx="1"/>
          </p:nvPr>
        </p:nvSpPr>
        <p:spPr>
          <a:xfrm>
            <a:off x="5183188" y="987429"/>
            <a:ext cx="617220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8A15B-241E-49FF-AB3A-3446D48C2EE4}"/>
              </a:ext>
            </a:extLst>
          </p:cNvPr>
          <p:cNvSpPr>
            <a:spLocks noGrp="1"/>
          </p:cNvSpPr>
          <p:nvPr>
            <p:ph type="body" sz="half" idx="2"/>
          </p:nvPr>
        </p:nvSpPr>
        <p:spPr>
          <a:xfrm>
            <a:off x="839788" y="2057400"/>
            <a:ext cx="3932237"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Edit Master text styles</a:t>
            </a:r>
          </a:p>
        </p:txBody>
      </p:sp>
      <p:sp>
        <p:nvSpPr>
          <p:cNvPr id="7" name="Slide Number Placeholder 6">
            <a:extLst>
              <a:ext uri="{FF2B5EF4-FFF2-40B4-BE49-F238E27FC236}">
                <a16:creationId xmlns:a16="http://schemas.microsoft.com/office/drawing/2014/main" id="{49890E6C-A4B3-4018-9718-ADAE3B5B5685}"/>
              </a:ext>
            </a:extLst>
          </p:cNvPr>
          <p:cNvSpPr>
            <a:spLocks noGrp="1"/>
          </p:cNvSpPr>
          <p:nvPr>
            <p:ph type="sldNum" sz="quarter" idx="12"/>
          </p:nvPr>
        </p:nvSpPr>
        <p:spPr/>
        <p:txBody>
          <a:bodyPr/>
          <a:lstStyle/>
          <a:p>
            <a:pPr>
              <a:defRPr/>
            </a:pPr>
            <a:fld id="{5D23F4F1-97A2-41D8-A1B5-445044538572}" type="slidenum">
              <a:rPr lang="en-GB" altLang="en-US" smtClean="0"/>
              <a:pPr>
                <a:defRPr/>
              </a:pPr>
              <a:t>‹#›</a:t>
            </a:fld>
            <a:endParaRPr lang="en-GB" altLang="en-US"/>
          </a:p>
        </p:txBody>
      </p:sp>
    </p:spTree>
    <p:extLst>
      <p:ext uri="{BB962C8B-B14F-4D97-AF65-F5344CB8AC3E}">
        <p14:creationId xmlns:p14="http://schemas.microsoft.com/office/powerpoint/2010/main" val="2784303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807E-601F-4306-9A39-186E76D33323}"/>
              </a:ext>
            </a:extLst>
          </p:cNvPr>
          <p:cNvSpPr>
            <a:spLocks noGrp="1"/>
          </p:cNvSpPr>
          <p:nvPr>
            <p:ph type="title"/>
          </p:nvPr>
        </p:nvSpPr>
        <p:spPr>
          <a:xfrm>
            <a:off x="839788" y="457200"/>
            <a:ext cx="3932237" cy="1600200"/>
          </a:xfrm>
        </p:spPr>
        <p:txBody>
          <a:bodyPr anchor="b"/>
          <a:lstStyle>
            <a:lvl1pPr>
              <a:defRPr sz="1800">
                <a:solidFill>
                  <a:srgbClr val="0070C0"/>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0A4E52B-A6B1-4368-9E75-15B2826BF0E0}"/>
              </a:ext>
            </a:extLst>
          </p:cNvPr>
          <p:cNvSpPr>
            <a:spLocks noGrp="1"/>
          </p:cNvSpPr>
          <p:nvPr>
            <p:ph type="pic" idx="1"/>
          </p:nvPr>
        </p:nvSpPr>
        <p:spPr>
          <a:xfrm>
            <a:off x="5183188" y="987429"/>
            <a:ext cx="6172200" cy="4873625"/>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p>
        </p:txBody>
      </p:sp>
      <p:sp>
        <p:nvSpPr>
          <p:cNvPr id="4" name="Text Placeholder 3">
            <a:extLst>
              <a:ext uri="{FF2B5EF4-FFF2-40B4-BE49-F238E27FC236}">
                <a16:creationId xmlns:a16="http://schemas.microsoft.com/office/drawing/2014/main" id="{1BF7F69E-0E33-4C40-911A-739FFEB78F94}"/>
              </a:ext>
            </a:extLst>
          </p:cNvPr>
          <p:cNvSpPr>
            <a:spLocks noGrp="1"/>
          </p:cNvSpPr>
          <p:nvPr>
            <p:ph type="body" sz="half" idx="2"/>
          </p:nvPr>
        </p:nvSpPr>
        <p:spPr>
          <a:xfrm>
            <a:off x="839788" y="2057400"/>
            <a:ext cx="3932237"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Edit Master text styles</a:t>
            </a:r>
          </a:p>
        </p:txBody>
      </p:sp>
      <p:sp>
        <p:nvSpPr>
          <p:cNvPr id="7" name="Slide Number Placeholder 6">
            <a:extLst>
              <a:ext uri="{FF2B5EF4-FFF2-40B4-BE49-F238E27FC236}">
                <a16:creationId xmlns:a16="http://schemas.microsoft.com/office/drawing/2014/main" id="{3C4B48A3-1FE0-4B8F-A5DE-7E4712A359D1}"/>
              </a:ext>
            </a:extLst>
          </p:cNvPr>
          <p:cNvSpPr>
            <a:spLocks noGrp="1"/>
          </p:cNvSpPr>
          <p:nvPr>
            <p:ph type="sldNum" sz="quarter" idx="12"/>
          </p:nvPr>
        </p:nvSpPr>
        <p:spPr/>
        <p:txBody>
          <a:bodyPr/>
          <a:lstStyle/>
          <a:p>
            <a:pPr>
              <a:defRPr/>
            </a:pPr>
            <a:fld id="{4CC8A13A-85FE-42FE-A0B1-50A6E5814DB3}" type="slidenum">
              <a:rPr lang="en-GB" altLang="en-US" smtClean="0"/>
              <a:pPr>
                <a:defRPr/>
              </a:pPr>
              <a:t>‹#›</a:t>
            </a:fld>
            <a:endParaRPr lang="en-GB" altLang="en-US"/>
          </a:p>
        </p:txBody>
      </p:sp>
    </p:spTree>
    <p:extLst>
      <p:ext uri="{BB962C8B-B14F-4D97-AF65-F5344CB8AC3E}">
        <p14:creationId xmlns:p14="http://schemas.microsoft.com/office/powerpoint/2010/main" val="382482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653D-BC12-47AD-B132-1DAB51DFD357}"/>
              </a:ext>
            </a:extLst>
          </p:cNvPr>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46B5D09-EB60-4C90-A424-571B971A47C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13E8BBF-DA0E-4A91-928C-5DE7884EB80B}"/>
              </a:ext>
            </a:extLst>
          </p:cNvPr>
          <p:cNvSpPr>
            <a:spLocks noGrp="1"/>
          </p:cNvSpPr>
          <p:nvPr>
            <p:ph type="sldNum" sz="quarter" idx="12"/>
          </p:nvPr>
        </p:nvSpPr>
        <p:spPr/>
        <p:txBody>
          <a:bodyPr/>
          <a:lstStyle/>
          <a:p>
            <a:pPr>
              <a:defRPr/>
            </a:pPr>
            <a:fld id="{9911B845-97F2-4110-9A82-435AB51283B4}" type="slidenum">
              <a:rPr lang="en-GB" altLang="en-US" smtClean="0"/>
              <a:pPr>
                <a:defRPr/>
              </a:pPr>
              <a:t>‹#›</a:t>
            </a:fld>
            <a:endParaRPr lang="en-GB" altLang="en-US"/>
          </a:p>
        </p:txBody>
      </p:sp>
    </p:spTree>
    <p:extLst>
      <p:ext uri="{BB962C8B-B14F-4D97-AF65-F5344CB8AC3E}">
        <p14:creationId xmlns:p14="http://schemas.microsoft.com/office/powerpoint/2010/main" val="209672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EC3003-55E9-4F23-B37C-47D5453DF1EB}"/>
              </a:ext>
            </a:extLst>
          </p:cNvPr>
          <p:cNvSpPr>
            <a:spLocks noGrp="1"/>
          </p:cNvSpPr>
          <p:nvPr>
            <p:ph type="title" orient="vert"/>
          </p:nvPr>
        </p:nvSpPr>
        <p:spPr>
          <a:xfrm>
            <a:off x="8724902" y="365125"/>
            <a:ext cx="2628900" cy="5811838"/>
          </a:xfrm>
        </p:spPr>
        <p:txBody>
          <a:bodyPr vert="eaVert"/>
          <a:lstStyle>
            <a:lvl1pPr>
              <a:defRPr>
                <a:solidFill>
                  <a:srgbClr val="0070C0"/>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B1B7A8D-7AEA-4B2E-8E7B-AF617A9D735B}"/>
              </a:ext>
            </a:extLst>
          </p:cNvPr>
          <p:cNvSpPr>
            <a:spLocks noGrp="1"/>
          </p:cNvSpPr>
          <p:nvPr>
            <p:ph type="body" orient="vert" idx="1"/>
          </p:nvPr>
        </p:nvSpPr>
        <p:spPr>
          <a:xfrm>
            <a:off x="838202"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C95955C-D36F-4E3C-A0C2-DF8C04548D99}"/>
              </a:ext>
            </a:extLst>
          </p:cNvPr>
          <p:cNvSpPr>
            <a:spLocks noGrp="1"/>
          </p:cNvSpPr>
          <p:nvPr>
            <p:ph type="sldNum" sz="quarter" idx="12"/>
          </p:nvPr>
        </p:nvSpPr>
        <p:spPr/>
        <p:txBody>
          <a:bodyPr/>
          <a:lstStyle/>
          <a:p>
            <a:pPr>
              <a:defRPr/>
            </a:pPr>
            <a:fld id="{4CC26424-F582-469F-A72C-912AFD629FA4}" type="slidenum">
              <a:rPr lang="en-GB" altLang="en-US" smtClean="0"/>
              <a:pPr>
                <a:defRPr/>
              </a:pPr>
              <a:t>‹#›</a:t>
            </a:fld>
            <a:endParaRPr lang="en-GB" altLang="en-US"/>
          </a:p>
        </p:txBody>
      </p:sp>
    </p:spTree>
    <p:extLst>
      <p:ext uri="{BB962C8B-B14F-4D97-AF65-F5344CB8AC3E}">
        <p14:creationId xmlns:p14="http://schemas.microsoft.com/office/powerpoint/2010/main" val="4080813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Diapositiva de títul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a:solidFill>
            <a:srgbClr val="0070C0"/>
          </a:solidFill>
        </p:spPr>
        <p:txBody>
          <a:bodyPr anchor="ctr"/>
          <a:lstStyle>
            <a:lvl1pPr algn="ctr">
              <a:defRPr sz="6000">
                <a:solidFill>
                  <a:schemeClr val="bg1"/>
                </a:solidFill>
                <a:effectLst>
                  <a:outerShdw blurRad="38100" dist="38100" dir="2700000" algn="tl">
                    <a:srgbClr val="000000">
                      <a:alpha val="43137"/>
                    </a:srgbClr>
                  </a:outerShdw>
                </a:effectLst>
              </a:defRPr>
            </a:lvl1pPr>
          </a:lstStyle>
          <a:p>
            <a:r>
              <a:rPr lang="en-GB" noProof="0" dirty="0" err="1"/>
              <a:t>Haga</a:t>
            </a:r>
            <a:r>
              <a:rPr lang="en-GB" noProof="0" dirty="0"/>
              <a:t> </a:t>
            </a:r>
            <a:r>
              <a:rPr lang="en-GB" noProof="0" dirty="0" err="1"/>
              <a:t>clic</a:t>
            </a:r>
            <a:r>
              <a:rPr lang="en-GB" noProof="0" dirty="0"/>
              <a:t> para </a:t>
            </a:r>
            <a:r>
              <a:rPr lang="en-GB" noProof="0" dirty="0" err="1"/>
              <a:t>modificar</a:t>
            </a:r>
            <a:r>
              <a:rPr lang="en-GB" noProof="0" dirty="0"/>
              <a:t> el </a:t>
            </a:r>
            <a:r>
              <a:rPr lang="en-GB" noProof="0" dirty="0" err="1"/>
              <a:t>estilo</a:t>
            </a:r>
            <a:r>
              <a:rPr lang="en-GB" noProof="0" dirty="0"/>
              <a:t> de </a:t>
            </a:r>
            <a:r>
              <a:rPr lang="en-GB" noProof="0" dirty="0" err="1"/>
              <a:t>título</a:t>
            </a:r>
            <a:r>
              <a:rPr lang="en-GB" noProof="0" dirty="0"/>
              <a:t> del </a:t>
            </a:r>
            <a:r>
              <a:rPr lang="en-GB" noProof="0" dirty="0" err="1"/>
              <a:t>patrón</a:t>
            </a:r>
            <a:endParaRPr lang="en-GB" noProof="0" dirty="0"/>
          </a:p>
        </p:txBody>
      </p:sp>
      <p:sp>
        <p:nvSpPr>
          <p:cNvPr id="3" name="Subtítulo 2"/>
          <p:cNvSpPr>
            <a:spLocks noGrp="1"/>
          </p:cNvSpPr>
          <p:nvPr>
            <p:ph type="subTitle" idx="1"/>
          </p:nvPr>
        </p:nvSpPr>
        <p:spPr>
          <a:xfrm>
            <a:off x="1524000" y="3602038"/>
            <a:ext cx="9144000" cy="1008062"/>
          </a:xfrm>
        </p:spPr>
        <p:txBody>
          <a:bodyPr anchor="ctr"/>
          <a:lstStyle>
            <a:lvl1pPr marL="0" indent="0" algn="ctr">
              <a:buNone/>
              <a:defRPr sz="240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err="1"/>
              <a:t>Haga</a:t>
            </a:r>
            <a:r>
              <a:rPr lang="en-GB" noProof="0" dirty="0"/>
              <a:t> </a:t>
            </a:r>
            <a:r>
              <a:rPr lang="en-GB" noProof="0" dirty="0" err="1"/>
              <a:t>clic</a:t>
            </a:r>
            <a:r>
              <a:rPr lang="en-GB" noProof="0" dirty="0"/>
              <a:t> para </a:t>
            </a:r>
            <a:r>
              <a:rPr lang="en-GB" noProof="0" dirty="0" err="1"/>
              <a:t>editar</a:t>
            </a:r>
            <a:r>
              <a:rPr lang="en-GB" noProof="0" dirty="0"/>
              <a:t> el </a:t>
            </a:r>
            <a:r>
              <a:rPr lang="en-GB" noProof="0" dirty="0" err="1"/>
              <a:t>estilo</a:t>
            </a:r>
            <a:r>
              <a:rPr lang="en-GB" noProof="0" dirty="0"/>
              <a:t> de </a:t>
            </a:r>
            <a:r>
              <a:rPr lang="en-GB" noProof="0" dirty="0" err="1"/>
              <a:t>subtítulo</a:t>
            </a:r>
            <a:r>
              <a:rPr lang="en-GB" noProof="0" dirty="0"/>
              <a:t> del </a:t>
            </a:r>
            <a:r>
              <a:rPr lang="en-GB" noProof="0" dirty="0" err="1"/>
              <a:t>patrón</a:t>
            </a:r>
            <a:endParaRPr lang="en-GB" noProof="0" dirty="0"/>
          </a:p>
        </p:txBody>
      </p:sp>
    </p:spTree>
    <p:extLst>
      <p:ext uri="{BB962C8B-B14F-4D97-AF65-F5344CB8AC3E}">
        <p14:creationId xmlns:p14="http://schemas.microsoft.com/office/powerpoint/2010/main" val="18760544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022BF7-37EF-4F44-80FD-19DBE91F846D}"/>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11EF49-9992-4787-B243-803FF85337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3D86291F-6B50-47ED-BB90-66DA5C48DC4D}"/>
              </a:ext>
            </a:extLst>
          </p:cNvPr>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E358E709-A26E-433C-9FB4-EDC6104FF2C5}" type="slidenum">
              <a:rPr lang="en-US" smtClean="0"/>
              <a:t>‹#›</a:t>
            </a:fld>
            <a:endParaRPr lang="en-US"/>
          </a:p>
        </p:txBody>
      </p:sp>
      <p:pic>
        <p:nvPicPr>
          <p:cNvPr id="7" name="Picture 7">
            <a:extLst>
              <a:ext uri="{FF2B5EF4-FFF2-40B4-BE49-F238E27FC236}">
                <a16:creationId xmlns:a16="http://schemas.microsoft.com/office/drawing/2014/main" id="{40E1814F-21CA-44E1-89DE-BEC66745025B}"/>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39349" y="6066090"/>
            <a:ext cx="2743200" cy="62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6282072"/>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hdr="0"/>
  <p:txStyles>
    <p:titleStyle>
      <a:lvl1pPr algn="l" defTabSz="514350" rtl="0" eaLnBrk="1" latinLnBrk="0" hangingPunct="1">
        <a:lnSpc>
          <a:spcPct val="90000"/>
        </a:lnSpc>
        <a:spcBef>
          <a:spcPct val="0"/>
        </a:spcBef>
        <a:buNone/>
        <a:defRPr sz="27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514350" rtl="0" eaLnBrk="1" latinLnBrk="0" hangingPunct="1">
        <a:lnSpc>
          <a:spcPct val="90000"/>
        </a:lnSpc>
        <a:spcBef>
          <a:spcPts val="563"/>
        </a:spcBef>
        <a:buClr>
          <a:schemeClr val="bg2">
            <a:lumMod val="50000"/>
          </a:schemeClr>
        </a:buClr>
        <a:buFont typeface="Wingdings" panose="05000000000000000000" pitchFamily="2" charset="2"/>
        <a:buChar char="§"/>
        <a:defRPr sz="1575" kern="1200">
          <a:solidFill>
            <a:schemeClr val="tx1"/>
          </a:solidFill>
          <a:latin typeface="+mn-lt"/>
          <a:ea typeface="+mn-ea"/>
          <a:cs typeface="+mn-cs"/>
        </a:defRPr>
      </a:lvl1pPr>
      <a:lvl2pPr marL="471488"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350" kern="1200">
          <a:solidFill>
            <a:schemeClr val="tx1"/>
          </a:solidFill>
          <a:latin typeface="+mn-lt"/>
          <a:ea typeface="+mn-ea"/>
          <a:cs typeface="+mn-cs"/>
        </a:defRPr>
      </a:lvl2pPr>
      <a:lvl3pPr marL="728663"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125" kern="1200">
          <a:solidFill>
            <a:schemeClr val="tx1"/>
          </a:solidFill>
          <a:latin typeface="+mn-lt"/>
          <a:ea typeface="+mn-ea"/>
          <a:cs typeface="+mn-cs"/>
        </a:defRPr>
      </a:lvl3pPr>
      <a:lvl4pPr marL="985838"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013" kern="1200">
          <a:solidFill>
            <a:schemeClr val="tx1"/>
          </a:solidFill>
          <a:latin typeface="+mn-lt"/>
          <a:ea typeface="+mn-ea"/>
          <a:cs typeface="+mn-cs"/>
        </a:defRPr>
      </a:lvl4pPr>
      <a:lvl5pPr marL="1243013"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518CB-E301-4726-B0D7-09E1260D2E8C}"/>
              </a:ext>
            </a:extLst>
          </p:cNvPr>
          <p:cNvSpPr>
            <a:spLocks noGrp="1"/>
          </p:cNvSpPr>
          <p:nvPr>
            <p:ph type="ctrTitle"/>
          </p:nvPr>
        </p:nvSpPr>
        <p:spPr/>
        <p:txBody>
          <a:bodyPr>
            <a:normAutofit fontScale="90000"/>
          </a:bodyPr>
          <a:lstStyle/>
          <a:p>
            <a:r>
              <a:rPr lang="en-US" dirty="0"/>
              <a:t>Support for microdata in SDMX 3.0</a:t>
            </a:r>
          </a:p>
        </p:txBody>
      </p:sp>
      <p:sp>
        <p:nvSpPr>
          <p:cNvPr id="3" name="Subtítulo 2">
            <a:extLst>
              <a:ext uri="{FF2B5EF4-FFF2-40B4-BE49-F238E27FC236}">
                <a16:creationId xmlns:a16="http://schemas.microsoft.com/office/drawing/2014/main" id="{483C7AFE-5FFA-4D6A-B4CE-0DE7ABB92209}"/>
              </a:ext>
            </a:extLst>
          </p:cNvPr>
          <p:cNvSpPr>
            <a:spLocks noGrp="1"/>
          </p:cNvSpPr>
          <p:nvPr>
            <p:ph type="subTitle" idx="1"/>
          </p:nvPr>
        </p:nvSpPr>
        <p:spPr>
          <a:xfrm>
            <a:off x="1703512" y="3861048"/>
            <a:ext cx="9144000" cy="1278320"/>
          </a:xfrm>
        </p:spPr>
        <p:txBody>
          <a:bodyPr>
            <a:normAutofit/>
          </a:bodyPr>
          <a:lstStyle/>
          <a:p>
            <a:r>
              <a:rPr lang="en-US" sz="2000" dirty="0"/>
              <a:t>SDMX-DDI Interoperability for Data Integration Task Force</a:t>
            </a:r>
          </a:p>
          <a:p>
            <a:r>
              <a:rPr lang="en-US" sz="2000" dirty="0"/>
              <a:t>February 20, 2025</a:t>
            </a:r>
            <a:endParaRPr lang="en-GB" sz="2800" dirty="0"/>
          </a:p>
        </p:txBody>
      </p:sp>
    </p:spTree>
    <p:extLst>
      <p:ext uri="{BB962C8B-B14F-4D97-AF65-F5344CB8AC3E}">
        <p14:creationId xmlns:p14="http://schemas.microsoft.com/office/powerpoint/2010/main" val="147096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dirty="0"/>
              <a:t>Why </a:t>
            </a:r>
            <a:r>
              <a:rPr lang="en-GB" sz="2800" dirty="0"/>
              <a:t>was</a:t>
            </a:r>
            <a:r>
              <a:rPr lang="en-GB" sz="2400" dirty="0"/>
              <a:t> SDMX 3.0.0 needed?</a:t>
            </a:r>
            <a:endParaRPr lang="de-DE" sz="2400" dirty="0"/>
          </a:p>
        </p:txBody>
      </p:sp>
      <p:sp>
        <p:nvSpPr>
          <p:cNvPr id="3" name="Content Placeholder 2"/>
          <p:cNvSpPr>
            <a:spLocks noGrp="1"/>
          </p:cNvSpPr>
          <p:nvPr>
            <p:ph idx="1"/>
          </p:nvPr>
        </p:nvSpPr>
        <p:spPr>
          <a:xfrm>
            <a:off x="1955540" y="1556792"/>
            <a:ext cx="7956884" cy="3528392"/>
          </a:xfrm>
        </p:spPr>
        <p:txBody>
          <a:bodyPr>
            <a:noAutofit/>
          </a:bodyPr>
          <a:lstStyle/>
          <a:p>
            <a:r>
              <a:rPr lang="en-GB" sz="2400" dirty="0"/>
              <a:t>Reference metadata exchange was too complicated</a:t>
            </a:r>
          </a:p>
          <a:p>
            <a:r>
              <a:rPr lang="en-GB" sz="2400" dirty="0"/>
              <a:t>Geospatial data needed a formal expression </a:t>
            </a:r>
          </a:p>
          <a:p>
            <a:r>
              <a:rPr lang="en-GB" sz="2400" dirty="0">
                <a:solidFill>
                  <a:srgbClr val="FF0000"/>
                </a:solidFill>
              </a:rPr>
              <a:t>Natural way for modelling microdata was requested</a:t>
            </a:r>
          </a:p>
          <a:p>
            <a:r>
              <a:rPr lang="en-GB" sz="2400" dirty="0"/>
              <a:t>Codelist extension meant creating a separate codelist</a:t>
            </a:r>
          </a:p>
          <a:p>
            <a:r>
              <a:rPr lang="en-GB" sz="2400" dirty="0"/>
              <a:t>Managing version dependencies was inflexible</a:t>
            </a:r>
          </a:p>
          <a:p>
            <a:r>
              <a:rPr lang="en-GB" sz="2400" dirty="0"/>
              <a:t>More flexibility and new features required for mapping</a:t>
            </a:r>
          </a:p>
          <a:p>
            <a:r>
              <a:rPr lang="en-GB" sz="2400" dirty="0"/>
              <a:t>Implementing multiple hierarchies was not intuitive</a:t>
            </a:r>
          </a:p>
          <a:p>
            <a:r>
              <a:rPr lang="en-GB" sz="2400" dirty="0"/>
              <a:t>Improvements to the SDMX APIs, e.g. allowing queries on non-series aspects such as “give me all breaks in series observations”</a:t>
            </a:r>
          </a:p>
          <a:p>
            <a:endParaRPr lang="de-DE" sz="2400" dirty="0"/>
          </a:p>
        </p:txBody>
      </p:sp>
    </p:spTree>
    <p:extLst>
      <p:ext uri="{BB962C8B-B14F-4D97-AF65-F5344CB8AC3E}">
        <p14:creationId xmlns:p14="http://schemas.microsoft.com/office/powerpoint/2010/main" val="384317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a:t>New features in SDMX 3.0.0</a:t>
            </a:r>
          </a:p>
        </p:txBody>
      </p:sp>
      <p:sp>
        <p:nvSpPr>
          <p:cNvPr id="3" name="Content Placeholder 2"/>
          <p:cNvSpPr>
            <a:spLocks noGrp="1"/>
          </p:cNvSpPr>
          <p:nvPr>
            <p:ph idx="1"/>
          </p:nvPr>
        </p:nvSpPr>
        <p:spPr>
          <a:xfrm>
            <a:off x="2027548" y="1556792"/>
            <a:ext cx="8136904" cy="4536504"/>
          </a:xfrm>
        </p:spPr>
        <p:txBody>
          <a:bodyPr>
            <a:noAutofit/>
          </a:bodyPr>
          <a:lstStyle/>
          <a:p>
            <a:r>
              <a:rPr lang="en-GB" sz="2400" i="1" dirty="0">
                <a:solidFill>
                  <a:srgbClr val="FF0000"/>
                </a:solidFill>
              </a:rPr>
              <a:t>New features to support microdata	</a:t>
            </a:r>
          </a:p>
          <a:p>
            <a:pPr lvl="1"/>
            <a:r>
              <a:rPr lang="en-GB" sz="1800" i="1" dirty="0">
                <a:solidFill>
                  <a:srgbClr val="FF0000"/>
                </a:solidFill>
              </a:rPr>
              <a:t>Multiple measures</a:t>
            </a:r>
          </a:p>
          <a:p>
            <a:pPr lvl="1"/>
            <a:r>
              <a:rPr lang="en-GB" sz="1800" i="1" dirty="0">
                <a:solidFill>
                  <a:srgbClr val="FF0000"/>
                </a:solidFill>
              </a:rPr>
              <a:t>Multiple values for attributes</a:t>
            </a:r>
          </a:p>
          <a:p>
            <a:pPr lvl="1"/>
            <a:r>
              <a:rPr lang="en-GB" sz="1800" i="1" dirty="0">
                <a:solidFill>
                  <a:srgbClr val="FF0000"/>
                </a:solidFill>
              </a:rPr>
              <a:t>Simplify DSD Dimensions</a:t>
            </a:r>
          </a:p>
          <a:p>
            <a:pPr lvl="1"/>
            <a:r>
              <a:rPr lang="en-GB" sz="1800" i="1" dirty="0">
                <a:solidFill>
                  <a:srgbClr val="FF0000"/>
                </a:solidFill>
              </a:rPr>
              <a:t>Reference metadata attachment</a:t>
            </a:r>
          </a:p>
          <a:p>
            <a:r>
              <a:rPr lang="en-GB" sz="2400" i="1" dirty="0">
                <a:solidFill>
                  <a:srgbClr val="FF0000"/>
                </a:solidFill>
              </a:rPr>
              <a:t>Support for geospatial information </a:t>
            </a:r>
            <a:r>
              <a:rPr lang="en-GB" sz="2400" i="1" dirty="0"/>
              <a:t>	</a:t>
            </a:r>
          </a:p>
          <a:p>
            <a:r>
              <a:rPr lang="en-GB" sz="2400" i="1" dirty="0"/>
              <a:t>Enhanced artefacts</a:t>
            </a:r>
          </a:p>
          <a:p>
            <a:pPr lvl="1"/>
            <a:r>
              <a:rPr lang="en-GB" sz="1800" i="1" dirty="0"/>
              <a:t>Enhance the constraints artefacts</a:t>
            </a:r>
          </a:p>
          <a:p>
            <a:pPr lvl="1"/>
            <a:r>
              <a:rPr lang="en-GB" sz="1800" i="1" dirty="0">
                <a:solidFill>
                  <a:srgbClr val="FF0000"/>
                </a:solidFill>
              </a:rPr>
              <a:t>Reorganizing constraints</a:t>
            </a:r>
          </a:p>
          <a:p>
            <a:pPr lvl="1"/>
            <a:r>
              <a:rPr lang="en-GB" sz="1800" i="1" dirty="0"/>
              <a:t>Improve mapping by enhancing the Structure Set artefact</a:t>
            </a:r>
          </a:p>
          <a:p>
            <a:pPr lvl="1"/>
            <a:r>
              <a:rPr lang="en-GB" sz="1800" i="1" dirty="0"/>
              <a:t>Referencing of hierarchical codelists</a:t>
            </a:r>
          </a:p>
          <a:p>
            <a:pPr lvl="1"/>
            <a:r>
              <a:rPr lang="en-GB" sz="1800" i="1" dirty="0"/>
              <a:t>Schema attribute attachment at series &amp; group level</a:t>
            </a:r>
          </a:p>
          <a:p>
            <a:endParaRPr lang="en-GB" sz="2250" i="1" dirty="0"/>
          </a:p>
        </p:txBody>
      </p:sp>
    </p:spTree>
    <p:extLst>
      <p:ext uri="{BB962C8B-B14F-4D97-AF65-F5344CB8AC3E}">
        <p14:creationId xmlns:p14="http://schemas.microsoft.com/office/powerpoint/2010/main" val="52128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 calcmode="lin" valueType="num">
                                      <p:cBhvr additive="base">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 calcmode="lin" valueType="num">
                                      <p:cBhvr additive="base">
                                        <p:cTn id="6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
                                            <p:txEl>
                                              <p:pRg st="11" end="11"/>
                                            </p:txEl>
                                          </p:spTgt>
                                        </p:tgtEl>
                                        <p:attrNameLst>
                                          <p:attrName>style.visibility</p:attrName>
                                        </p:attrNameLst>
                                      </p:cBhvr>
                                      <p:to>
                                        <p:strVal val="visible"/>
                                      </p:to>
                                    </p:set>
                                    <p:anim calcmode="lin" valueType="num">
                                      <p:cBhvr additive="base">
                                        <p:cTn id="6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416" y="548680"/>
            <a:ext cx="5915025" cy="994172"/>
          </a:xfrm>
        </p:spPr>
        <p:txBody>
          <a:bodyPr>
            <a:normAutofit/>
          </a:bodyPr>
          <a:lstStyle/>
          <a:p>
            <a:r>
              <a:rPr lang="en-GB" sz="2800" dirty="0"/>
              <a:t>New features in SDMX 3.0.0</a:t>
            </a:r>
          </a:p>
        </p:txBody>
      </p:sp>
      <p:sp>
        <p:nvSpPr>
          <p:cNvPr id="3" name="Content Placeholder 2"/>
          <p:cNvSpPr>
            <a:spLocks noGrp="1"/>
          </p:cNvSpPr>
          <p:nvPr>
            <p:ph idx="1"/>
          </p:nvPr>
        </p:nvSpPr>
        <p:spPr>
          <a:xfrm>
            <a:off x="1919536" y="1542852"/>
            <a:ext cx="7776864" cy="3263504"/>
          </a:xfrm>
        </p:spPr>
        <p:txBody>
          <a:bodyPr>
            <a:noAutofit/>
          </a:bodyPr>
          <a:lstStyle/>
          <a:p>
            <a:r>
              <a:rPr lang="en-GB" sz="2400" i="1" dirty="0">
                <a:solidFill>
                  <a:srgbClr val="FF0000"/>
                </a:solidFill>
              </a:rPr>
              <a:t>Improved codelists' handling</a:t>
            </a:r>
          </a:p>
          <a:p>
            <a:pPr lvl="1"/>
            <a:r>
              <a:rPr lang="en-GB" sz="1800" i="1" dirty="0">
                <a:solidFill>
                  <a:srgbClr val="FF0000"/>
                </a:solidFill>
              </a:rPr>
              <a:t>Codelist extension / composition</a:t>
            </a:r>
          </a:p>
          <a:p>
            <a:pPr lvl="1"/>
            <a:r>
              <a:rPr lang="en-GB" sz="1800" i="1" dirty="0">
                <a:solidFill>
                  <a:srgbClr val="FF0000"/>
                </a:solidFill>
              </a:rPr>
              <a:t>Discriminated union of codelists</a:t>
            </a:r>
          </a:p>
          <a:p>
            <a:r>
              <a:rPr lang="en-GB" sz="2400" i="1" dirty="0"/>
              <a:t>Semantic versioning	</a:t>
            </a:r>
          </a:p>
          <a:p>
            <a:r>
              <a:rPr lang="en-GB" sz="2400" i="1" dirty="0"/>
              <a:t>Enhanced SDMX API	</a:t>
            </a:r>
          </a:p>
          <a:p>
            <a:pPr lvl="1"/>
            <a:r>
              <a:rPr lang="en-GB" sz="1800" i="1" dirty="0"/>
              <a:t>Support reference metadata in the Restful API</a:t>
            </a:r>
          </a:p>
          <a:p>
            <a:pPr lvl="1"/>
            <a:r>
              <a:rPr lang="en-GB" sz="1800" i="1" dirty="0"/>
              <a:t>Deprecation of the SOAP API</a:t>
            </a:r>
          </a:p>
          <a:p>
            <a:pPr lvl="1"/>
            <a:r>
              <a:rPr lang="en-GB" sz="1800" i="1" dirty="0"/>
              <a:t>Group all structural metadata queries under a structure resource</a:t>
            </a:r>
          </a:p>
          <a:p>
            <a:pPr lvl="1"/>
            <a:r>
              <a:rPr lang="en-GB" sz="1800" i="1" dirty="0"/>
              <a:t>Support resource management - structures and data</a:t>
            </a:r>
          </a:p>
          <a:p>
            <a:pPr lvl="1"/>
            <a:r>
              <a:rPr lang="en-GB" sz="1800" i="1" dirty="0"/>
              <a:t>Improve clarity and documentation of the API</a:t>
            </a:r>
          </a:p>
          <a:p>
            <a:pPr lvl="1"/>
            <a:r>
              <a:rPr lang="en-GB" sz="1800" i="1" dirty="0">
                <a:solidFill>
                  <a:srgbClr val="FF0000"/>
                </a:solidFill>
              </a:rPr>
              <a:t>Improved API data queries</a:t>
            </a:r>
            <a:endParaRPr lang="en-GB" sz="2025" i="1" dirty="0">
              <a:solidFill>
                <a:srgbClr val="FF0000"/>
              </a:solidFill>
            </a:endParaRPr>
          </a:p>
          <a:p>
            <a:r>
              <a:rPr lang="en-GB" sz="2400" i="1" dirty="0"/>
              <a:t>Deprecation of obsolete formats</a:t>
            </a:r>
          </a:p>
          <a:p>
            <a:endParaRPr lang="en-GB" sz="2400" i="1" dirty="0"/>
          </a:p>
          <a:p>
            <a:endParaRPr lang="en-GB" sz="2400" i="1" dirty="0"/>
          </a:p>
          <a:p>
            <a:endParaRPr lang="en-GB" sz="2400" i="1" dirty="0"/>
          </a:p>
        </p:txBody>
      </p:sp>
    </p:spTree>
    <p:extLst>
      <p:ext uri="{BB962C8B-B14F-4D97-AF65-F5344CB8AC3E}">
        <p14:creationId xmlns:p14="http://schemas.microsoft.com/office/powerpoint/2010/main" val="278023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1000"/>
                            </p:stCondLst>
                            <p:childTnLst>
                              <p:par>
                                <p:cTn id="35" presetID="2" presetClass="entr" presetSubtype="4" fill="hold" grpId="0" nodeType="after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1500"/>
                            </p:stCondLst>
                            <p:childTnLst>
                              <p:par>
                                <p:cTn id="40" presetID="2" presetClass="entr" presetSubtype="4" fill="hold" grpId="0" nodeType="after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44" fill="hold">
                            <p:stCondLst>
                              <p:cond delay="2000"/>
                            </p:stCondLst>
                            <p:childTnLst>
                              <p:par>
                                <p:cTn id="45" presetID="2" presetClass="entr" presetSubtype="4" fill="hold" grpId="0" nodeType="after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additive="base">
                                        <p:cTn id="5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additive="base">
                                        <p:cTn id="5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 calcmode="lin" valueType="num">
                                      <p:cBhvr additive="base">
                                        <p:cTn id="6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40F5-B7B4-4F3D-B35D-1D315B1560EC}"/>
              </a:ext>
            </a:extLst>
          </p:cNvPr>
          <p:cNvSpPr>
            <a:spLocks noGrp="1"/>
          </p:cNvSpPr>
          <p:nvPr>
            <p:ph type="title"/>
          </p:nvPr>
        </p:nvSpPr>
        <p:spPr>
          <a:xfrm>
            <a:off x="838200" y="260648"/>
            <a:ext cx="10515600" cy="1325563"/>
          </a:xfrm>
        </p:spPr>
        <p:txBody>
          <a:bodyPr/>
          <a:lstStyle/>
          <a:p>
            <a:r>
              <a:rPr lang="en-GB" dirty="0"/>
              <a:t>New features to support microdata	</a:t>
            </a:r>
          </a:p>
        </p:txBody>
      </p:sp>
      <p:sp>
        <p:nvSpPr>
          <p:cNvPr id="3" name="Content Placeholder 2">
            <a:extLst>
              <a:ext uri="{FF2B5EF4-FFF2-40B4-BE49-F238E27FC236}">
                <a16:creationId xmlns:a16="http://schemas.microsoft.com/office/drawing/2014/main" id="{1CEC5263-C0B0-4C6D-9331-E7151DB617BD}"/>
              </a:ext>
            </a:extLst>
          </p:cNvPr>
          <p:cNvSpPr>
            <a:spLocks noGrp="1"/>
          </p:cNvSpPr>
          <p:nvPr>
            <p:ph idx="1"/>
          </p:nvPr>
        </p:nvSpPr>
        <p:spPr>
          <a:xfrm>
            <a:off x="838200" y="1243786"/>
            <a:ext cx="10515600" cy="5112568"/>
          </a:xfrm>
        </p:spPr>
        <p:txBody>
          <a:bodyPr>
            <a:normAutofit/>
          </a:bodyPr>
          <a:lstStyle/>
          <a:p>
            <a:r>
              <a:rPr lang="en-US" sz="1800" dirty="0"/>
              <a:t>Native support for </a:t>
            </a:r>
            <a:r>
              <a:rPr lang="en-US" sz="1800" b="1" dirty="0"/>
              <a:t>multiple</a:t>
            </a:r>
            <a:r>
              <a:rPr lang="en-US" sz="1800" dirty="0"/>
              <a:t> measures</a:t>
            </a:r>
          </a:p>
          <a:p>
            <a:pPr lvl="1"/>
            <a:r>
              <a:rPr lang="en-US" sz="1600" dirty="0"/>
              <a:t>Explicit definition of Measures and their representation</a:t>
            </a:r>
          </a:p>
          <a:p>
            <a:pPr lvl="1"/>
            <a:r>
              <a:rPr lang="en-US" sz="1600" dirty="0"/>
              <a:t>Deprecated the </a:t>
            </a:r>
            <a:r>
              <a:rPr lang="en-US" sz="1600" dirty="0" err="1"/>
              <a:t>MeasureDimension</a:t>
            </a:r>
            <a:r>
              <a:rPr lang="en-US" sz="1600" dirty="0"/>
              <a:t> (can be emulated by a simple Dimension)</a:t>
            </a:r>
          </a:p>
          <a:p>
            <a:pPr lvl="1"/>
            <a:r>
              <a:rPr lang="en-US" sz="1600" dirty="0"/>
              <a:t>Not fully backwards compatible</a:t>
            </a:r>
          </a:p>
          <a:p>
            <a:r>
              <a:rPr lang="en-GB" sz="1800" dirty="0"/>
              <a:t>New representation for supporting microdata: </a:t>
            </a:r>
            <a:r>
              <a:rPr lang="en-GB" sz="1800" b="1" dirty="0"/>
              <a:t>Array</a:t>
            </a:r>
            <a:r>
              <a:rPr lang="en-GB" sz="1800" dirty="0"/>
              <a:t> for Measures and Data Attributes</a:t>
            </a:r>
          </a:p>
          <a:p>
            <a:r>
              <a:rPr lang="en-GB" sz="1800" dirty="0"/>
              <a:t>New </a:t>
            </a:r>
            <a:r>
              <a:rPr lang="en-GB" sz="1800" b="1" dirty="0"/>
              <a:t>facets</a:t>
            </a:r>
            <a:r>
              <a:rPr lang="en-GB" sz="1800" dirty="0"/>
              <a:t> for uncoded Measures and Data Attributes</a:t>
            </a:r>
          </a:p>
          <a:p>
            <a:pPr lvl="1"/>
            <a:r>
              <a:rPr lang="en-GB" sz="1600" dirty="0"/>
              <a:t>Multilingual text</a:t>
            </a:r>
          </a:p>
          <a:p>
            <a:pPr lvl="1"/>
            <a:r>
              <a:rPr lang="en-GB" sz="1600" dirty="0"/>
              <a:t>Sentinel values</a:t>
            </a:r>
          </a:p>
          <a:p>
            <a:r>
              <a:rPr lang="en-GB" sz="1800" dirty="0"/>
              <a:t>Attribute relationship to specific Measures</a:t>
            </a:r>
          </a:p>
          <a:p>
            <a:r>
              <a:rPr lang="en-US" sz="1800" dirty="0"/>
              <a:t>Support more compact reporting of multiple measures</a:t>
            </a:r>
          </a:p>
          <a:p>
            <a:pPr lvl="1"/>
            <a:r>
              <a:rPr lang="en-US" sz="1600" dirty="0"/>
              <a:t>All measures reported in a single record</a:t>
            </a:r>
          </a:p>
          <a:p>
            <a:r>
              <a:rPr lang="en-US" sz="1800" dirty="0"/>
              <a:t>Reference metadata may be reported alongside data</a:t>
            </a:r>
          </a:p>
          <a:p>
            <a:pPr lvl="1"/>
            <a:r>
              <a:rPr lang="en-US" sz="1600" dirty="0"/>
              <a:t>Attached anywhere in the dataset</a:t>
            </a:r>
          </a:p>
          <a:p>
            <a:r>
              <a:rPr lang="en-US" sz="1800" dirty="0"/>
              <a:t>Attributes and Measures can have:</a:t>
            </a:r>
          </a:p>
          <a:p>
            <a:pPr lvl="1"/>
            <a:r>
              <a:rPr lang="en-US" sz="1600" dirty="0"/>
              <a:t>Multiple values (arrays)</a:t>
            </a:r>
          </a:p>
          <a:p>
            <a:pPr lvl="1"/>
            <a:r>
              <a:rPr lang="en-US" sz="1600" dirty="0"/>
              <a:t>Multilingual uncoded values</a:t>
            </a:r>
          </a:p>
          <a:p>
            <a:pPr lvl="1"/>
            <a:r>
              <a:rPr lang="en-US" sz="1600" dirty="0"/>
              <a:t>The above combined</a:t>
            </a:r>
          </a:p>
          <a:p>
            <a:endParaRPr lang="en-US" sz="1800" dirty="0"/>
          </a:p>
          <a:p>
            <a:endParaRPr lang="en-GB" sz="1800" dirty="0"/>
          </a:p>
        </p:txBody>
      </p:sp>
      <p:sp>
        <p:nvSpPr>
          <p:cNvPr id="4" name="Slide Number Placeholder 3">
            <a:extLst>
              <a:ext uri="{FF2B5EF4-FFF2-40B4-BE49-F238E27FC236}">
                <a16:creationId xmlns:a16="http://schemas.microsoft.com/office/drawing/2014/main" id="{32AE52CB-42E8-4CFC-AFEB-51B2DB636B69}"/>
              </a:ext>
            </a:extLst>
          </p:cNvPr>
          <p:cNvSpPr>
            <a:spLocks noGrp="1"/>
          </p:cNvSpPr>
          <p:nvPr>
            <p:ph type="sldNum" sz="quarter" idx="12"/>
          </p:nvPr>
        </p:nvSpPr>
        <p:spPr/>
        <p:txBody>
          <a:bodyPr/>
          <a:lstStyle/>
          <a:p>
            <a:fld id="{E358E709-A26E-433C-9FB4-EDC6104FF2C5}" type="slidenum">
              <a:rPr lang="en-US" smtClean="0"/>
              <a:t>5</a:t>
            </a:fld>
            <a:endParaRPr lang="en-US"/>
          </a:p>
        </p:txBody>
      </p:sp>
    </p:spTree>
    <p:extLst>
      <p:ext uri="{BB962C8B-B14F-4D97-AF65-F5344CB8AC3E}">
        <p14:creationId xmlns:p14="http://schemas.microsoft.com/office/powerpoint/2010/main" val="376463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58C37D5-AE74-45FC-83E2-5BBF3B6D514E}"/>
              </a:ext>
            </a:extLst>
          </p:cNvPr>
          <p:cNvSpPr>
            <a:spLocks noGrp="1"/>
          </p:cNvSpPr>
          <p:nvPr>
            <p:ph type="title"/>
          </p:nvPr>
        </p:nvSpPr>
        <p:spPr>
          <a:xfrm>
            <a:off x="2153842" y="457200"/>
            <a:ext cx="6174407" cy="530228"/>
          </a:xfrm>
        </p:spPr>
        <p:txBody>
          <a:bodyPr/>
          <a:lstStyle/>
          <a:p>
            <a:r>
              <a:rPr lang="en-US" dirty="0"/>
              <a:t>Data Structure Definition</a:t>
            </a:r>
            <a:endParaRPr lang="en-GB" dirty="0"/>
          </a:p>
        </p:txBody>
      </p:sp>
      <p:pic>
        <p:nvPicPr>
          <p:cNvPr id="6" name="Content Placeholder 5">
            <a:extLst>
              <a:ext uri="{FF2B5EF4-FFF2-40B4-BE49-F238E27FC236}">
                <a16:creationId xmlns:a16="http://schemas.microsoft.com/office/drawing/2014/main" id="{655C99F0-74A8-4FA5-8101-E6E19A7622AD}"/>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042" t="4899" r="1042" b="6372"/>
          <a:stretch/>
        </p:blipFill>
        <p:spPr>
          <a:xfrm>
            <a:off x="3846372" y="899891"/>
            <a:ext cx="6768000" cy="5544000"/>
          </a:xfrm>
        </p:spPr>
      </p:pic>
      <p:sp>
        <p:nvSpPr>
          <p:cNvPr id="4" name="Slide Number Placeholder 3">
            <a:extLst>
              <a:ext uri="{FF2B5EF4-FFF2-40B4-BE49-F238E27FC236}">
                <a16:creationId xmlns:a16="http://schemas.microsoft.com/office/drawing/2014/main" id="{46AA3816-54CF-48B3-B167-51FAAEDA234E}"/>
              </a:ext>
            </a:extLst>
          </p:cNvPr>
          <p:cNvSpPr>
            <a:spLocks noGrp="1"/>
          </p:cNvSpPr>
          <p:nvPr>
            <p:ph type="sldNum" sz="quarter" idx="12"/>
          </p:nvPr>
        </p:nvSpPr>
        <p:spPr/>
        <p:txBody>
          <a:bodyPr/>
          <a:lstStyle/>
          <a:p>
            <a:fld id="{E358E709-A26E-433C-9FB4-EDC6104FF2C5}" type="slidenum">
              <a:rPr lang="en-US" smtClean="0"/>
              <a:t>6</a:t>
            </a:fld>
            <a:endParaRPr lang="en-US"/>
          </a:p>
        </p:txBody>
      </p:sp>
      <p:sp>
        <p:nvSpPr>
          <p:cNvPr id="10" name="Oval 9">
            <a:extLst>
              <a:ext uri="{FF2B5EF4-FFF2-40B4-BE49-F238E27FC236}">
                <a16:creationId xmlns:a16="http://schemas.microsoft.com/office/drawing/2014/main" id="{4BF61255-D9A3-4024-9963-4145B5291DE6}"/>
              </a:ext>
            </a:extLst>
          </p:cNvPr>
          <p:cNvSpPr/>
          <p:nvPr/>
        </p:nvSpPr>
        <p:spPr>
          <a:xfrm>
            <a:off x="7104113" y="2600908"/>
            <a:ext cx="377801" cy="216024"/>
          </a:xfrm>
          <a:custGeom>
            <a:avLst/>
            <a:gdLst>
              <a:gd name="connsiteX0" fmla="*/ 0 w 377801"/>
              <a:gd name="connsiteY0" fmla="*/ 108012 h 216024"/>
              <a:gd name="connsiteX1" fmla="*/ 188901 w 377801"/>
              <a:gd name="connsiteY1" fmla="*/ 0 h 216024"/>
              <a:gd name="connsiteX2" fmla="*/ 377802 w 377801"/>
              <a:gd name="connsiteY2" fmla="*/ 108012 h 216024"/>
              <a:gd name="connsiteX3" fmla="*/ 188901 w 377801"/>
              <a:gd name="connsiteY3" fmla="*/ 216024 h 216024"/>
              <a:gd name="connsiteX4" fmla="*/ 0 w 377801"/>
              <a:gd name="connsiteY4" fmla="*/ 108012 h 216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01" h="216024" extrusionOk="0">
                <a:moveTo>
                  <a:pt x="0" y="108012"/>
                </a:moveTo>
                <a:cubicBezTo>
                  <a:pt x="-19321" y="36442"/>
                  <a:pt x="57826" y="10039"/>
                  <a:pt x="188901" y="0"/>
                </a:cubicBezTo>
                <a:cubicBezTo>
                  <a:pt x="297668" y="935"/>
                  <a:pt x="376435" y="48402"/>
                  <a:pt x="377802" y="108012"/>
                </a:cubicBezTo>
                <a:cubicBezTo>
                  <a:pt x="364710" y="180450"/>
                  <a:pt x="288647" y="241342"/>
                  <a:pt x="188901" y="216024"/>
                </a:cubicBezTo>
                <a:cubicBezTo>
                  <a:pt x="73473" y="209950"/>
                  <a:pt x="5574" y="170328"/>
                  <a:pt x="0" y="108012"/>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F5921920-F799-45A8-A7D4-CE3A57417288}"/>
              </a:ext>
            </a:extLst>
          </p:cNvPr>
          <p:cNvSpPr/>
          <p:nvPr/>
        </p:nvSpPr>
        <p:spPr>
          <a:xfrm>
            <a:off x="5015881" y="1988840"/>
            <a:ext cx="377801" cy="216024"/>
          </a:xfrm>
          <a:custGeom>
            <a:avLst/>
            <a:gdLst>
              <a:gd name="connsiteX0" fmla="*/ 0 w 377801"/>
              <a:gd name="connsiteY0" fmla="*/ 108012 h 216024"/>
              <a:gd name="connsiteX1" fmla="*/ 188901 w 377801"/>
              <a:gd name="connsiteY1" fmla="*/ 0 h 216024"/>
              <a:gd name="connsiteX2" fmla="*/ 377802 w 377801"/>
              <a:gd name="connsiteY2" fmla="*/ 108012 h 216024"/>
              <a:gd name="connsiteX3" fmla="*/ 188901 w 377801"/>
              <a:gd name="connsiteY3" fmla="*/ 216024 h 216024"/>
              <a:gd name="connsiteX4" fmla="*/ 0 w 377801"/>
              <a:gd name="connsiteY4" fmla="*/ 108012 h 216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01" h="216024" extrusionOk="0">
                <a:moveTo>
                  <a:pt x="0" y="108012"/>
                </a:moveTo>
                <a:cubicBezTo>
                  <a:pt x="-19321" y="36442"/>
                  <a:pt x="57826" y="10039"/>
                  <a:pt x="188901" y="0"/>
                </a:cubicBezTo>
                <a:cubicBezTo>
                  <a:pt x="297668" y="935"/>
                  <a:pt x="376435" y="48402"/>
                  <a:pt x="377802" y="108012"/>
                </a:cubicBezTo>
                <a:cubicBezTo>
                  <a:pt x="364710" y="180450"/>
                  <a:pt x="288647" y="241342"/>
                  <a:pt x="188901" y="216024"/>
                </a:cubicBezTo>
                <a:cubicBezTo>
                  <a:pt x="73473" y="209950"/>
                  <a:pt x="5574" y="170328"/>
                  <a:pt x="0" y="108012"/>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F31F57C7-EC4D-4B09-916C-D922E6A62A21}"/>
              </a:ext>
            </a:extLst>
          </p:cNvPr>
          <p:cNvSpPr/>
          <p:nvPr/>
        </p:nvSpPr>
        <p:spPr>
          <a:xfrm>
            <a:off x="8616280" y="6068549"/>
            <a:ext cx="1728192" cy="365125"/>
          </a:xfrm>
          <a:custGeom>
            <a:avLst/>
            <a:gdLst>
              <a:gd name="connsiteX0" fmla="*/ 0 w 1728192"/>
              <a:gd name="connsiteY0" fmla="*/ 60855 h 365125"/>
              <a:gd name="connsiteX1" fmla="*/ 60855 w 1728192"/>
              <a:gd name="connsiteY1" fmla="*/ 0 h 365125"/>
              <a:gd name="connsiteX2" fmla="*/ 628479 w 1728192"/>
              <a:gd name="connsiteY2" fmla="*/ 0 h 365125"/>
              <a:gd name="connsiteX3" fmla="*/ 1147908 w 1728192"/>
              <a:gd name="connsiteY3" fmla="*/ 0 h 365125"/>
              <a:gd name="connsiteX4" fmla="*/ 1667337 w 1728192"/>
              <a:gd name="connsiteY4" fmla="*/ 0 h 365125"/>
              <a:gd name="connsiteX5" fmla="*/ 1728192 w 1728192"/>
              <a:gd name="connsiteY5" fmla="*/ 60855 h 365125"/>
              <a:gd name="connsiteX6" fmla="*/ 1728192 w 1728192"/>
              <a:gd name="connsiteY6" fmla="*/ 304270 h 365125"/>
              <a:gd name="connsiteX7" fmla="*/ 1667337 w 1728192"/>
              <a:gd name="connsiteY7" fmla="*/ 365125 h 365125"/>
              <a:gd name="connsiteX8" fmla="*/ 1163973 w 1728192"/>
              <a:gd name="connsiteY8" fmla="*/ 365125 h 365125"/>
              <a:gd name="connsiteX9" fmla="*/ 628479 w 1728192"/>
              <a:gd name="connsiteY9" fmla="*/ 365125 h 365125"/>
              <a:gd name="connsiteX10" fmla="*/ 60855 w 1728192"/>
              <a:gd name="connsiteY10" fmla="*/ 365125 h 365125"/>
              <a:gd name="connsiteX11" fmla="*/ 0 w 1728192"/>
              <a:gd name="connsiteY11" fmla="*/ 304270 h 365125"/>
              <a:gd name="connsiteX12" fmla="*/ 0 w 1728192"/>
              <a:gd name="connsiteY12" fmla="*/ 60855 h 36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28192" h="365125" extrusionOk="0">
                <a:moveTo>
                  <a:pt x="0" y="60855"/>
                </a:moveTo>
                <a:cubicBezTo>
                  <a:pt x="-5340" y="23952"/>
                  <a:pt x="24322" y="1097"/>
                  <a:pt x="60855" y="0"/>
                </a:cubicBezTo>
                <a:cubicBezTo>
                  <a:pt x="186997" y="-59013"/>
                  <a:pt x="441583" y="30968"/>
                  <a:pt x="628479" y="0"/>
                </a:cubicBezTo>
                <a:cubicBezTo>
                  <a:pt x="815375" y="-30968"/>
                  <a:pt x="942770" y="16664"/>
                  <a:pt x="1147908" y="0"/>
                </a:cubicBezTo>
                <a:cubicBezTo>
                  <a:pt x="1353046" y="-16664"/>
                  <a:pt x="1501016" y="53572"/>
                  <a:pt x="1667337" y="0"/>
                </a:cubicBezTo>
                <a:cubicBezTo>
                  <a:pt x="1698150" y="-9005"/>
                  <a:pt x="1729387" y="22825"/>
                  <a:pt x="1728192" y="60855"/>
                </a:cubicBezTo>
                <a:cubicBezTo>
                  <a:pt x="1732629" y="182405"/>
                  <a:pt x="1717328" y="193020"/>
                  <a:pt x="1728192" y="304270"/>
                </a:cubicBezTo>
                <a:cubicBezTo>
                  <a:pt x="1727333" y="329691"/>
                  <a:pt x="1698659" y="368303"/>
                  <a:pt x="1667337" y="365125"/>
                </a:cubicBezTo>
                <a:cubicBezTo>
                  <a:pt x="1431041" y="389141"/>
                  <a:pt x="1368681" y="340429"/>
                  <a:pt x="1163973" y="365125"/>
                </a:cubicBezTo>
                <a:cubicBezTo>
                  <a:pt x="959265" y="389821"/>
                  <a:pt x="779411" y="322872"/>
                  <a:pt x="628479" y="365125"/>
                </a:cubicBezTo>
                <a:cubicBezTo>
                  <a:pt x="477547" y="407378"/>
                  <a:pt x="317655" y="321431"/>
                  <a:pt x="60855" y="365125"/>
                </a:cubicBezTo>
                <a:cubicBezTo>
                  <a:pt x="34223" y="358231"/>
                  <a:pt x="2955" y="335974"/>
                  <a:pt x="0" y="304270"/>
                </a:cubicBezTo>
                <a:cubicBezTo>
                  <a:pt x="-26512" y="238291"/>
                  <a:pt x="28011" y="141266"/>
                  <a:pt x="0" y="60855"/>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D400A6F5-F4D6-4913-A4FE-837A8F884691}"/>
              </a:ext>
            </a:extLst>
          </p:cNvPr>
          <p:cNvSpPr/>
          <p:nvPr/>
        </p:nvSpPr>
        <p:spPr>
          <a:xfrm>
            <a:off x="6456040" y="4005065"/>
            <a:ext cx="1296144" cy="389343"/>
          </a:xfrm>
          <a:custGeom>
            <a:avLst/>
            <a:gdLst>
              <a:gd name="connsiteX0" fmla="*/ 0 w 1296144"/>
              <a:gd name="connsiteY0" fmla="*/ 64892 h 389343"/>
              <a:gd name="connsiteX1" fmla="*/ 64892 w 1296144"/>
              <a:gd name="connsiteY1" fmla="*/ 0 h 389343"/>
              <a:gd name="connsiteX2" fmla="*/ 671399 w 1296144"/>
              <a:gd name="connsiteY2" fmla="*/ 0 h 389343"/>
              <a:gd name="connsiteX3" fmla="*/ 1231252 w 1296144"/>
              <a:gd name="connsiteY3" fmla="*/ 0 h 389343"/>
              <a:gd name="connsiteX4" fmla="*/ 1296144 w 1296144"/>
              <a:gd name="connsiteY4" fmla="*/ 64892 h 389343"/>
              <a:gd name="connsiteX5" fmla="*/ 1296144 w 1296144"/>
              <a:gd name="connsiteY5" fmla="*/ 324451 h 389343"/>
              <a:gd name="connsiteX6" fmla="*/ 1231252 w 1296144"/>
              <a:gd name="connsiteY6" fmla="*/ 389343 h 389343"/>
              <a:gd name="connsiteX7" fmla="*/ 648072 w 1296144"/>
              <a:gd name="connsiteY7" fmla="*/ 389343 h 389343"/>
              <a:gd name="connsiteX8" fmla="*/ 64892 w 1296144"/>
              <a:gd name="connsiteY8" fmla="*/ 389343 h 389343"/>
              <a:gd name="connsiteX9" fmla="*/ 0 w 1296144"/>
              <a:gd name="connsiteY9" fmla="*/ 324451 h 389343"/>
              <a:gd name="connsiteX10" fmla="*/ 0 w 1296144"/>
              <a:gd name="connsiteY10" fmla="*/ 64892 h 38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144" h="389343" extrusionOk="0">
                <a:moveTo>
                  <a:pt x="0" y="64892"/>
                </a:moveTo>
                <a:cubicBezTo>
                  <a:pt x="-4436" y="26317"/>
                  <a:pt x="21270" y="2921"/>
                  <a:pt x="64892" y="0"/>
                </a:cubicBezTo>
                <a:cubicBezTo>
                  <a:pt x="352633" y="-37800"/>
                  <a:pt x="460234" y="20360"/>
                  <a:pt x="671399" y="0"/>
                </a:cubicBezTo>
                <a:cubicBezTo>
                  <a:pt x="882564" y="-20360"/>
                  <a:pt x="998927" y="13021"/>
                  <a:pt x="1231252" y="0"/>
                </a:cubicBezTo>
                <a:cubicBezTo>
                  <a:pt x="1265183" y="-1044"/>
                  <a:pt x="1297831" y="29859"/>
                  <a:pt x="1296144" y="64892"/>
                </a:cubicBezTo>
                <a:cubicBezTo>
                  <a:pt x="1297219" y="190237"/>
                  <a:pt x="1285293" y="198217"/>
                  <a:pt x="1296144" y="324451"/>
                </a:cubicBezTo>
                <a:cubicBezTo>
                  <a:pt x="1296859" y="359127"/>
                  <a:pt x="1259442" y="396065"/>
                  <a:pt x="1231252" y="389343"/>
                </a:cubicBezTo>
                <a:cubicBezTo>
                  <a:pt x="1097976" y="427896"/>
                  <a:pt x="784724" y="358961"/>
                  <a:pt x="648072" y="389343"/>
                </a:cubicBezTo>
                <a:cubicBezTo>
                  <a:pt x="511420" y="419725"/>
                  <a:pt x="244736" y="325521"/>
                  <a:pt x="64892" y="389343"/>
                </a:cubicBezTo>
                <a:cubicBezTo>
                  <a:pt x="23332" y="389016"/>
                  <a:pt x="1828" y="355277"/>
                  <a:pt x="0" y="324451"/>
                </a:cubicBezTo>
                <a:cubicBezTo>
                  <a:pt x="-23112" y="261542"/>
                  <a:pt x="21840" y="153617"/>
                  <a:pt x="0" y="64892"/>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04D10A78-4C26-4E61-9A4B-4F40BC397577}"/>
              </a:ext>
            </a:extLst>
          </p:cNvPr>
          <p:cNvSpPr/>
          <p:nvPr/>
        </p:nvSpPr>
        <p:spPr>
          <a:xfrm>
            <a:off x="4116702" y="5301209"/>
            <a:ext cx="1296144" cy="389343"/>
          </a:xfrm>
          <a:custGeom>
            <a:avLst/>
            <a:gdLst>
              <a:gd name="connsiteX0" fmla="*/ 0 w 1296144"/>
              <a:gd name="connsiteY0" fmla="*/ 64892 h 389343"/>
              <a:gd name="connsiteX1" fmla="*/ 64892 w 1296144"/>
              <a:gd name="connsiteY1" fmla="*/ 0 h 389343"/>
              <a:gd name="connsiteX2" fmla="*/ 671399 w 1296144"/>
              <a:gd name="connsiteY2" fmla="*/ 0 h 389343"/>
              <a:gd name="connsiteX3" fmla="*/ 1231252 w 1296144"/>
              <a:gd name="connsiteY3" fmla="*/ 0 h 389343"/>
              <a:gd name="connsiteX4" fmla="*/ 1296144 w 1296144"/>
              <a:gd name="connsiteY4" fmla="*/ 64892 h 389343"/>
              <a:gd name="connsiteX5" fmla="*/ 1296144 w 1296144"/>
              <a:gd name="connsiteY5" fmla="*/ 324451 h 389343"/>
              <a:gd name="connsiteX6" fmla="*/ 1231252 w 1296144"/>
              <a:gd name="connsiteY6" fmla="*/ 389343 h 389343"/>
              <a:gd name="connsiteX7" fmla="*/ 648072 w 1296144"/>
              <a:gd name="connsiteY7" fmla="*/ 389343 h 389343"/>
              <a:gd name="connsiteX8" fmla="*/ 64892 w 1296144"/>
              <a:gd name="connsiteY8" fmla="*/ 389343 h 389343"/>
              <a:gd name="connsiteX9" fmla="*/ 0 w 1296144"/>
              <a:gd name="connsiteY9" fmla="*/ 324451 h 389343"/>
              <a:gd name="connsiteX10" fmla="*/ 0 w 1296144"/>
              <a:gd name="connsiteY10" fmla="*/ 64892 h 38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144" h="389343" extrusionOk="0">
                <a:moveTo>
                  <a:pt x="0" y="64892"/>
                </a:moveTo>
                <a:cubicBezTo>
                  <a:pt x="-4436" y="26317"/>
                  <a:pt x="21270" y="2921"/>
                  <a:pt x="64892" y="0"/>
                </a:cubicBezTo>
                <a:cubicBezTo>
                  <a:pt x="352633" y="-37800"/>
                  <a:pt x="460234" y="20360"/>
                  <a:pt x="671399" y="0"/>
                </a:cubicBezTo>
                <a:cubicBezTo>
                  <a:pt x="882564" y="-20360"/>
                  <a:pt x="998927" y="13021"/>
                  <a:pt x="1231252" y="0"/>
                </a:cubicBezTo>
                <a:cubicBezTo>
                  <a:pt x="1265183" y="-1044"/>
                  <a:pt x="1297831" y="29859"/>
                  <a:pt x="1296144" y="64892"/>
                </a:cubicBezTo>
                <a:cubicBezTo>
                  <a:pt x="1297219" y="190237"/>
                  <a:pt x="1285293" y="198217"/>
                  <a:pt x="1296144" y="324451"/>
                </a:cubicBezTo>
                <a:cubicBezTo>
                  <a:pt x="1296859" y="359127"/>
                  <a:pt x="1259442" y="396065"/>
                  <a:pt x="1231252" y="389343"/>
                </a:cubicBezTo>
                <a:cubicBezTo>
                  <a:pt x="1097976" y="427896"/>
                  <a:pt x="784724" y="358961"/>
                  <a:pt x="648072" y="389343"/>
                </a:cubicBezTo>
                <a:cubicBezTo>
                  <a:pt x="511420" y="419725"/>
                  <a:pt x="244736" y="325521"/>
                  <a:pt x="64892" y="389343"/>
                </a:cubicBezTo>
                <a:cubicBezTo>
                  <a:pt x="23332" y="389016"/>
                  <a:pt x="1828" y="355277"/>
                  <a:pt x="0" y="324451"/>
                </a:cubicBezTo>
                <a:cubicBezTo>
                  <a:pt x="-23112" y="261542"/>
                  <a:pt x="21840" y="153617"/>
                  <a:pt x="0" y="64892"/>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2E8AEA28-2996-4552-84BC-CACD2DB38023}"/>
              </a:ext>
            </a:extLst>
          </p:cNvPr>
          <p:cNvSpPr/>
          <p:nvPr/>
        </p:nvSpPr>
        <p:spPr>
          <a:xfrm>
            <a:off x="4204256" y="6044331"/>
            <a:ext cx="523592" cy="312023"/>
          </a:xfrm>
          <a:custGeom>
            <a:avLst/>
            <a:gdLst>
              <a:gd name="connsiteX0" fmla="*/ 0 w 523592"/>
              <a:gd name="connsiteY0" fmla="*/ 52005 h 312023"/>
              <a:gd name="connsiteX1" fmla="*/ 52005 w 523592"/>
              <a:gd name="connsiteY1" fmla="*/ 0 h 312023"/>
              <a:gd name="connsiteX2" fmla="*/ 471587 w 523592"/>
              <a:gd name="connsiteY2" fmla="*/ 0 h 312023"/>
              <a:gd name="connsiteX3" fmla="*/ 523592 w 523592"/>
              <a:gd name="connsiteY3" fmla="*/ 52005 h 312023"/>
              <a:gd name="connsiteX4" fmla="*/ 523592 w 523592"/>
              <a:gd name="connsiteY4" fmla="*/ 260018 h 312023"/>
              <a:gd name="connsiteX5" fmla="*/ 471587 w 523592"/>
              <a:gd name="connsiteY5" fmla="*/ 312023 h 312023"/>
              <a:gd name="connsiteX6" fmla="*/ 52005 w 523592"/>
              <a:gd name="connsiteY6" fmla="*/ 312023 h 312023"/>
              <a:gd name="connsiteX7" fmla="*/ 0 w 523592"/>
              <a:gd name="connsiteY7" fmla="*/ 260018 h 312023"/>
              <a:gd name="connsiteX8" fmla="*/ 0 w 523592"/>
              <a:gd name="connsiteY8" fmla="*/ 52005 h 31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592" h="312023" extrusionOk="0">
                <a:moveTo>
                  <a:pt x="0" y="52005"/>
                </a:moveTo>
                <a:cubicBezTo>
                  <a:pt x="-6430" y="19317"/>
                  <a:pt x="20937" y="881"/>
                  <a:pt x="52005" y="0"/>
                </a:cubicBezTo>
                <a:cubicBezTo>
                  <a:pt x="186745" y="-26835"/>
                  <a:pt x="362743" y="26175"/>
                  <a:pt x="471587" y="0"/>
                </a:cubicBezTo>
                <a:cubicBezTo>
                  <a:pt x="497306" y="-2284"/>
                  <a:pt x="520522" y="29584"/>
                  <a:pt x="523592" y="52005"/>
                </a:cubicBezTo>
                <a:cubicBezTo>
                  <a:pt x="548146" y="155612"/>
                  <a:pt x="514379" y="161711"/>
                  <a:pt x="523592" y="260018"/>
                </a:cubicBezTo>
                <a:cubicBezTo>
                  <a:pt x="524066" y="287765"/>
                  <a:pt x="496793" y="311485"/>
                  <a:pt x="471587" y="312023"/>
                </a:cubicBezTo>
                <a:cubicBezTo>
                  <a:pt x="361821" y="330347"/>
                  <a:pt x="242743" y="308114"/>
                  <a:pt x="52005" y="312023"/>
                </a:cubicBezTo>
                <a:cubicBezTo>
                  <a:pt x="21385" y="315164"/>
                  <a:pt x="-3576" y="284593"/>
                  <a:pt x="0" y="260018"/>
                </a:cubicBezTo>
                <a:cubicBezTo>
                  <a:pt x="-1990" y="206595"/>
                  <a:pt x="24746" y="129517"/>
                  <a:pt x="0" y="52005"/>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6B1A14D-7D4A-41DE-8C04-D0C7333586C8}"/>
              </a:ext>
            </a:extLst>
          </p:cNvPr>
          <p:cNvSpPr/>
          <p:nvPr/>
        </p:nvSpPr>
        <p:spPr>
          <a:xfrm>
            <a:off x="5204780" y="2698694"/>
            <a:ext cx="1296144" cy="530228"/>
          </a:xfrm>
          <a:custGeom>
            <a:avLst/>
            <a:gdLst>
              <a:gd name="connsiteX0" fmla="*/ 0 w 1296144"/>
              <a:gd name="connsiteY0" fmla="*/ 265114 h 530228"/>
              <a:gd name="connsiteX1" fmla="*/ 648072 w 1296144"/>
              <a:gd name="connsiteY1" fmla="*/ 0 h 530228"/>
              <a:gd name="connsiteX2" fmla="*/ 1296144 w 1296144"/>
              <a:gd name="connsiteY2" fmla="*/ 265114 h 530228"/>
              <a:gd name="connsiteX3" fmla="*/ 648072 w 1296144"/>
              <a:gd name="connsiteY3" fmla="*/ 530228 h 530228"/>
              <a:gd name="connsiteX4" fmla="*/ 0 w 1296144"/>
              <a:gd name="connsiteY4" fmla="*/ 265114 h 530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44" h="530228" extrusionOk="0">
                <a:moveTo>
                  <a:pt x="0" y="265114"/>
                </a:moveTo>
                <a:cubicBezTo>
                  <a:pt x="-47779" y="89225"/>
                  <a:pt x="274668" y="5812"/>
                  <a:pt x="648072" y="0"/>
                </a:cubicBezTo>
                <a:cubicBezTo>
                  <a:pt x="1011437" y="1146"/>
                  <a:pt x="1271193" y="119489"/>
                  <a:pt x="1296144" y="265114"/>
                </a:cubicBezTo>
                <a:cubicBezTo>
                  <a:pt x="1244382" y="462081"/>
                  <a:pt x="1004086" y="540765"/>
                  <a:pt x="648072" y="530228"/>
                </a:cubicBezTo>
                <a:cubicBezTo>
                  <a:pt x="255075" y="511037"/>
                  <a:pt x="27452" y="424649"/>
                  <a:pt x="0" y="265114"/>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E78B6000-6E5D-4EFC-90E2-DA9368CE0D24}"/>
              </a:ext>
            </a:extLst>
          </p:cNvPr>
          <p:cNvSpPr/>
          <p:nvPr/>
        </p:nvSpPr>
        <p:spPr>
          <a:xfrm>
            <a:off x="4592972" y="3717935"/>
            <a:ext cx="1296144" cy="530228"/>
          </a:xfrm>
          <a:custGeom>
            <a:avLst/>
            <a:gdLst>
              <a:gd name="connsiteX0" fmla="*/ 0 w 1296144"/>
              <a:gd name="connsiteY0" fmla="*/ 265114 h 530228"/>
              <a:gd name="connsiteX1" fmla="*/ 648072 w 1296144"/>
              <a:gd name="connsiteY1" fmla="*/ 0 h 530228"/>
              <a:gd name="connsiteX2" fmla="*/ 1296144 w 1296144"/>
              <a:gd name="connsiteY2" fmla="*/ 265114 h 530228"/>
              <a:gd name="connsiteX3" fmla="*/ 648072 w 1296144"/>
              <a:gd name="connsiteY3" fmla="*/ 530228 h 530228"/>
              <a:gd name="connsiteX4" fmla="*/ 0 w 1296144"/>
              <a:gd name="connsiteY4" fmla="*/ 265114 h 530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44" h="530228" extrusionOk="0">
                <a:moveTo>
                  <a:pt x="0" y="265114"/>
                </a:moveTo>
                <a:cubicBezTo>
                  <a:pt x="-47779" y="89225"/>
                  <a:pt x="274668" y="5812"/>
                  <a:pt x="648072" y="0"/>
                </a:cubicBezTo>
                <a:cubicBezTo>
                  <a:pt x="1011437" y="1146"/>
                  <a:pt x="1271193" y="119489"/>
                  <a:pt x="1296144" y="265114"/>
                </a:cubicBezTo>
                <a:cubicBezTo>
                  <a:pt x="1244382" y="462081"/>
                  <a:pt x="1004086" y="540765"/>
                  <a:pt x="648072" y="530228"/>
                </a:cubicBezTo>
                <a:cubicBezTo>
                  <a:pt x="255075" y="511037"/>
                  <a:pt x="27452" y="424649"/>
                  <a:pt x="0" y="265114"/>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F77B23EE-E79D-43E3-92AB-823FD4C59B44}"/>
              </a:ext>
            </a:extLst>
          </p:cNvPr>
          <p:cNvSpPr/>
          <p:nvPr/>
        </p:nvSpPr>
        <p:spPr>
          <a:xfrm>
            <a:off x="7146619" y="3593074"/>
            <a:ext cx="377801" cy="216024"/>
          </a:xfrm>
          <a:custGeom>
            <a:avLst/>
            <a:gdLst>
              <a:gd name="connsiteX0" fmla="*/ 0 w 377801"/>
              <a:gd name="connsiteY0" fmla="*/ 108012 h 216024"/>
              <a:gd name="connsiteX1" fmla="*/ 188901 w 377801"/>
              <a:gd name="connsiteY1" fmla="*/ 0 h 216024"/>
              <a:gd name="connsiteX2" fmla="*/ 377802 w 377801"/>
              <a:gd name="connsiteY2" fmla="*/ 108012 h 216024"/>
              <a:gd name="connsiteX3" fmla="*/ 188901 w 377801"/>
              <a:gd name="connsiteY3" fmla="*/ 216024 h 216024"/>
              <a:gd name="connsiteX4" fmla="*/ 0 w 377801"/>
              <a:gd name="connsiteY4" fmla="*/ 108012 h 216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01" h="216024" extrusionOk="0">
                <a:moveTo>
                  <a:pt x="0" y="108012"/>
                </a:moveTo>
                <a:cubicBezTo>
                  <a:pt x="-19321" y="36442"/>
                  <a:pt x="57826" y="10039"/>
                  <a:pt x="188901" y="0"/>
                </a:cubicBezTo>
                <a:cubicBezTo>
                  <a:pt x="297668" y="935"/>
                  <a:pt x="376435" y="48402"/>
                  <a:pt x="377802" y="108012"/>
                </a:cubicBezTo>
                <a:cubicBezTo>
                  <a:pt x="364710" y="180450"/>
                  <a:pt x="288647" y="241342"/>
                  <a:pt x="188901" y="216024"/>
                </a:cubicBezTo>
                <a:cubicBezTo>
                  <a:pt x="73473" y="209950"/>
                  <a:pt x="5574" y="170328"/>
                  <a:pt x="0" y="108012"/>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3438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1" grpId="0" animBg="1"/>
      <p:bldP spid="12" grpId="0" animBg="1"/>
      <p:bldP spid="13" grpId="0" animBg="1"/>
      <p:bldP spid="14" grpId="0" animBg="1"/>
      <p:bldP spid="15" grpId="0" animBg="1"/>
      <p:bldP spid="20"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6FE4134-A3D7-4C33-8B63-ED3E54F166DB}"/>
              </a:ext>
            </a:extLst>
          </p:cNvPr>
          <p:cNvSpPr>
            <a:spLocks noGrp="1"/>
          </p:cNvSpPr>
          <p:nvPr>
            <p:ph type="title"/>
          </p:nvPr>
        </p:nvSpPr>
        <p:spPr>
          <a:xfrm>
            <a:off x="2153842" y="457201"/>
            <a:ext cx="5022279" cy="522293"/>
          </a:xfrm>
        </p:spPr>
        <p:txBody>
          <a:bodyPr/>
          <a:lstStyle/>
          <a:p>
            <a:r>
              <a:rPr lang="en-US" dirty="0"/>
              <a:t>Attribute Relationship</a:t>
            </a:r>
            <a:endParaRPr lang="en-GB" dirty="0"/>
          </a:p>
        </p:txBody>
      </p:sp>
      <p:pic>
        <p:nvPicPr>
          <p:cNvPr id="7" name="Content Placeholder 6">
            <a:extLst>
              <a:ext uri="{FF2B5EF4-FFF2-40B4-BE49-F238E27FC236}">
                <a16:creationId xmlns:a16="http://schemas.microsoft.com/office/drawing/2014/main" id="{A4CDE4BA-ED4F-4FE1-A3E1-A676769299D9}"/>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747" t="4007" r="1761" b="2155"/>
          <a:stretch/>
        </p:blipFill>
        <p:spPr>
          <a:xfrm>
            <a:off x="4512000" y="1188000"/>
            <a:ext cx="5940000" cy="5184000"/>
          </a:xfrm>
        </p:spPr>
      </p:pic>
      <p:sp>
        <p:nvSpPr>
          <p:cNvPr id="4" name="Slide Number Placeholder 3">
            <a:extLst>
              <a:ext uri="{FF2B5EF4-FFF2-40B4-BE49-F238E27FC236}">
                <a16:creationId xmlns:a16="http://schemas.microsoft.com/office/drawing/2014/main" id="{EFD0F35D-C72D-4454-A20F-2D0CE9522D0B}"/>
              </a:ext>
            </a:extLst>
          </p:cNvPr>
          <p:cNvSpPr>
            <a:spLocks noGrp="1"/>
          </p:cNvSpPr>
          <p:nvPr>
            <p:ph type="sldNum" sz="quarter" idx="12"/>
          </p:nvPr>
        </p:nvSpPr>
        <p:spPr/>
        <p:txBody>
          <a:bodyPr/>
          <a:lstStyle/>
          <a:p>
            <a:fld id="{E358E709-A26E-433C-9FB4-EDC6104FF2C5}" type="slidenum">
              <a:rPr lang="en-US" smtClean="0"/>
              <a:t>7</a:t>
            </a:fld>
            <a:endParaRPr lang="en-US"/>
          </a:p>
        </p:txBody>
      </p:sp>
      <p:sp>
        <p:nvSpPr>
          <p:cNvPr id="10" name="Rectangle: Rounded Corners 9">
            <a:extLst>
              <a:ext uri="{FF2B5EF4-FFF2-40B4-BE49-F238E27FC236}">
                <a16:creationId xmlns:a16="http://schemas.microsoft.com/office/drawing/2014/main" id="{35468C6F-B08B-4FFB-9803-469951588526}"/>
              </a:ext>
            </a:extLst>
          </p:cNvPr>
          <p:cNvSpPr/>
          <p:nvPr/>
        </p:nvSpPr>
        <p:spPr>
          <a:xfrm>
            <a:off x="7078108" y="4221088"/>
            <a:ext cx="2762308" cy="432048"/>
          </a:xfrm>
          <a:custGeom>
            <a:avLst/>
            <a:gdLst>
              <a:gd name="connsiteX0" fmla="*/ 0 w 2762308"/>
              <a:gd name="connsiteY0" fmla="*/ 72009 h 432048"/>
              <a:gd name="connsiteX1" fmla="*/ 72009 w 2762308"/>
              <a:gd name="connsiteY1" fmla="*/ 0 h 432048"/>
              <a:gd name="connsiteX2" fmla="*/ 648033 w 2762308"/>
              <a:gd name="connsiteY2" fmla="*/ 0 h 432048"/>
              <a:gd name="connsiteX3" fmla="*/ 1145508 w 2762308"/>
              <a:gd name="connsiteY3" fmla="*/ 0 h 432048"/>
              <a:gd name="connsiteX4" fmla="*/ 1616800 w 2762308"/>
              <a:gd name="connsiteY4" fmla="*/ 0 h 432048"/>
              <a:gd name="connsiteX5" fmla="*/ 2166641 w 2762308"/>
              <a:gd name="connsiteY5" fmla="*/ 0 h 432048"/>
              <a:gd name="connsiteX6" fmla="*/ 2690299 w 2762308"/>
              <a:gd name="connsiteY6" fmla="*/ 0 h 432048"/>
              <a:gd name="connsiteX7" fmla="*/ 2762308 w 2762308"/>
              <a:gd name="connsiteY7" fmla="*/ 72009 h 432048"/>
              <a:gd name="connsiteX8" fmla="*/ 2762308 w 2762308"/>
              <a:gd name="connsiteY8" fmla="*/ 360039 h 432048"/>
              <a:gd name="connsiteX9" fmla="*/ 2690299 w 2762308"/>
              <a:gd name="connsiteY9" fmla="*/ 432048 h 432048"/>
              <a:gd name="connsiteX10" fmla="*/ 2166641 w 2762308"/>
              <a:gd name="connsiteY10" fmla="*/ 432048 h 432048"/>
              <a:gd name="connsiteX11" fmla="*/ 1669166 w 2762308"/>
              <a:gd name="connsiteY11" fmla="*/ 432048 h 432048"/>
              <a:gd name="connsiteX12" fmla="*/ 1093142 w 2762308"/>
              <a:gd name="connsiteY12" fmla="*/ 432048 h 432048"/>
              <a:gd name="connsiteX13" fmla="*/ 517118 w 2762308"/>
              <a:gd name="connsiteY13" fmla="*/ 432048 h 432048"/>
              <a:gd name="connsiteX14" fmla="*/ 72009 w 2762308"/>
              <a:gd name="connsiteY14" fmla="*/ 432048 h 432048"/>
              <a:gd name="connsiteX15" fmla="*/ 0 w 2762308"/>
              <a:gd name="connsiteY15" fmla="*/ 360039 h 432048"/>
              <a:gd name="connsiteX16" fmla="*/ 0 w 2762308"/>
              <a:gd name="connsiteY16" fmla="*/ 72009 h 432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62308" h="432048" extrusionOk="0">
                <a:moveTo>
                  <a:pt x="0" y="72009"/>
                </a:moveTo>
                <a:cubicBezTo>
                  <a:pt x="-1712" y="31184"/>
                  <a:pt x="24086" y="3061"/>
                  <a:pt x="72009" y="0"/>
                </a:cubicBezTo>
                <a:cubicBezTo>
                  <a:pt x="349971" y="-9661"/>
                  <a:pt x="482379" y="21041"/>
                  <a:pt x="648033" y="0"/>
                </a:cubicBezTo>
                <a:cubicBezTo>
                  <a:pt x="813687" y="-21041"/>
                  <a:pt x="1015297" y="57299"/>
                  <a:pt x="1145508" y="0"/>
                </a:cubicBezTo>
                <a:cubicBezTo>
                  <a:pt x="1275719" y="-57299"/>
                  <a:pt x="1466822" y="45471"/>
                  <a:pt x="1616800" y="0"/>
                </a:cubicBezTo>
                <a:cubicBezTo>
                  <a:pt x="1766778" y="-45471"/>
                  <a:pt x="1968996" y="17577"/>
                  <a:pt x="2166641" y="0"/>
                </a:cubicBezTo>
                <a:cubicBezTo>
                  <a:pt x="2364286" y="-17577"/>
                  <a:pt x="2454977" y="39756"/>
                  <a:pt x="2690299" y="0"/>
                </a:cubicBezTo>
                <a:cubicBezTo>
                  <a:pt x="2732784" y="-4420"/>
                  <a:pt x="2757162" y="36762"/>
                  <a:pt x="2762308" y="72009"/>
                </a:cubicBezTo>
                <a:cubicBezTo>
                  <a:pt x="2776506" y="132060"/>
                  <a:pt x="2744202" y="219757"/>
                  <a:pt x="2762308" y="360039"/>
                </a:cubicBezTo>
                <a:cubicBezTo>
                  <a:pt x="2769471" y="401530"/>
                  <a:pt x="2724751" y="431188"/>
                  <a:pt x="2690299" y="432048"/>
                </a:cubicBezTo>
                <a:cubicBezTo>
                  <a:pt x="2573192" y="494734"/>
                  <a:pt x="2416575" y="407244"/>
                  <a:pt x="2166641" y="432048"/>
                </a:cubicBezTo>
                <a:cubicBezTo>
                  <a:pt x="1916707" y="456852"/>
                  <a:pt x="1848618" y="400778"/>
                  <a:pt x="1669166" y="432048"/>
                </a:cubicBezTo>
                <a:cubicBezTo>
                  <a:pt x="1489715" y="463318"/>
                  <a:pt x="1243850" y="413290"/>
                  <a:pt x="1093142" y="432048"/>
                </a:cubicBezTo>
                <a:cubicBezTo>
                  <a:pt x="942434" y="450806"/>
                  <a:pt x="638995" y="381522"/>
                  <a:pt x="517118" y="432048"/>
                </a:cubicBezTo>
                <a:cubicBezTo>
                  <a:pt x="395241" y="482574"/>
                  <a:pt x="202289" y="405381"/>
                  <a:pt x="72009" y="432048"/>
                </a:cubicBezTo>
                <a:cubicBezTo>
                  <a:pt x="26789" y="426912"/>
                  <a:pt x="-1205" y="398007"/>
                  <a:pt x="0" y="360039"/>
                </a:cubicBezTo>
                <a:cubicBezTo>
                  <a:pt x="-133" y="223543"/>
                  <a:pt x="24264" y="204852"/>
                  <a:pt x="0" y="72009"/>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A4B2236D-FFE5-4181-B21B-4C67C08E1D33}"/>
              </a:ext>
            </a:extLst>
          </p:cNvPr>
          <p:cNvSpPr/>
          <p:nvPr/>
        </p:nvSpPr>
        <p:spPr>
          <a:xfrm>
            <a:off x="5159896" y="3514896"/>
            <a:ext cx="1008112" cy="346152"/>
          </a:xfrm>
          <a:custGeom>
            <a:avLst/>
            <a:gdLst>
              <a:gd name="connsiteX0" fmla="*/ 0 w 1008112"/>
              <a:gd name="connsiteY0" fmla="*/ 57693 h 346152"/>
              <a:gd name="connsiteX1" fmla="*/ 57693 w 1008112"/>
              <a:gd name="connsiteY1" fmla="*/ 0 h 346152"/>
              <a:gd name="connsiteX2" fmla="*/ 521911 w 1008112"/>
              <a:gd name="connsiteY2" fmla="*/ 0 h 346152"/>
              <a:gd name="connsiteX3" fmla="*/ 950419 w 1008112"/>
              <a:gd name="connsiteY3" fmla="*/ 0 h 346152"/>
              <a:gd name="connsiteX4" fmla="*/ 1008112 w 1008112"/>
              <a:gd name="connsiteY4" fmla="*/ 57693 h 346152"/>
              <a:gd name="connsiteX5" fmla="*/ 1008112 w 1008112"/>
              <a:gd name="connsiteY5" fmla="*/ 288459 h 346152"/>
              <a:gd name="connsiteX6" fmla="*/ 950419 w 1008112"/>
              <a:gd name="connsiteY6" fmla="*/ 346152 h 346152"/>
              <a:gd name="connsiteX7" fmla="*/ 504056 w 1008112"/>
              <a:gd name="connsiteY7" fmla="*/ 346152 h 346152"/>
              <a:gd name="connsiteX8" fmla="*/ 57693 w 1008112"/>
              <a:gd name="connsiteY8" fmla="*/ 346152 h 346152"/>
              <a:gd name="connsiteX9" fmla="*/ 0 w 1008112"/>
              <a:gd name="connsiteY9" fmla="*/ 288459 h 346152"/>
              <a:gd name="connsiteX10" fmla="*/ 0 w 1008112"/>
              <a:gd name="connsiteY10" fmla="*/ 57693 h 34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8112" h="346152" extrusionOk="0">
                <a:moveTo>
                  <a:pt x="0" y="57693"/>
                </a:moveTo>
                <a:cubicBezTo>
                  <a:pt x="-8129" y="20816"/>
                  <a:pt x="18869" y="2613"/>
                  <a:pt x="57693" y="0"/>
                </a:cubicBezTo>
                <a:cubicBezTo>
                  <a:pt x="275096" y="-12411"/>
                  <a:pt x="422149" y="21494"/>
                  <a:pt x="521911" y="0"/>
                </a:cubicBezTo>
                <a:cubicBezTo>
                  <a:pt x="621673" y="-21494"/>
                  <a:pt x="858399" y="51034"/>
                  <a:pt x="950419" y="0"/>
                </a:cubicBezTo>
                <a:cubicBezTo>
                  <a:pt x="979288" y="-1638"/>
                  <a:pt x="1016110" y="29651"/>
                  <a:pt x="1008112" y="57693"/>
                </a:cubicBezTo>
                <a:cubicBezTo>
                  <a:pt x="1013979" y="108441"/>
                  <a:pt x="1001783" y="234658"/>
                  <a:pt x="1008112" y="288459"/>
                </a:cubicBezTo>
                <a:cubicBezTo>
                  <a:pt x="1009411" y="318207"/>
                  <a:pt x="981135" y="347160"/>
                  <a:pt x="950419" y="346152"/>
                </a:cubicBezTo>
                <a:cubicBezTo>
                  <a:pt x="851126" y="375204"/>
                  <a:pt x="687090" y="301985"/>
                  <a:pt x="504056" y="346152"/>
                </a:cubicBezTo>
                <a:cubicBezTo>
                  <a:pt x="321022" y="390319"/>
                  <a:pt x="154778" y="293373"/>
                  <a:pt x="57693" y="346152"/>
                </a:cubicBezTo>
                <a:cubicBezTo>
                  <a:pt x="22583" y="345966"/>
                  <a:pt x="2301" y="314013"/>
                  <a:pt x="0" y="288459"/>
                </a:cubicBezTo>
                <a:cubicBezTo>
                  <a:pt x="-15267" y="181852"/>
                  <a:pt x="17969" y="171280"/>
                  <a:pt x="0" y="57693"/>
                </a:cubicBezTo>
                <a:close/>
              </a:path>
            </a:pathLst>
          </a:custGeom>
          <a:noFill/>
          <a:ln w="63500">
            <a:solidFill>
              <a:srgbClr val="00B050">
                <a:alpha val="50000"/>
              </a:srgb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971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12A2-1D8E-4E2C-8D22-DE84C4E32528}"/>
              </a:ext>
            </a:extLst>
          </p:cNvPr>
          <p:cNvSpPr>
            <a:spLocks noGrp="1"/>
          </p:cNvSpPr>
          <p:nvPr>
            <p:ph type="title"/>
          </p:nvPr>
        </p:nvSpPr>
        <p:spPr/>
        <p:txBody>
          <a:bodyPr/>
          <a:lstStyle/>
          <a:p>
            <a:r>
              <a:rPr lang="en-US" dirty="0"/>
              <a:t>Multiple measures</a:t>
            </a:r>
            <a:endParaRPr lang="en-GB" dirty="0"/>
          </a:p>
        </p:txBody>
      </p:sp>
      <p:sp>
        <p:nvSpPr>
          <p:cNvPr id="3" name="Content Placeholder 2">
            <a:extLst>
              <a:ext uri="{FF2B5EF4-FFF2-40B4-BE49-F238E27FC236}">
                <a16:creationId xmlns:a16="http://schemas.microsoft.com/office/drawing/2014/main" id="{5F92E442-976A-437A-AFD1-6F55485A37FB}"/>
              </a:ext>
            </a:extLst>
          </p:cNvPr>
          <p:cNvSpPr>
            <a:spLocks noGrp="1"/>
          </p:cNvSpPr>
          <p:nvPr>
            <p:ph idx="1"/>
          </p:nvPr>
        </p:nvSpPr>
        <p:spPr>
          <a:xfrm>
            <a:off x="849029" y="1484784"/>
            <a:ext cx="10515600" cy="4351338"/>
          </a:xfrm>
        </p:spPr>
        <p:txBody>
          <a:bodyPr>
            <a:normAutofit/>
          </a:bodyPr>
          <a:lstStyle/>
          <a:p>
            <a:r>
              <a:rPr lang="en-US" sz="1800" dirty="0"/>
              <a:t>Equivalent to combining series with the same dimensionality into one</a:t>
            </a:r>
          </a:p>
          <a:p>
            <a:r>
              <a:rPr lang="en-US" sz="1800" dirty="0"/>
              <a:t>No need to pivot using a ‘special’ Dimension</a:t>
            </a:r>
          </a:p>
          <a:p>
            <a:r>
              <a:rPr lang="en-US" sz="1800" dirty="0"/>
              <a:t>Natively aligns to VTL dataset</a:t>
            </a:r>
          </a:p>
          <a:p>
            <a:r>
              <a:rPr lang="en-US" sz="1800" dirty="0"/>
              <a:t>Flexible definition</a:t>
            </a:r>
          </a:p>
          <a:p>
            <a:pPr lvl="1"/>
            <a:r>
              <a:rPr lang="en-US" sz="1600" dirty="0"/>
              <a:t>Independently specified representation</a:t>
            </a:r>
          </a:p>
          <a:p>
            <a:pPr lvl="1"/>
            <a:r>
              <a:rPr lang="en-US" sz="1600" dirty="0"/>
              <a:t>Independently defined Concept</a:t>
            </a:r>
          </a:p>
          <a:p>
            <a:pPr lvl="1"/>
            <a:r>
              <a:rPr lang="en-US" sz="1600" dirty="0"/>
              <a:t>May have roles</a:t>
            </a:r>
          </a:p>
          <a:p>
            <a:pPr lvl="1"/>
            <a:r>
              <a:rPr lang="en-US" sz="1600" dirty="0"/>
              <a:t>May be explicitly assigned Attributes</a:t>
            </a:r>
          </a:p>
          <a:p>
            <a:endParaRPr lang="en-US" sz="1800" dirty="0"/>
          </a:p>
          <a:p>
            <a:endParaRPr lang="en-GB" sz="1800" dirty="0"/>
          </a:p>
        </p:txBody>
      </p:sp>
      <p:sp>
        <p:nvSpPr>
          <p:cNvPr id="4" name="Slide Number Placeholder 3">
            <a:extLst>
              <a:ext uri="{FF2B5EF4-FFF2-40B4-BE49-F238E27FC236}">
                <a16:creationId xmlns:a16="http://schemas.microsoft.com/office/drawing/2014/main" id="{BA7D81BF-4C69-451A-A983-1152656393EE}"/>
              </a:ext>
            </a:extLst>
          </p:cNvPr>
          <p:cNvSpPr>
            <a:spLocks noGrp="1"/>
          </p:cNvSpPr>
          <p:nvPr>
            <p:ph type="sldNum" sz="quarter" idx="12"/>
          </p:nvPr>
        </p:nvSpPr>
        <p:spPr/>
        <p:txBody>
          <a:bodyPr/>
          <a:lstStyle/>
          <a:p>
            <a:fld id="{E358E709-A26E-433C-9FB4-EDC6104FF2C5}" type="slidenum">
              <a:rPr lang="en-US" smtClean="0"/>
              <a:t>8</a:t>
            </a:fld>
            <a:endParaRPr lang="en-US"/>
          </a:p>
        </p:txBody>
      </p:sp>
    </p:spTree>
    <p:extLst>
      <p:ext uri="{BB962C8B-B14F-4D97-AF65-F5344CB8AC3E}">
        <p14:creationId xmlns:p14="http://schemas.microsoft.com/office/powerpoint/2010/main" val="1013690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8E41E-B7FA-467F-8044-16DFEB22300E}"/>
              </a:ext>
            </a:extLst>
          </p:cNvPr>
          <p:cNvSpPr>
            <a:spLocks noGrp="1"/>
          </p:cNvSpPr>
          <p:nvPr>
            <p:ph type="title"/>
          </p:nvPr>
        </p:nvSpPr>
        <p:spPr/>
        <p:txBody>
          <a:bodyPr/>
          <a:lstStyle/>
          <a:p>
            <a:r>
              <a:rPr lang="en-US" dirty="0"/>
              <a:t>Arrays and new Facets</a:t>
            </a:r>
            <a:endParaRPr lang="en-GB" dirty="0"/>
          </a:p>
        </p:txBody>
      </p:sp>
      <p:sp>
        <p:nvSpPr>
          <p:cNvPr id="3" name="Content Placeholder 2">
            <a:extLst>
              <a:ext uri="{FF2B5EF4-FFF2-40B4-BE49-F238E27FC236}">
                <a16:creationId xmlns:a16="http://schemas.microsoft.com/office/drawing/2014/main" id="{9CF63EEB-1FB1-4CF0-9CD9-4F83B6B658E9}"/>
              </a:ext>
            </a:extLst>
          </p:cNvPr>
          <p:cNvSpPr>
            <a:spLocks noGrp="1"/>
          </p:cNvSpPr>
          <p:nvPr>
            <p:ph idx="1"/>
          </p:nvPr>
        </p:nvSpPr>
        <p:spPr>
          <a:xfrm>
            <a:off x="838200" y="1484784"/>
            <a:ext cx="10515600" cy="2952328"/>
          </a:xfrm>
        </p:spPr>
        <p:txBody>
          <a:bodyPr>
            <a:normAutofit/>
          </a:bodyPr>
          <a:lstStyle/>
          <a:p>
            <a:r>
              <a:rPr lang="en-US" sz="1800" dirty="0"/>
              <a:t>Arrays: Any Attribute or Measures may:</a:t>
            </a:r>
          </a:p>
          <a:p>
            <a:pPr lvl="1"/>
            <a:r>
              <a:rPr lang="en-US" sz="1600" dirty="0"/>
              <a:t>Specify minimum and/or maximum number of occurrences</a:t>
            </a:r>
          </a:p>
          <a:p>
            <a:pPr lvl="1"/>
            <a:r>
              <a:rPr lang="en-US" sz="1600" dirty="0"/>
              <a:t>Maximum may be unbounded</a:t>
            </a:r>
          </a:p>
          <a:p>
            <a:r>
              <a:rPr lang="en-US" sz="1800" dirty="0"/>
              <a:t>Multilingualism support: Uncoded Attributes and Measures may:</a:t>
            </a:r>
          </a:p>
          <a:p>
            <a:pPr lvl="1"/>
            <a:r>
              <a:rPr lang="en-US" sz="1600" dirty="0"/>
              <a:t>Report their value in many languages, accompanied by a locale</a:t>
            </a:r>
          </a:p>
          <a:p>
            <a:r>
              <a:rPr lang="en-US" sz="1800" dirty="0"/>
              <a:t>Sentinel Values: Uncoded Attributes and Measures may:</a:t>
            </a:r>
          </a:p>
          <a:p>
            <a:pPr lvl="1"/>
            <a:r>
              <a:rPr lang="en-US" sz="1600" dirty="0"/>
              <a:t>Specify values, within their data type, with special meaning</a:t>
            </a:r>
          </a:p>
          <a:p>
            <a:pPr lvl="1"/>
            <a:r>
              <a:rPr lang="en-US" sz="1600" dirty="0"/>
              <a:t>Assign multilingual names to explain those special values</a:t>
            </a:r>
          </a:p>
          <a:p>
            <a:endParaRPr lang="en-GB" sz="1800" dirty="0"/>
          </a:p>
        </p:txBody>
      </p:sp>
      <p:sp>
        <p:nvSpPr>
          <p:cNvPr id="4" name="Slide Number Placeholder 3">
            <a:extLst>
              <a:ext uri="{FF2B5EF4-FFF2-40B4-BE49-F238E27FC236}">
                <a16:creationId xmlns:a16="http://schemas.microsoft.com/office/drawing/2014/main" id="{0C9953E9-44B2-4A0D-A91D-863A0D44F741}"/>
              </a:ext>
            </a:extLst>
          </p:cNvPr>
          <p:cNvSpPr>
            <a:spLocks noGrp="1"/>
          </p:cNvSpPr>
          <p:nvPr>
            <p:ph type="sldNum" sz="quarter" idx="12"/>
          </p:nvPr>
        </p:nvSpPr>
        <p:spPr/>
        <p:txBody>
          <a:bodyPr/>
          <a:lstStyle/>
          <a:p>
            <a:fld id="{E358E709-A26E-433C-9FB4-EDC6104FF2C5}" type="slidenum">
              <a:rPr lang="en-US" smtClean="0"/>
              <a:t>9</a:t>
            </a:fld>
            <a:endParaRPr lang="en-US"/>
          </a:p>
        </p:txBody>
      </p:sp>
    </p:spTree>
    <p:extLst>
      <p:ext uri="{BB962C8B-B14F-4D97-AF65-F5344CB8AC3E}">
        <p14:creationId xmlns:p14="http://schemas.microsoft.com/office/powerpoint/2010/main" val="357875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DE240-93CF-64DF-0C6F-D755AEDA2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02BA8-2C81-94A2-8F4E-E3E88041506C}"/>
              </a:ext>
            </a:extLst>
          </p:cNvPr>
          <p:cNvSpPr>
            <a:spLocks noGrp="1"/>
          </p:cNvSpPr>
          <p:nvPr>
            <p:ph type="title"/>
          </p:nvPr>
        </p:nvSpPr>
        <p:spPr/>
        <p:txBody>
          <a:bodyPr/>
          <a:lstStyle/>
          <a:p>
            <a:r>
              <a:rPr lang="en-US" dirty="0"/>
              <a:t>Support for geospatial information </a:t>
            </a:r>
            <a:endParaRPr lang="en-GB" dirty="0"/>
          </a:p>
        </p:txBody>
      </p:sp>
      <p:sp>
        <p:nvSpPr>
          <p:cNvPr id="3" name="Content Placeholder 2">
            <a:extLst>
              <a:ext uri="{FF2B5EF4-FFF2-40B4-BE49-F238E27FC236}">
                <a16:creationId xmlns:a16="http://schemas.microsoft.com/office/drawing/2014/main" id="{3FA788CE-13EB-F077-9367-4714A9CABAD1}"/>
              </a:ext>
            </a:extLst>
          </p:cNvPr>
          <p:cNvSpPr>
            <a:spLocks noGrp="1"/>
          </p:cNvSpPr>
          <p:nvPr>
            <p:ph idx="1"/>
          </p:nvPr>
        </p:nvSpPr>
        <p:spPr>
          <a:xfrm>
            <a:off x="838200" y="1484784"/>
            <a:ext cx="9290248" cy="3672408"/>
          </a:xfrm>
        </p:spPr>
        <p:txBody>
          <a:bodyPr>
            <a:normAutofit/>
          </a:bodyPr>
          <a:lstStyle/>
          <a:p>
            <a:r>
              <a:rPr lang="en-GB" sz="2000" dirty="0"/>
              <a:t>Indirect Reference to Geospatial Information. </a:t>
            </a:r>
          </a:p>
          <a:p>
            <a:pPr lvl="1"/>
            <a:r>
              <a:rPr lang="en-GB" sz="1600" dirty="0"/>
              <a:t>Linking external files with geospatial information</a:t>
            </a:r>
          </a:p>
          <a:p>
            <a:pPr lvl="1"/>
            <a:r>
              <a:rPr lang="en-GB" sz="1600" dirty="0"/>
              <a:t>Backwards compatible approach</a:t>
            </a:r>
          </a:p>
          <a:p>
            <a:pPr lvl="1"/>
            <a:r>
              <a:rPr lang="en-GB" sz="1600" dirty="0"/>
              <a:t>Intended to connect dissemination systems for making use of external tools, like GIS software</a:t>
            </a:r>
          </a:p>
          <a:p>
            <a:r>
              <a:rPr lang="en-GB" sz="2000" dirty="0">
                <a:solidFill>
                  <a:srgbClr val="FF0000"/>
                </a:solidFill>
              </a:rPr>
              <a:t>Geographic Coordinates. </a:t>
            </a:r>
          </a:p>
          <a:p>
            <a:pPr lvl="1"/>
            <a:r>
              <a:rPr lang="en-GB" sz="1600" dirty="0">
                <a:solidFill>
                  <a:srgbClr val="FF0000"/>
                </a:solidFill>
              </a:rPr>
              <a:t>Including geospatial coordinates</a:t>
            </a:r>
          </a:p>
          <a:p>
            <a:pPr lvl="1"/>
            <a:r>
              <a:rPr lang="en-GB" sz="1600" dirty="0">
                <a:solidFill>
                  <a:srgbClr val="FF0000"/>
                </a:solidFill>
              </a:rPr>
              <a:t>Suitable to </a:t>
            </a:r>
            <a:r>
              <a:rPr lang="en-GB" sz="1600" dirty="0" err="1">
                <a:solidFill>
                  <a:srgbClr val="FF0000"/>
                </a:solidFill>
              </a:rPr>
              <a:t>georeference</a:t>
            </a:r>
            <a:r>
              <a:rPr lang="en-GB" sz="1600" dirty="0">
                <a:solidFill>
                  <a:srgbClr val="FF0000"/>
                </a:solidFill>
              </a:rPr>
              <a:t> any kind of statistical information, especially microdata</a:t>
            </a:r>
          </a:p>
          <a:p>
            <a:r>
              <a:rPr lang="en-GB" sz="2000" dirty="0"/>
              <a:t>Geographic Code lists. </a:t>
            </a:r>
          </a:p>
          <a:p>
            <a:pPr lvl="1"/>
            <a:r>
              <a:rPr lang="en-GB" sz="1600" dirty="0"/>
              <a:t>Making use of a special type of Code lists which includes geospatial information</a:t>
            </a:r>
          </a:p>
          <a:p>
            <a:pPr lvl="1"/>
            <a:r>
              <a:rPr lang="en-GB" sz="1600" dirty="0"/>
              <a:t>Can be used to represent coded geographies in both, dimensions and attributes which can have a “Geospatial” role.</a:t>
            </a:r>
          </a:p>
          <a:p>
            <a:endParaRPr lang="en-GB" sz="2000" dirty="0"/>
          </a:p>
        </p:txBody>
      </p:sp>
      <p:sp>
        <p:nvSpPr>
          <p:cNvPr id="4" name="Slide Number Placeholder 3">
            <a:extLst>
              <a:ext uri="{FF2B5EF4-FFF2-40B4-BE49-F238E27FC236}">
                <a16:creationId xmlns:a16="http://schemas.microsoft.com/office/drawing/2014/main" id="{94FDC6E2-A0E8-C115-0D87-8058A123B05F}"/>
              </a:ext>
            </a:extLst>
          </p:cNvPr>
          <p:cNvSpPr>
            <a:spLocks noGrp="1"/>
          </p:cNvSpPr>
          <p:nvPr>
            <p:ph type="sldNum" sz="quarter" idx="12"/>
          </p:nvPr>
        </p:nvSpPr>
        <p:spPr/>
        <p:txBody>
          <a:bodyPr/>
          <a:lstStyle/>
          <a:p>
            <a:fld id="{E358E709-A26E-433C-9FB4-EDC6104FF2C5}" type="slidenum">
              <a:rPr lang="en-US" smtClean="0"/>
              <a:t>10</a:t>
            </a:fld>
            <a:endParaRPr lang="en-US"/>
          </a:p>
        </p:txBody>
      </p:sp>
    </p:spTree>
    <p:extLst>
      <p:ext uri="{BB962C8B-B14F-4D97-AF65-F5344CB8AC3E}">
        <p14:creationId xmlns:p14="http://schemas.microsoft.com/office/powerpoint/2010/main" val="4202838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6CBA-A908-312D-5B10-ED038432F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E2174-27E3-9347-EACE-68C47846B8B2}"/>
              </a:ext>
            </a:extLst>
          </p:cNvPr>
          <p:cNvSpPr>
            <a:spLocks noGrp="1"/>
          </p:cNvSpPr>
          <p:nvPr>
            <p:ph type="title"/>
          </p:nvPr>
        </p:nvSpPr>
        <p:spPr/>
        <p:txBody>
          <a:bodyPr/>
          <a:lstStyle/>
          <a:p>
            <a:r>
              <a:rPr lang="en-US" dirty="0"/>
              <a:t>Reorganizing constraints</a:t>
            </a:r>
            <a:endParaRPr lang="en-GB" dirty="0"/>
          </a:p>
        </p:txBody>
      </p:sp>
      <p:sp>
        <p:nvSpPr>
          <p:cNvPr id="3" name="Content Placeholder 2">
            <a:extLst>
              <a:ext uri="{FF2B5EF4-FFF2-40B4-BE49-F238E27FC236}">
                <a16:creationId xmlns:a16="http://schemas.microsoft.com/office/drawing/2014/main" id="{87EF80B6-BC0B-D0F3-81F6-5137817F98CB}"/>
              </a:ext>
            </a:extLst>
          </p:cNvPr>
          <p:cNvSpPr>
            <a:spLocks noGrp="1"/>
          </p:cNvSpPr>
          <p:nvPr>
            <p:ph idx="1"/>
          </p:nvPr>
        </p:nvSpPr>
        <p:spPr>
          <a:xfrm>
            <a:off x="838200" y="1484784"/>
            <a:ext cx="10515600" cy="4608512"/>
          </a:xfrm>
        </p:spPr>
        <p:txBody>
          <a:bodyPr>
            <a:normAutofit/>
          </a:bodyPr>
          <a:lstStyle/>
          <a:p>
            <a:r>
              <a:rPr lang="en-GB" sz="1600" dirty="0"/>
              <a:t>Change 1: </a:t>
            </a:r>
            <a:r>
              <a:rPr lang="en-GB" sz="1600" dirty="0" err="1"/>
              <a:t>AttachmentConstraints</a:t>
            </a:r>
            <a:r>
              <a:rPr lang="en-GB" sz="1600" dirty="0"/>
              <a:t> are deprecated, due to the lack of use cases.</a:t>
            </a:r>
          </a:p>
          <a:p>
            <a:r>
              <a:rPr lang="en-GB" sz="1600" dirty="0"/>
              <a:t>Change 2: The semantic split of </a:t>
            </a:r>
            <a:r>
              <a:rPr lang="en-GB" sz="1600" dirty="0" err="1"/>
              <a:t>ContentConstraint</a:t>
            </a:r>
            <a:r>
              <a:rPr lang="en-GB" sz="1600" dirty="0"/>
              <a:t> is removed. </a:t>
            </a:r>
            <a:r>
              <a:rPr lang="en-GB" sz="1600" dirty="0" err="1"/>
              <a:t>ActualConstraints</a:t>
            </a:r>
            <a:r>
              <a:rPr lang="en-GB" sz="1600" dirty="0"/>
              <a:t> are replaced by the use of the data availability queries.</a:t>
            </a:r>
          </a:p>
          <a:p>
            <a:r>
              <a:rPr lang="en-GB" sz="1600" dirty="0"/>
              <a:t>Change 3: Split the </a:t>
            </a:r>
            <a:r>
              <a:rPr lang="en-GB" sz="1600" dirty="0" err="1"/>
              <a:t>ContentConstraint</a:t>
            </a:r>
            <a:r>
              <a:rPr lang="en-GB" sz="1600" dirty="0"/>
              <a:t> into </a:t>
            </a:r>
            <a:r>
              <a:rPr lang="en-GB" sz="1600" dirty="0" err="1"/>
              <a:t>DataConstraint</a:t>
            </a:r>
            <a:r>
              <a:rPr lang="en-GB" sz="1600" dirty="0"/>
              <a:t> and </a:t>
            </a:r>
            <a:r>
              <a:rPr lang="en-GB" sz="1600" dirty="0" err="1"/>
              <a:t>MetadataConstraint</a:t>
            </a:r>
            <a:r>
              <a:rPr lang="en-GB" sz="1600" dirty="0"/>
              <a:t> as there are two different target groups for constrains (data and metadata)</a:t>
            </a:r>
          </a:p>
          <a:p>
            <a:r>
              <a:rPr lang="en-GB" sz="1600" dirty="0"/>
              <a:t>Change 4: Simplify the metadata related cube region to reflect the changes in the new MSDs. </a:t>
            </a:r>
          </a:p>
          <a:p>
            <a:r>
              <a:rPr lang="en-GB" sz="1600" dirty="0"/>
              <a:t>Change 5: Move the validity period from the Constraint to the constraining terms (</a:t>
            </a:r>
            <a:r>
              <a:rPr lang="en-GB" sz="1600" dirty="0" err="1"/>
              <a:t>CubeRegion</a:t>
            </a:r>
            <a:r>
              <a:rPr lang="en-GB" sz="1600" dirty="0"/>
              <a:t>, </a:t>
            </a:r>
            <a:r>
              <a:rPr lang="en-GB" sz="1600" dirty="0" err="1"/>
              <a:t>DataKeySet</a:t>
            </a:r>
            <a:r>
              <a:rPr lang="en-GB" sz="1600" dirty="0"/>
              <a:t> and </a:t>
            </a:r>
            <a:r>
              <a:rPr lang="en-GB" sz="1600" dirty="0" err="1"/>
              <a:t>MetadataTargetRegion</a:t>
            </a:r>
            <a:r>
              <a:rPr lang="en-GB" sz="1600" dirty="0"/>
              <a:t>). </a:t>
            </a:r>
          </a:p>
          <a:p>
            <a:r>
              <a:rPr lang="en-GB" sz="1600" dirty="0"/>
              <a:t>Change 6: Consider latest stable versions of Constraints per Constrainable artefact as effective Constraints.</a:t>
            </a:r>
          </a:p>
          <a:p>
            <a:r>
              <a:rPr lang="en-GB" sz="1800" dirty="0">
                <a:solidFill>
                  <a:srgbClr val="FF0000"/>
                </a:solidFill>
              </a:rPr>
              <a:t>Change 7: Attributes to be allowed in </a:t>
            </a:r>
            <a:r>
              <a:rPr lang="en-GB" sz="1800" dirty="0" err="1">
                <a:solidFill>
                  <a:srgbClr val="FF0000"/>
                </a:solidFill>
              </a:rPr>
              <a:t>DataKeySets</a:t>
            </a:r>
            <a:r>
              <a:rPr lang="en-GB" sz="1800" dirty="0">
                <a:solidFill>
                  <a:srgbClr val="FF0000"/>
                </a:solidFill>
              </a:rPr>
              <a:t>, within each </a:t>
            </a:r>
            <a:r>
              <a:rPr lang="en-GB" sz="1800" dirty="0" err="1">
                <a:solidFill>
                  <a:srgbClr val="FF0000"/>
                </a:solidFill>
              </a:rPr>
              <a:t>KeySet</a:t>
            </a:r>
            <a:r>
              <a:rPr lang="en-GB" sz="1800" dirty="0">
                <a:solidFill>
                  <a:srgbClr val="FF0000"/>
                </a:solidFill>
              </a:rPr>
              <a:t>.</a:t>
            </a:r>
          </a:p>
          <a:p>
            <a:r>
              <a:rPr lang="en-GB" sz="1800" dirty="0">
                <a:solidFill>
                  <a:srgbClr val="FF0000"/>
                </a:solidFill>
              </a:rPr>
              <a:t>Change 8: Allow using the character “%” to wildcard any character(s), either to the right of a specified prefix, or any other part of a Value, and include all items matching that pattern.</a:t>
            </a:r>
          </a:p>
          <a:p>
            <a:r>
              <a:rPr lang="en-GB" sz="1800" dirty="0">
                <a:solidFill>
                  <a:srgbClr val="FF0000"/>
                </a:solidFill>
              </a:rPr>
              <a:t>Change 9: Allow excluding the root Code when using cascading.</a:t>
            </a:r>
          </a:p>
        </p:txBody>
      </p:sp>
      <p:sp>
        <p:nvSpPr>
          <p:cNvPr id="4" name="Slide Number Placeholder 3">
            <a:extLst>
              <a:ext uri="{FF2B5EF4-FFF2-40B4-BE49-F238E27FC236}">
                <a16:creationId xmlns:a16="http://schemas.microsoft.com/office/drawing/2014/main" id="{355AA52B-6554-7B70-3C61-7CEB5E19ADDB}"/>
              </a:ext>
            </a:extLst>
          </p:cNvPr>
          <p:cNvSpPr>
            <a:spLocks noGrp="1"/>
          </p:cNvSpPr>
          <p:nvPr>
            <p:ph type="sldNum" sz="quarter" idx="12"/>
          </p:nvPr>
        </p:nvSpPr>
        <p:spPr/>
        <p:txBody>
          <a:bodyPr/>
          <a:lstStyle/>
          <a:p>
            <a:fld id="{E358E709-A26E-433C-9FB4-EDC6104FF2C5}" type="slidenum">
              <a:rPr lang="en-US" smtClean="0"/>
              <a:t>11</a:t>
            </a:fld>
            <a:endParaRPr lang="en-US"/>
          </a:p>
        </p:txBody>
      </p:sp>
    </p:spTree>
    <p:extLst>
      <p:ext uri="{BB962C8B-B14F-4D97-AF65-F5344CB8AC3E}">
        <p14:creationId xmlns:p14="http://schemas.microsoft.com/office/powerpoint/2010/main" val="87479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E9821-C588-8EE3-5E9A-1B7C6E157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CD057-4574-12DC-9627-526D8DCFDC33}"/>
              </a:ext>
            </a:extLst>
          </p:cNvPr>
          <p:cNvSpPr>
            <a:spLocks noGrp="1"/>
          </p:cNvSpPr>
          <p:nvPr>
            <p:ph type="title"/>
          </p:nvPr>
        </p:nvSpPr>
        <p:spPr/>
        <p:txBody>
          <a:bodyPr/>
          <a:lstStyle/>
          <a:p>
            <a:r>
              <a:rPr lang="en-US" dirty="0"/>
              <a:t>Improved codelists' handling</a:t>
            </a:r>
          </a:p>
        </p:txBody>
      </p:sp>
      <p:sp>
        <p:nvSpPr>
          <p:cNvPr id="3" name="Content Placeholder 2">
            <a:extLst>
              <a:ext uri="{FF2B5EF4-FFF2-40B4-BE49-F238E27FC236}">
                <a16:creationId xmlns:a16="http://schemas.microsoft.com/office/drawing/2014/main" id="{B7A77DFA-F0A5-33FA-8C7F-72E55C166A52}"/>
              </a:ext>
            </a:extLst>
          </p:cNvPr>
          <p:cNvSpPr>
            <a:spLocks noGrp="1"/>
          </p:cNvSpPr>
          <p:nvPr>
            <p:ph idx="1"/>
          </p:nvPr>
        </p:nvSpPr>
        <p:spPr>
          <a:xfrm>
            <a:off x="838200" y="1484784"/>
            <a:ext cx="8786192" cy="3960440"/>
          </a:xfrm>
        </p:spPr>
        <p:txBody>
          <a:bodyPr>
            <a:normAutofit/>
          </a:bodyPr>
          <a:lstStyle/>
          <a:p>
            <a:r>
              <a:rPr lang="en-GB" sz="1800" dirty="0"/>
              <a:t>A Codelist can extend one or more Codelists.  </a:t>
            </a:r>
          </a:p>
          <a:p>
            <a:pPr lvl="1"/>
            <a:r>
              <a:rPr lang="en-GB" sz="1600" dirty="0"/>
              <a:t>Codelist extensions are defined as a list of references to parent Codelists. </a:t>
            </a:r>
          </a:p>
          <a:p>
            <a:r>
              <a:rPr lang="en-GB" sz="1800" dirty="0"/>
              <a:t>When two codelists have items with the same Id, the Codelist referenced later takes priority.</a:t>
            </a:r>
          </a:p>
          <a:p>
            <a:pPr lvl="1"/>
            <a:r>
              <a:rPr lang="en-GB" sz="1600" dirty="0"/>
              <a:t>The ‘sequence’ parameter may be used to establish the order that will be used when extending a Codelist</a:t>
            </a:r>
          </a:p>
          <a:p>
            <a:pPr lvl="1"/>
            <a:r>
              <a:rPr lang="en-GB" sz="1600" dirty="0"/>
              <a:t>As the extended Codelist may also include its own Codes, these take the ultimate priority over any extension Codelists. </a:t>
            </a:r>
          </a:p>
          <a:p>
            <a:pPr lvl="1"/>
            <a:r>
              <a:rPr lang="en-GB" sz="1600" dirty="0"/>
              <a:t>A reference to a Codelist may contain a prefix that will be applied to all the codes in the Codelist before they are imported into the extended Codelist. </a:t>
            </a:r>
            <a:endParaRPr lang="en-GB" sz="1800" dirty="0"/>
          </a:p>
          <a:p>
            <a:pPr lvl="1"/>
            <a:r>
              <a:rPr lang="en-GB" sz="1600" dirty="0"/>
              <a:t>An explicit list of item Ids may be provided for inclusion or exclusion.  </a:t>
            </a:r>
          </a:p>
          <a:p>
            <a:pPr lvl="2"/>
            <a:r>
              <a:rPr lang="en-GB" sz="1400" dirty="0"/>
              <a:t>May contain ‘wildcards’ using the same notation as Constraints (%).</a:t>
            </a:r>
          </a:p>
          <a:p>
            <a:pPr lvl="2"/>
            <a:r>
              <a:rPr lang="en-GB" sz="1400" dirty="0"/>
              <a:t>‘Cascading’ values is also supported using the same syntax as the Constraints. </a:t>
            </a:r>
          </a:p>
          <a:p>
            <a:pPr lvl="2"/>
            <a:r>
              <a:rPr lang="en-GB" sz="1400" dirty="0"/>
              <a:t>It is also possible to include children and exclude the Code by using ‘</a:t>
            </a:r>
            <a:r>
              <a:rPr lang="en-GB" sz="1400" dirty="0" err="1"/>
              <a:t>excluderoot</a:t>
            </a:r>
            <a:r>
              <a:rPr lang="en-GB" sz="1400" dirty="0"/>
              <a:t>’ </a:t>
            </a:r>
          </a:p>
          <a:p>
            <a:pPr lvl="2"/>
            <a:r>
              <a:rPr lang="en-GB" sz="1400" dirty="0"/>
              <a:t>Exclusion and inclusion is not supported against a single Codelist at the same time.</a:t>
            </a:r>
          </a:p>
          <a:p>
            <a:endParaRPr lang="en-GB" sz="1800" dirty="0"/>
          </a:p>
        </p:txBody>
      </p:sp>
      <p:sp>
        <p:nvSpPr>
          <p:cNvPr id="4" name="Slide Number Placeholder 3">
            <a:extLst>
              <a:ext uri="{FF2B5EF4-FFF2-40B4-BE49-F238E27FC236}">
                <a16:creationId xmlns:a16="http://schemas.microsoft.com/office/drawing/2014/main" id="{13311D9C-5DB9-5D5E-6DCB-9CF65A16BEBA}"/>
              </a:ext>
            </a:extLst>
          </p:cNvPr>
          <p:cNvSpPr>
            <a:spLocks noGrp="1"/>
          </p:cNvSpPr>
          <p:nvPr>
            <p:ph type="sldNum" sz="quarter" idx="12"/>
          </p:nvPr>
        </p:nvSpPr>
        <p:spPr/>
        <p:txBody>
          <a:bodyPr/>
          <a:lstStyle/>
          <a:p>
            <a:fld id="{E358E709-A26E-433C-9FB4-EDC6104FF2C5}" type="slidenum">
              <a:rPr lang="en-US" smtClean="0"/>
              <a:t>12</a:t>
            </a:fld>
            <a:endParaRPr lang="en-US"/>
          </a:p>
        </p:txBody>
      </p:sp>
    </p:spTree>
    <p:extLst>
      <p:ext uri="{BB962C8B-B14F-4D97-AF65-F5344CB8AC3E}">
        <p14:creationId xmlns:p14="http://schemas.microsoft.com/office/powerpoint/2010/main" val="2060907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7448" y="1542852"/>
            <a:ext cx="9001000" cy="3263504"/>
          </a:xfrm>
        </p:spPr>
        <p:txBody>
          <a:bodyPr>
            <a:noAutofit/>
          </a:bodyPr>
          <a:lstStyle/>
          <a:p>
            <a:r>
              <a:rPr lang="fr-CH" sz="1800" dirty="0"/>
              <a:t>Code </a:t>
            </a:r>
            <a:r>
              <a:rPr lang="fr-CH" sz="1800" dirty="0" err="1"/>
              <a:t>Lists</a:t>
            </a:r>
            <a:r>
              <a:rPr lang="fr-CH" sz="1800" dirty="0"/>
              <a:t> </a:t>
            </a:r>
            <a:r>
              <a:rPr lang="fr-CH" sz="1800" dirty="0" err="1"/>
              <a:t>representing</a:t>
            </a:r>
            <a:r>
              <a:rPr lang="fr-CH" sz="1800" dirty="0"/>
              <a:t> </a:t>
            </a:r>
            <a:r>
              <a:rPr lang="fr-CH" sz="1800" dirty="0" err="1"/>
              <a:t>categorical</a:t>
            </a:r>
            <a:r>
              <a:rPr lang="fr-CH" sz="1800" dirty="0"/>
              <a:t> variables </a:t>
            </a:r>
            <a:r>
              <a:rPr lang="fr-CH" sz="1800" dirty="0" err="1"/>
              <a:t>may</a:t>
            </a:r>
            <a:r>
              <a:rPr lang="fr-CH" sz="1800" dirty="0"/>
              <a:t> </a:t>
            </a:r>
            <a:r>
              <a:rPr lang="fr-CH" sz="1800" dirty="0" err="1"/>
              <a:t>frequently</a:t>
            </a:r>
            <a:r>
              <a:rPr lang="fr-CH" sz="1800" dirty="0"/>
              <a:t> </a:t>
            </a:r>
            <a:r>
              <a:rPr lang="fr-CH" sz="1800" dirty="0" err="1"/>
              <a:t>include</a:t>
            </a:r>
            <a:r>
              <a:rPr lang="fr-CH" sz="1800" dirty="0"/>
              <a:t> </a:t>
            </a:r>
            <a:r>
              <a:rPr lang="fr-CH" sz="1800" dirty="0" err="1"/>
              <a:t>several</a:t>
            </a:r>
            <a:r>
              <a:rPr lang="fr-CH" sz="1800" dirty="0"/>
              <a:t> variants of the classification. </a:t>
            </a:r>
          </a:p>
          <a:p>
            <a:pPr lvl="1"/>
            <a:r>
              <a:rPr lang="fr-CH" sz="1600" dirty="0"/>
              <a:t>For </a:t>
            </a:r>
            <a:r>
              <a:rPr lang="fr-CH" sz="1600" dirty="0" err="1"/>
              <a:t>example</a:t>
            </a:r>
            <a:r>
              <a:rPr lang="fr-CH" sz="1600" dirty="0"/>
              <a:t>, the standard classification of </a:t>
            </a:r>
            <a:r>
              <a:rPr lang="fr-CH" sz="1600" dirty="0" err="1"/>
              <a:t>economic</a:t>
            </a:r>
            <a:r>
              <a:rPr lang="fr-CH" sz="1600" dirty="0"/>
              <a:t> </a:t>
            </a:r>
            <a:r>
              <a:rPr lang="fr-CH" sz="1600" dirty="0" err="1"/>
              <a:t>activities</a:t>
            </a:r>
            <a:r>
              <a:rPr lang="fr-CH" sz="1600" dirty="0"/>
              <a:t> (ISIC) </a:t>
            </a:r>
            <a:r>
              <a:rPr lang="fr-CH" sz="1600" dirty="0" err="1"/>
              <a:t>includes</a:t>
            </a:r>
            <a:r>
              <a:rPr lang="fr-CH" sz="1600" dirty="0"/>
              <a:t> </a:t>
            </a:r>
            <a:r>
              <a:rPr lang="fr-CH" sz="1600" dirty="0" err="1"/>
              <a:t>several</a:t>
            </a:r>
            <a:r>
              <a:rPr lang="fr-CH" sz="1600" dirty="0"/>
              <a:t> </a:t>
            </a:r>
            <a:r>
              <a:rPr lang="fr-CH" sz="1600" dirty="0" err="1"/>
              <a:t>revisions</a:t>
            </a:r>
            <a:r>
              <a:rPr lang="fr-CH" sz="1600" dirty="0"/>
              <a:t>, plus </a:t>
            </a:r>
            <a:r>
              <a:rPr lang="fr-CH" sz="1600" dirty="0" err="1"/>
              <a:t>aggregations</a:t>
            </a:r>
            <a:r>
              <a:rPr lang="fr-CH" sz="1600" dirty="0"/>
              <a:t>; </a:t>
            </a:r>
            <a:r>
              <a:rPr lang="fr-CH" sz="1600" dirty="0" err="1"/>
              <a:t>each</a:t>
            </a:r>
            <a:r>
              <a:rPr lang="fr-CH" sz="1600" dirty="0"/>
              <a:t> of </a:t>
            </a:r>
            <a:r>
              <a:rPr lang="fr-CH" sz="1600" dirty="0" err="1"/>
              <a:t>them</a:t>
            </a:r>
            <a:r>
              <a:rPr lang="fr-CH" sz="1600" dirty="0"/>
              <a:t> </a:t>
            </a:r>
            <a:r>
              <a:rPr lang="fr-CH" sz="1600" dirty="0" err="1"/>
              <a:t>is</a:t>
            </a:r>
            <a:r>
              <a:rPr lang="fr-CH" sz="1600" dirty="0"/>
              <a:t> a variant.</a:t>
            </a:r>
          </a:p>
          <a:p>
            <a:pPr lvl="1"/>
            <a:r>
              <a:rPr lang="fr-CH" sz="1600" dirty="0"/>
              <a:t>If a </a:t>
            </a:r>
            <a:r>
              <a:rPr lang="fr-CH" sz="1600" dirty="0" err="1"/>
              <a:t>unified</a:t>
            </a:r>
            <a:r>
              <a:rPr lang="fr-CH" sz="1600" dirty="0"/>
              <a:t> concept </a:t>
            </a:r>
            <a:r>
              <a:rPr lang="fr-CH" sz="1600" dirty="0" err="1"/>
              <a:t>scheme</a:t>
            </a:r>
            <a:r>
              <a:rPr lang="fr-CH" sz="1600" dirty="0"/>
              <a:t> </a:t>
            </a:r>
            <a:r>
              <a:rPr lang="fr-CH" sz="1600" dirty="0" err="1"/>
              <a:t>is</a:t>
            </a:r>
            <a:r>
              <a:rPr lang="fr-CH" sz="1600" dirty="0"/>
              <a:t> </a:t>
            </a:r>
            <a:r>
              <a:rPr lang="fr-CH" sz="1600" dirty="0" err="1"/>
              <a:t>used</a:t>
            </a:r>
            <a:r>
              <a:rPr lang="fr-CH" sz="1600" dirty="0"/>
              <a:t> for data </a:t>
            </a:r>
            <a:r>
              <a:rPr lang="fr-CH" sz="1600" dirty="0" err="1"/>
              <a:t>harmonization</a:t>
            </a:r>
            <a:r>
              <a:rPr lang="fr-CH" sz="1600" dirty="0"/>
              <a:t> </a:t>
            </a:r>
            <a:r>
              <a:rPr lang="fr-CH" sz="1600" dirty="0" err="1"/>
              <a:t>across</a:t>
            </a:r>
            <a:r>
              <a:rPr lang="fr-CH" sz="1600" dirty="0"/>
              <a:t> </a:t>
            </a:r>
            <a:r>
              <a:rPr lang="fr-CH" sz="1600" dirty="0" err="1"/>
              <a:t>statistical</a:t>
            </a:r>
            <a:r>
              <a:rPr lang="fr-CH" sz="1600" dirty="0"/>
              <a:t> data sources, multiple variants must </a:t>
            </a:r>
            <a:r>
              <a:rPr lang="fr-CH" sz="1600" dirty="0" err="1"/>
              <a:t>be</a:t>
            </a:r>
            <a:r>
              <a:rPr lang="fr-CH" sz="1600" dirty="0"/>
              <a:t> </a:t>
            </a:r>
            <a:r>
              <a:rPr lang="fr-CH" sz="1600" dirty="0" err="1"/>
              <a:t>supported</a:t>
            </a:r>
            <a:endParaRPr lang="fr-CH" sz="1600" dirty="0"/>
          </a:p>
          <a:p>
            <a:r>
              <a:rPr lang="fr-CH" sz="1800" dirty="0" err="1"/>
              <a:t>These</a:t>
            </a:r>
            <a:r>
              <a:rPr lang="fr-CH" sz="1800" dirty="0"/>
              <a:t> variants are </a:t>
            </a:r>
            <a:r>
              <a:rPr lang="fr-CH" sz="1800" dirty="0" err="1"/>
              <a:t>mutually</a:t>
            </a:r>
            <a:r>
              <a:rPr lang="fr-CH" sz="1800" dirty="0"/>
              <a:t> exclusive, in the </a:t>
            </a:r>
            <a:r>
              <a:rPr lang="fr-CH" sz="1800" dirty="0" err="1"/>
              <a:t>sense</a:t>
            </a:r>
            <a:r>
              <a:rPr lang="fr-CH" sz="1800" dirty="0"/>
              <a:t> </a:t>
            </a:r>
            <a:r>
              <a:rPr lang="fr-CH" sz="1800" dirty="0" err="1"/>
              <a:t>that</a:t>
            </a:r>
            <a:r>
              <a:rPr lang="fr-CH" sz="1800" dirty="0"/>
              <a:t>, </a:t>
            </a:r>
            <a:r>
              <a:rPr lang="fr-CH" sz="1800" dirty="0" err="1"/>
              <a:t>although</a:t>
            </a:r>
            <a:r>
              <a:rPr lang="fr-CH" sz="1800" dirty="0"/>
              <a:t> </a:t>
            </a:r>
            <a:r>
              <a:rPr lang="fr-CH" sz="1800" dirty="0" err="1"/>
              <a:t>they</a:t>
            </a:r>
            <a:r>
              <a:rPr lang="fr-CH" sz="1800" dirty="0"/>
              <a:t> </a:t>
            </a:r>
            <a:r>
              <a:rPr lang="fr-CH" sz="1800" dirty="0" err="1"/>
              <a:t>enumerate</a:t>
            </a:r>
            <a:r>
              <a:rPr lang="fr-CH" sz="1800" dirty="0"/>
              <a:t> the </a:t>
            </a:r>
            <a:r>
              <a:rPr lang="fr-CH" sz="1800" dirty="0" err="1"/>
              <a:t>same</a:t>
            </a:r>
            <a:r>
              <a:rPr lang="fr-CH" sz="1800" dirty="0"/>
              <a:t> concept, </a:t>
            </a:r>
            <a:r>
              <a:rPr lang="fr-CH" sz="1800" dirty="0" err="1"/>
              <a:t>only</a:t>
            </a:r>
            <a:r>
              <a:rPr lang="fr-CH" sz="1800" dirty="0"/>
              <a:t> one </a:t>
            </a:r>
            <a:r>
              <a:rPr lang="fr-CH" sz="1800" dirty="0" err="1"/>
              <a:t>should</a:t>
            </a:r>
            <a:r>
              <a:rPr lang="fr-CH" sz="1800" dirty="0"/>
              <a:t> </a:t>
            </a:r>
            <a:r>
              <a:rPr lang="fr-CH" sz="1800" dirty="0" err="1"/>
              <a:t>be</a:t>
            </a:r>
            <a:r>
              <a:rPr lang="fr-CH" sz="1800" dirty="0"/>
              <a:t> </a:t>
            </a:r>
            <a:r>
              <a:rPr lang="fr-CH" sz="1800" dirty="0" err="1"/>
              <a:t>used</a:t>
            </a:r>
            <a:r>
              <a:rPr lang="fr-CH" sz="1800" dirty="0"/>
              <a:t> at a time, </a:t>
            </a:r>
            <a:r>
              <a:rPr lang="fr-CH" sz="1800" dirty="0" err="1"/>
              <a:t>based</a:t>
            </a:r>
            <a:r>
              <a:rPr lang="fr-CH" sz="1800" dirty="0"/>
              <a:t> on certain </a:t>
            </a:r>
            <a:r>
              <a:rPr lang="fr-CH" sz="1800" dirty="0" err="1"/>
              <a:t>context</a:t>
            </a:r>
            <a:r>
              <a:rPr lang="fr-CH" sz="1800" dirty="0"/>
              <a:t>: </a:t>
            </a:r>
            <a:r>
              <a:rPr lang="en-GB" sz="1800" dirty="0"/>
              <a:t>statistical activity, time reference, representativeness of the sample, etc</a:t>
            </a:r>
            <a:r>
              <a:rPr lang="fr-CH" sz="1800" dirty="0"/>
              <a:t>. </a:t>
            </a:r>
          </a:p>
          <a:p>
            <a:pPr lvl="1"/>
            <a:r>
              <a:rPr lang="fr-CH" sz="1600" dirty="0"/>
              <a:t>In SDMX, the </a:t>
            </a:r>
            <a:r>
              <a:rPr lang="en-GB" sz="1600" dirty="0"/>
              <a:t>“context” is defined by the Dataflow or Provision Agreement.</a:t>
            </a:r>
          </a:p>
          <a:p>
            <a:r>
              <a:rPr lang="en-GB" sz="1800" dirty="0"/>
              <a:t>Two issues to solve: </a:t>
            </a:r>
          </a:p>
          <a:p>
            <a:pPr marL="671513" lvl="1" indent="-457200">
              <a:buFont typeface="+mj-lt"/>
              <a:buAutoNum type="arabicPeriod"/>
            </a:pPr>
            <a:r>
              <a:rPr lang="en-GB" sz="1600" dirty="0"/>
              <a:t>the burden of maintaining a huge Code List with all the variants</a:t>
            </a:r>
          </a:p>
          <a:p>
            <a:pPr marL="671513" lvl="1" indent="-457200">
              <a:buFont typeface="+mj-lt"/>
              <a:buAutoNum type="arabicPeriod"/>
            </a:pPr>
            <a:r>
              <a:rPr lang="en-GB" sz="1600" dirty="0"/>
              <a:t>the selection of a different subset of codes depending on the PA</a:t>
            </a:r>
          </a:p>
          <a:p>
            <a:endParaRPr lang="en-GB" sz="1825" dirty="0"/>
          </a:p>
        </p:txBody>
      </p:sp>
      <p:sp>
        <p:nvSpPr>
          <p:cNvPr id="4" name="Title 1"/>
          <p:cNvSpPr txBox="1">
            <a:spLocks/>
          </p:cNvSpPr>
          <p:nvPr/>
        </p:nvSpPr>
        <p:spPr>
          <a:xfrm>
            <a:off x="839416" y="548680"/>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700" dirty="0">
                <a:solidFill>
                  <a:srgbClr val="0070C0"/>
                </a:solidFill>
              </a:rPr>
              <a:t>The flagship use case: Discriminated Union</a:t>
            </a:r>
          </a:p>
        </p:txBody>
      </p:sp>
    </p:spTree>
    <p:extLst>
      <p:ext uri="{BB962C8B-B14F-4D97-AF65-F5344CB8AC3E}">
        <p14:creationId xmlns:p14="http://schemas.microsoft.com/office/powerpoint/2010/main" val="258055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3432" y="1916832"/>
            <a:ext cx="9577064" cy="3263504"/>
          </a:xfrm>
        </p:spPr>
        <p:txBody>
          <a:bodyPr>
            <a:noAutofit/>
          </a:bodyPr>
          <a:lstStyle/>
          <a:p>
            <a:r>
              <a:rPr lang="en-GB" sz="1800" dirty="0"/>
              <a:t>Having </a:t>
            </a:r>
            <a:r>
              <a:rPr lang="en-GB" sz="1800" b="1" i="1" dirty="0"/>
              <a:t>independent Code Lists for each variant </a:t>
            </a:r>
            <a:r>
              <a:rPr lang="en-GB" sz="1800" dirty="0"/>
              <a:t>(i.e. each classification version) </a:t>
            </a:r>
            <a:r>
              <a:rPr lang="en-GB" sz="1800" u="sng" dirty="0"/>
              <a:t>solves issue 1.</a:t>
            </a:r>
          </a:p>
          <a:p>
            <a:r>
              <a:rPr lang="en-GB" sz="1800" dirty="0"/>
              <a:t>Make the concept ACTIVITY represented by the Code List </a:t>
            </a:r>
            <a:r>
              <a:rPr lang="en-GB" sz="1800" b="1" i="1" dirty="0"/>
              <a:t>CL_ACTIVITY with no codes</a:t>
            </a:r>
          </a:p>
          <a:p>
            <a:r>
              <a:rPr lang="en-GB" sz="1800" dirty="0"/>
              <a:t>CL_ACTIVITY has </a:t>
            </a:r>
            <a:r>
              <a:rPr lang="en-GB" sz="1800" b="1" i="1" dirty="0"/>
              <a:t>extension references</a:t>
            </a:r>
            <a:r>
              <a:rPr lang="en-GB" sz="1800" dirty="0"/>
              <a:t> to CL_ISIC4, CL_ISIC3, CL_NACE2, CL_ECSECTOR, etc.. </a:t>
            </a:r>
          </a:p>
          <a:p>
            <a:r>
              <a:rPr lang="en-GB" sz="1800" dirty="0"/>
              <a:t>In the extension clause, </a:t>
            </a:r>
            <a:r>
              <a:rPr lang="en-GB" sz="1800" b="1" i="1" dirty="0"/>
              <a:t>a “prefix” attribute </a:t>
            </a:r>
            <a:r>
              <a:rPr lang="en-GB" sz="1800" dirty="0"/>
              <a:t>is specified for each one, as ISIC4_, ISIC3_, NACE2_, ECSECTOR_, etc. to avoid code collisions.</a:t>
            </a:r>
          </a:p>
          <a:p>
            <a:r>
              <a:rPr lang="en-GB" sz="1800" b="1" i="1" dirty="0"/>
              <a:t>Each DF has a specific </a:t>
            </a:r>
            <a:r>
              <a:rPr lang="en-GB" sz="1800" b="1" i="1" dirty="0" err="1"/>
              <a:t>ContentConstraint</a:t>
            </a:r>
            <a:r>
              <a:rPr lang="en-GB" sz="1800" b="1" i="1" dirty="0"/>
              <a:t> </a:t>
            </a:r>
            <a:r>
              <a:rPr lang="en-GB" sz="1800" dirty="0"/>
              <a:t>to keep the items of the variant used by the data source (</a:t>
            </a:r>
            <a:r>
              <a:rPr lang="en-GB" sz="1800" u="sng" dirty="0"/>
              <a:t>solves issue 2</a:t>
            </a:r>
            <a:r>
              <a:rPr lang="en-GB" sz="1800" dirty="0"/>
              <a:t>)</a:t>
            </a:r>
          </a:p>
          <a:p>
            <a:endParaRPr lang="fr-CH" sz="1800" dirty="0"/>
          </a:p>
        </p:txBody>
      </p:sp>
      <p:sp>
        <p:nvSpPr>
          <p:cNvPr id="4" name="Title 1"/>
          <p:cNvSpPr txBox="1">
            <a:spLocks/>
          </p:cNvSpPr>
          <p:nvPr/>
        </p:nvSpPr>
        <p:spPr>
          <a:xfrm>
            <a:off x="839416" y="548680"/>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700" dirty="0">
                <a:solidFill>
                  <a:srgbClr val="0070C0"/>
                </a:solidFill>
              </a:rPr>
              <a:t>The flagship use case: Discriminated Union</a:t>
            </a:r>
          </a:p>
        </p:txBody>
      </p:sp>
      <p:sp>
        <p:nvSpPr>
          <p:cNvPr id="2" name="Title 1">
            <a:extLst>
              <a:ext uri="{FF2B5EF4-FFF2-40B4-BE49-F238E27FC236}">
                <a16:creationId xmlns:a16="http://schemas.microsoft.com/office/drawing/2014/main" id="{4CB4ED4C-4227-3FCF-27AA-EA070252DD9C}"/>
              </a:ext>
            </a:extLst>
          </p:cNvPr>
          <p:cNvSpPr txBox="1">
            <a:spLocks/>
          </p:cNvSpPr>
          <p:nvPr/>
        </p:nvSpPr>
        <p:spPr>
          <a:xfrm>
            <a:off x="839416" y="1045766"/>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1" dirty="0">
                <a:solidFill>
                  <a:srgbClr val="0070C0"/>
                </a:solidFill>
                <a:latin typeface="+mj-lt"/>
              </a:rPr>
              <a:t>The data model</a:t>
            </a:r>
          </a:p>
        </p:txBody>
      </p:sp>
    </p:spTree>
    <p:extLst>
      <p:ext uri="{BB962C8B-B14F-4D97-AF65-F5344CB8AC3E}">
        <p14:creationId xmlns:p14="http://schemas.microsoft.com/office/powerpoint/2010/main" val="256565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0326" y="1916832"/>
            <a:ext cx="10369152" cy="3263504"/>
          </a:xfrm>
        </p:spPr>
        <p:txBody>
          <a:bodyPr>
            <a:noAutofit/>
          </a:bodyPr>
          <a:lstStyle/>
          <a:p>
            <a:r>
              <a:rPr lang="en-GB" sz="1800" dirty="0"/>
              <a:t>Each variant in a separate Code List facilitates the maintenance and allows keeping the original codes, regardless of potential conflicts: </a:t>
            </a:r>
          </a:p>
          <a:p>
            <a:pPr lvl="1"/>
            <a:r>
              <a:rPr lang="en-GB" sz="1600" dirty="0"/>
              <a:t>ISIC Rev. 4: “A” represents “Agriculture, forestry and fishing”, </a:t>
            </a:r>
          </a:p>
          <a:p>
            <a:pPr lvl="1"/>
            <a:r>
              <a:rPr lang="en-GB" sz="1600" dirty="0"/>
              <a:t>ISIC 3.1:  “A” means “Agriculture, hunting and forestry”</a:t>
            </a:r>
          </a:p>
          <a:p>
            <a:r>
              <a:rPr lang="en-GB" sz="1800" dirty="0"/>
              <a:t>Specifying “</a:t>
            </a:r>
            <a:r>
              <a:rPr lang="en-GB" sz="1600" dirty="0">
                <a:latin typeface="Consolas" panose="020B0609020204030204" pitchFamily="49" charset="0"/>
              </a:rPr>
              <a:t>prefix=&lt;variant_&gt;</a:t>
            </a:r>
            <a:r>
              <a:rPr lang="en-GB" sz="1800" b="1" i="1" dirty="0"/>
              <a:t>”</a:t>
            </a:r>
            <a:r>
              <a:rPr lang="en-GB" sz="1800" dirty="0"/>
              <a:t> for each Code List in the “</a:t>
            </a:r>
            <a:r>
              <a:rPr lang="en-GB" sz="1600" dirty="0" err="1">
                <a:latin typeface="Consolas" panose="020B0609020204030204" pitchFamily="49" charset="0"/>
              </a:rPr>
              <a:t>ExtendedBy</a:t>
            </a:r>
            <a:r>
              <a:rPr lang="en-GB" sz="1800" dirty="0"/>
              <a:t>” clause prevents duplicates</a:t>
            </a:r>
          </a:p>
          <a:p>
            <a:pPr lvl="1"/>
            <a:r>
              <a:rPr lang="en-GB" sz="1600" dirty="0"/>
              <a:t>CL_ISIC4 with </a:t>
            </a:r>
            <a:r>
              <a:rPr lang="en-GB" sz="1600" dirty="0">
                <a:latin typeface="Consolas" panose="020B0609020204030204" pitchFamily="49" charset="0"/>
              </a:rPr>
              <a:t>prefix=“ISIC4_” </a:t>
            </a:r>
            <a:r>
              <a:rPr lang="en-GB" sz="1600" dirty="0"/>
              <a:t>gets “ISIC4_A”</a:t>
            </a:r>
          </a:p>
          <a:p>
            <a:pPr lvl="1"/>
            <a:r>
              <a:rPr lang="en-GB" sz="1600" dirty="0"/>
              <a:t>CL_ISIC3 with </a:t>
            </a:r>
            <a:r>
              <a:rPr lang="en-GB" sz="1600" dirty="0">
                <a:latin typeface="Consolas" panose="020B0609020204030204" pitchFamily="49" charset="0"/>
              </a:rPr>
              <a:t>prefix=“ISIC3_” </a:t>
            </a:r>
            <a:r>
              <a:rPr lang="en-GB" sz="1600" dirty="0"/>
              <a:t>returns “ISIC3_A”.</a:t>
            </a:r>
          </a:p>
          <a:p>
            <a:r>
              <a:rPr lang="en-GB" sz="1800" dirty="0"/>
              <a:t>Each </a:t>
            </a:r>
            <a:r>
              <a:rPr lang="en-GB" sz="1800" b="1" i="1" dirty="0"/>
              <a:t>DF</a:t>
            </a:r>
            <a:r>
              <a:rPr lang="en-GB" sz="1800" dirty="0"/>
              <a:t> has a specific </a:t>
            </a:r>
            <a:r>
              <a:rPr lang="en-GB" sz="1800" dirty="0" err="1"/>
              <a:t>ContentConstraint</a:t>
            </a:r>
            <a:r>
              <a:rPr lang="en-GB" sz="1800" dirty="0"/>
              <a:t> to include </a:t>
            </a:r>
            <a:r>
              <a:rPr lang="en-GB" sz="1600" dirty="0">
                <a:latin typeface="Consolas" panose="020B0609020204030204" pitchFamily="49" charset="0"/>
              </a:rPr>
              <a:t>Value=“&lt;variant&gt;_%”</a:t>
            </a:r>
            <a:r>
              <a:rPr lang="en-GB" sz="1600" b="1" i="1" dirty="0"/>
              <a:t> </a:t>
            </a:r>
            <a:r>
              <a:rPr lang="en-GB" sz="1800" dirty="0"/>
              <a:t>items and </a:t>
            </a:r>
            <a:r>
              <a:rPr lang="en-GB" sz="1600" dirty="0" err="1">
                <a:latin typeface="Consolas" panose="020B0609020204030204" pitchFamily="49" charset="0"/>
              </a:rPr>
              <a:t>removePrefix</a:t>
            </a:r>
            <a:r>
              <a:rPr lang="en-GB" sz="1600" dirty="0">
                <a:latin typeface="Consolas" panose="020B0609020204030204" pitchFamily="49" charset="0"/>
              </a:rPr>
              <a:t>=“&lt;variant&gt;_”</a:t>
            </a:r>
            <a:r>
              <a:rPr lang="en-GB" sz="1600" b="1" i="1" dirty="0"/>
              <a:t>, </a:t>
            </a:r>
            <a:r>
              <a:rPr lang="en-GB" sz="1800" dirty="0"/>
              <a:t>to get the original codes </a:t>
            </a:r>
          </a:p>
          <a:p>
            <a:r>
              <a:rPr lang="en-GB" sz="1800" dirty="0"/>
              <a:t>A query for the </a:t>
            </a:r>
            <a:r>
              <a:rPr lang="en-GB" sz="1800" b="1" i="1" dirty="0"/>
              <a:t>DF</a:t>
            </a:r>
            <a:r>
              <a:rPr lang="en-GB" sz="1800" dirty="0"/>
              <a:t> with </a:t>
            </a:r>
            <a:r>
              <a:rPr lang="en-GB" sz="1600" dirty="0">
                <a:latin typeface="Consolas" panose="020B0609020204030204" pitchFamily="49" charset="0"/>
              </a:rPr>
              <a:t>references=descendants </a:t>
            </a:r>
            <a:r>
              <a:rPr lang="en-GB" sz="1800" dirty="0"/>
              <a:t>and </a:t>
            </a:r>
            <a:r>
              <a:rPr lang="en-GB" sz="1600" dirty="0">
                <a:latin typeface="Consolas" panose="020B0609020204030204" pitchFamily="49" charset="0"/>
              </a:rPr>
              <a:t>detail=</a:t>
            </a:r>
            <a:r>
              <a:rPr lang="en-GB" sz="1600" dirty="0" err="1">
                <a:latin typeface="Consolas" panose="020B0609020204030204" pitchFamily="49" charset="0"/>
              </a:rPr>
              <a:t>referencepartial</a:t>
            </a:r>
            <a:r>
              <a:rPr lang="en-GB" sz="1600" dirty="0">
                <a:latin typeface="Consolas" panose="020B0609020204030204" pitchFamily="49" charset="0"/>
              </a:rPr>
              <a:t> </a:t>
            </a:r>
            <a:r>
              <a:rPr lang="en-GB" sz="1800" dirty="0"/>
              <a:t>will return CL_ACTIVITY with the extensions resolved and the constraints applied, so </a:t>
            </a:r>
            <a:r>
              <a:rPr lang="en-GB" sz="1800" b="1" i="1" dirty="0"/>
              <a:t>it will only include codes originally from CL_&lt;variant&gt;</a:t>
            </a:r>
            <a:r>
              <a:rPr lang="en-GB" sz="1800" dirty="0"/>
              <a:t>. </a:t>
            </a:r>
            <a:endParaRPr lang="fr-CH" sz="1800" dirty="0"/>
          </a:p>
          <a:p>
            <a:endParaRPr lang="en-GB" sz="1825" dirty="0"/>
          </a:p>
        </p:txBody>
      </p:sp>
      <p:sp>
        <p:nvSpPr>
          <p:cNvPr id="2" name="Title 1">
            <a:extLst>
              <a:ext uri="{FF2B5EF4-FFF2-40B4-BE49-F238E27FC236}">
                <a16:creationId xmlns:a16="http://schemas.microsoft.com/office/drawing/2014/main" id="{7EE64274-0362-AA09-2298-0F2334217591}"/>
              </a:ext>
            </a:extLst>
          </p:cNvPr>
          <p:cNvSpPr txBox="1">
            <a:spLocks/>
          </p:cNvSpPr>
          <p:nvPr/>
        </p:nvSpPr>
        <p:spPr>
          <a:xfrm>
            <a:off x="839416" y="548680"/>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700" dirty="0">
                <a:solidFill>
                  <a:srgbClr val="0070C0"/>
                </a:solidFill>
              </a:rPr>
              <a:t>The flagship use case: Discriminated Union</a:t>
            </a:r>
          </a:p>
        </p:txBody>
      </p:sp>
      <p:sp>
        <p:nvSpPr>
          <p:cNvPr id="5" name="Title 1">
            <a:extLst>
              <a:ext uri="{FF2B5EF4-FFF2-40B4-BE49-F238E27FC236}">
                <a16:creationId xmlns:a16="http://schemas.microsoft.com/office/drawing/2014/main" id="{E111350B-D153-0161-7B62-9B95F1B0CD9E}"/>
              </a:ext>
            </a:extLst>
          </p:cNvPr>
          <p:cNvSpPr txBox="1">
            <a:spLocks/>
          </p:cNvSpPr>
          <p:nvPr/>
        </p:nvSpPr>
        <p:spPr>
          <a:xfrm>
            <a:off x="839416" y="1045766"/>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1" dirty="0">
                <a:solidFill>
                  <a:srgbClr val="0070C0"/>
                </a:solidFill>
                <a:latin typeface="+mj-lt"/>
              </a:rPr>
              <a:t>How it works</a:t>
            </a:r>
          </a:p>
        </p:txBody>
      </p:sp>
    </p:spTree>
    <p:extLst>
      <p:ext uri="{BB962C8B-B14F-4D97-AF65-F5344CB8AC3E}">
        <p14:creationId xmlns:p14="http://schemas.microsoft.com/office/powerpoint/2010/main" val="426537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25786-013A-5B14-1B60-2842F20686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09A56-CB0A-8AE6-049E-2DF92D43A326}"/>
              </a:ext>
            </a:extLst>
          </p:cNvPr>
          <p:cNvSpPr>
            <a:spLocks noGrp="1"/>
          </p:cNvSpPr>
          <p:nvPr>
            <p:ph idx="1"/>
          </p:nvPr>
        </p:nvSpPr>
        <p:spPr>
          <a:xfrm>
            <a:off x="1127448" y="1542852"/>
            <a:ext cx="9001000" cy="3263504"/>
          </a:xfrm>
        </p:spPr>
        <p:txBody>
          <a:bodyPr>
            <a:noAutofit/>
          </a:bodyPr>
          <a:lstStyle/>
          <a:p>
            <a:r>
              <a:rPr lang="fr-CH" sz="1800" dirty="0" err="1"/>
              <a:t>Extend</a:t>
            </a:r>
            <a:r>
              <a:rPr lang="fr-CH" sz="1800" dirty="0"/>
              <a:t> the </a:t>
            </a:r>
            <a:r>
              <a:rPr lang="fr-CH" sz="1800" dirty="0" err="1"/>
              <a:t>context</a:t>
            </a:r>
            <a:r>
              <a:rPr lang="fr-CH" sz="1800" dirty="0"/>
              <a:t> of data </a:t>
            </a:r>
            <a:r>
              <a:rPr lang="fr-CH" sz="1800" dirty="0" err="1"/>
              <a:t>retrieval</a:t>
            </a:r>
            <a:endParaRPr lang="fr-CH" sz="1800" dirty="0"/>
          </a:p>
          <a:p>
            <a:pPr lvl="1"/>
            <a:r>
              <a:rPr lang="fr-CH" sz="1600" dirty="0"/>
              <a:t>dataflow, data structure, provision </a:t>
            </a:r>
            <a:r>
              <a:rPr lang="fr-CH" sz="1600" dirty="0" err="1"/>
              <a:t>agreements</a:t>
            </a:r>
            <a:endParaRPr lang="fr-CH" sz="1600" dirty="0"/>
          </a:p>
          <a:p>
            <a:pPr lvl="1"/>
            <a:r>
              <a:rPr lang="fr-CH" sz="1600" dirty="0" err="1"/>
              <a:t>Search</a:t>
            </a:r>
            <a:r>
              <a:rPr lang="fr-CH" sz="1600" dirty="0"/>
              <a:t> </a:t>
            </a:r>
            <a:r>
              <a:rPr lang="fr-CH" sz="1600" dirty="0" err="1"/>
              <a:t>across</a:t>
            </a:r>
            <a:r>
              <a:rPr lang="fr-CH" sz="1600" dirty="0"/>
              <a:t> structures (e.g. all data about a country)</a:t>
            </a:r>
          </a:p>
          <a:p>
            <a:r>
              <a:rPr lang="fr-CH" sz="1800" dirty="0"/>
              <a:t>Component-</a:t>
            </a:r>
            <a:r>
              <a:rPr lang="fr-CH" sz="1800" dirty="0" err="1"/>
              <a:t>based</a:t>
            </a:r>
            <a:r>
              <a:rPr lang="fr-CH" sz="1800" dirty="0"/>
              <a:t> </a:t>
            </a:r>
            <a:r>
              <a:rPr lang="fr-CH" sz="1800" dirty="0" err="1"/>
              <a:t>filters</a:t>
            </a:r>
            <a:endParaRPr lang="fr-CH" sz="1800" dirty="0"/>
          </a:p>
          <a:p>
            <a:pPr lvl="1"/>
            <a:r>
              <a:rPr lang="fr-CH" sz="1600" dirty="0">
                <a:latin typeface="Consolas" panose="020B0609020204030204" pitchFamily="49" charset="0"/>
              </a:rPr>
              <a:t>/data/dataflow/ESTAT/</a:t>
            </a:r>
            <a:r>
              <a:rPr lang="fr-CH" sz="1600" dirty="0" err="1">
                <a:latin typeface="Consolas" panose="020B0609020204030204" pitchFamily="49" charset="0"/>
              </a:rPr>
              <a:t>ICP?c</a:t>
            </a:r>
            <a:r>
              <a:rPr lang="fr-CH" sz="1600" dirty="0">
                <a:latin typeface="Consolas" panose="020B0609020204030204" pitchFamily="49" charset="0"/>
              </a:rPr>
              <a:t>[REF_AREA]=</a:t>
            </a:r>
            <a:r>
              <a:rPr lang="fr-CH" sz="1600" dirty="0" err="1">
                <a:latin typeface="Consolas" panose="020B0609020204030204" pitchFamily="49" charset="0"/>
              </a:rPr>
              <a:t>CH&amp;c</a:t>
            </a:r>
            <a:r>
              <a:rPr lang="fr-CH" sz="1600" dirty="0">
                <a:latin typeface="Consolas" panose="020B0609020204030204" pitchFamily="49" charset="0"/>
              </a:rPr>
              <a:t>[CONF_STATUS]=F</a:t>
            </a:r>
          </a:p>
          <a:p>
            <a:r>
              <a:rPr lang="fr-CH" sz="1800" dirty="0"/>
              <a:t>Support for </a:t>
            </a:r>
            <a:r>
              <a:rPr lang="fr-CH" sz="1800" dirty="0" err="1"/>
              <a:t>operators</a:t>
            </a:r>
            <a:endParaRPr lang="fr-CH" sz="1800" dirty="0"/>
          </a:p>
          <a:p>
            <a:pPr lvl="1"/>
            <a:r>
              <a:rPr lang="fr-CH" sz="1600" dirty="0">
                <a:latin typeface="Consolas" panose="020B0609020204030204" pitchFamily="49" charset="0"/>
              </a:rPr>
              <a:t>/data/dataflow/ESTAT/</a:t>
            </a:r>
            <a:r>
              <a:rPr lang="fr-CH" sz="1600" dirty="0" err="1">
                <a:latin typeface="Consolas" panose="020B0609020204030204" pitchFamily="49" charset="0"/>
              </a:rPr>
              <a:t>ICP?c</a:t>
            </a:r>
            <a:r>
              <a:rPr lang="fr-CH" sz="1600" dirty="0">
                <a:latin typeface="Consolas" panose="020B0609020204030204" pitchFamily="49" charset="0"/>
              </a:rPr>
              <a:t>[ICP_ITEM]=sw:01&amp;c[TIME_PERIOD]=ge:2015</a:t>
            </a:r>
          </a:p>
          <a:p>
            <a:r>
              <a:rPr lang="fr-CH" sz="1800" dirty="0"/>
              <a:t>Support for multiple keys</a:t>
            </a:r>
          </a:p>
          <a:p>
            <a:pPr lvl="1"/>
            <a:r>
              <a:rPr lang="fr-CH" sz="1600" dirty="0">
                <a:latin typeface="Consolas" panose="020B0609020204030204" pitchFamily="49" charset="0"/>
              </a:rPr>
              <a:t>/data/dataflow/ESTAT/ICP/1.0.0/M…A.ANR,M…A.INX,M…B.CTG</a:t>
            </a:r>
          </a:p>
          <a:p>
            <a:endParaRPr lang="en-GB" sz="1825" dirty="0"/>
          </a:p>
        </p:txBody>
      </p:sp>
      <p:sp>
        <p:nvSpPr>
          <p:cNvPr id="4" name="Title 1">
            <a:extLst>
              <a:ext uri="{FF2B5EF4-FFF2-40B4-BE49-F238E27FC236}">
                <a16:creationId xmlns:a16="http://schemas.microsoft.com/office/drawing/2014/main" id="{1BF9DBE3-3AE3-55C3-E241-92CBA719F671}"/>
              </a:ext>
            </a:extLst>
          </p:cNvPr>
          <p:cNvSpPr txBox="1">
            <a:spLocks/>
          </p:cNvSpPr>
          <p:nvPr/>
        </p:nvSpPr>
        <p:spPr>
          <a:xfrm>
            <a:off x="839416" y="548680"/>
            <a:ext cx="8784976" cy="994172"/>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700" dirty="0">
                <a:solidFill>
                  <a:srgbClr val="0070C0"/>
                </a:solidFill>
              </a:rPr>
              <a:t>Improved API data queries</a:t>
            </a:r>
          </a:p>
        </p:txBody>
      </p:sp>
    </p:spTree>
    <p:extLst>
      <p:ext uri="{BB962C8B-B14F-4D97-AF65-F5344CB8AC3E}">
        <p14:creationId xmlns:p14="http://schemas.microsoft.com/office/powerpoint/2010/main" val="143466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F0776-08F1-424B-B2DB-16EC151457BE}"/>
              </a:ext>
            </a:extLst>
          </p:cNvPr>
          <p:cNvSpPr>
            <a:spLocks noGrp="1"/>
          </p:cNvSpPr>
          <p:nvPr>
            <p:ph type="title"/>
          </p:nvPr>
        </p:nvSpPr>
        <p:spPr/>
        <p:txBody>
          <a:bodyPr/>
          <a:lstStyle/>
          <a:p>
            <a:r>
              <a:rPr lang="en-US" dirty="0"/>
              <a:t>New microdata use cases supported in SDMX 3.0.0</a:t>
            </a:r>
            <a:endParaRPr lang="en-GB" dirty="0"/>
          </a:p>
        </p:txBody>
      </p:sp>
      <p:sp>
        <p:nvSpPr>
          <p:cNvPr id="3" name="Content Placeholder 2">
            <a:extLst>
              <a:ext uri="{FF2B5EF4-FFF2-40B4-BE49-F238E27FC236}">
                <a16:creationId xmlns:a16="http://schemas.microsoft.com/office/drawing/2014/main" id="{839FEA6B-40B6-4CA3-A4DA-1D12EBD59670}"/>
              </a:ext>
            </a:extLst>
          </p:cNvPr>
          <p:cNvSpPr>
            <a:spLocks noGrp="1"/>
          </p:cNvSpPr>
          <p:nvPr>
            <p:ph idx="1"/>
          </p:nvPr>
        </p:nvSpPr>
        <p:spPr>
          <a:xfrm>
            <a:off x="1055440" y="1412776"/>
            <a:ext cx="9239284" cy="4351338"/>
          </a:xfrm>
        </p:spPr>
        <p:txBody>
          <a:bodyPr>
            <a:normAutofit/>
          </a:bodyPr>
          <a:lstStyle/>
          <a:p>
            <a:r>
              <a:rPr lang="en-US" sz="1800" dirty="0"/>
              <a:t>Multiple choice responses, </a:t>
            </a:r>
            <a:r>
              <a:rPr lang="en-US" sz="1800" dirty="0" err="1"/>
              <a:t>eg</a:t>
            </a:r>
            <a:r>
              <a:rPr lang="en-US" sz="1800" dirty="0"/>
              <a:t> surveys</a:t>
            </a:r>
          </a:p>
          <a:p>
            <a:r>
              <a:rPr lang="en-US" sz="1800" dirty="0"/>
              <a:t>Register information, </a:t>
            </a:r>
            <a:r>
              <a:rPr lang="en-US" sz="1800" dirty="0" err="1"/>
              <a:t>eg</a:t>
            </a:r>
            <a:r>
              <a:rPr lang="en-US" sz="1800" dirty="0"/>
              <a:t> business registers for keeping business information records</a:t>
            </a:r>
          </a:p>
          <a:p>
            <a:r>
              <a:rPr lang="en-US" sz="1800" dirty="0"/>
              <a:t>Language specific responses</a:t>
            </a:r>
          </a:p>
          <a:p>
            <a:r>
              <a:rPr lang="en-US" sz="1800" dirty="0"/>
              <a:t>Well-defined diverse measures within a dataset</a:t>
            </a:r>
          </a:p>
          <a:p>
            <a:r>
              <a:rPr lang="en-US" sz="1800" dirty="0"/>
              <a:t>Arrays for measures and attributes</a:t>
            </a:r>
          </a:p>
          <a:p>
            <a:r>
              <a:rPr lang="en-US" sz="1800" dirty="0"/>
              <a:t>Qualitative information (reference metadata) next to records</a:t>
            </a:r>
          </a:p>
          <a:p>
            <a:r>
              <a:rPr lang="en-US" sz="1800" dirty="0"/>
              <a:t>Embedded geospatial information</a:t>
            </a:r>
          </a:p>
          <a:p>
            <a:endParaRPr lang="en-US" sz="1800" dirty="0"/>
          </a:p>
          <a:p>
            <a:r>
              <a:rPr lang="en-US" sz="1800" dirty="0"/>
              <a:t>Supported by other SDMX 3.0 new features:</a:t>
            </a:r>
          </a:p>
          <a:p>
            <a:pPr lvl="1"/>
            <a:r>
              <a:rPr lang="en-US" sz="1600" dirty="0"/>
              <a:t>Powerful RESTful API</a:t>
            </a:r>
          </a:p>
          <a:p>
            <a:pPr lvl="1"/>
            <a:r>
              <a:rPr lang="en-US" sz="1600" dirty="0"/>
              <a:t>Simplified, yet flexible, reference metadata design</a:t>
            </a:r>
          </a:p>
          <a:p>
            <a:pPr lvl="1"/>
            <a:r>
              <a:rPr lang="en-US" sz="1600" dirty="0" err="1"/>
              <a:t>Codelist</a:t>
            </a:r>
            <a:r>
              <a:rPr lang="en-US" sz="1600" dirty="0"/>
              <a:t> extension and enhanced constraining mechanism</a:t>
            </a:r>
          </a:p>
          <a:p>
            <a:pPr lvl="1"/>
            <a:r>
              <a:rPr lang="en-US" sz="1600" dirty="0"/>
              <a:t>Updated VTL support</a:t>
            </a:r>
          </a:p>
          <a:p>
            <a:pPr lvl="1"/>
            <a:r>
              <a:rPr lang="en-US" sz="1600" dirty="0"/>
              <a:t>Geospatial support</a:t>
            </a:r>
          </a:p>
          <a:p>
            <a:pPr marL="0" indent="0">
              <a:buNone/>
            </a:pPr>
            <a:endParaRPr lang="en-GB" sz="1800" dirty="0"/>
          </a:p>
        </p:txBody>
      </p:sp>
      <p:sp>
        <p:nvSpPr>
          <p:cNvPr id="4" name="Slide Number Placeholder 3">
            <a:extLst>
              <a:ext uri="{FF2B5EF4-FFF2-40B4-BE49-F238E27FC236}">
                <a16:creationId xmlns:a16="http://schemas.microsoft.com/office/drawing/2014/main" id="{902A45C2-80BA-4AFC-B785-83CDA97C06BD}"/>
              </a:ext>
            </a:extLst>
          </p:cNvPr>
          <p:cNvSpPr>
            <a:spLocks noGrp="1"/>
          </p:cNvSpPr>
          <p:nvPr>
            <p:ph type="sldNum" sz="quarter" idx="12"/>
          </p:nvPr>
        </p:nvSpPr>
        <p:spPr/>
        <p:txBody>
          <a:bodyPr/>
          <a:lstStyle/>
          <a:p>
            <a:fld id="{E358E709-A26E-433C-9FB4-EDC6104FF2C5}" type="slidenum">
              <a:rPr lang="en-US" smtClean="0"/>
              <a:t>17</a:t>
            </a:fld>
            <a:endParaRPr lang="en-US"/>
          </a:p>
        </p:txBody>
      </p:sp>
    </p:spTree>
    <p:extLst>
      <p:ext uri="{BB962C8B-B14F-4D97-AF65-F5344CB8AC3E}">
        <p14:creationId xmlns:p14="http://schemas.microsoft.com/office/powerpoint/2010/main" val="3078589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476672"/>
            <a:ext cx="7200800" cy="994172"/>
          </a:xfrm>
        </p:spPr>
        <p:txBody>
          <a:bodyPr>
            <a:normAutofit/>
          </a:bodyPr>
          <a:lstStyle/>
          <a:p>
            <a:r>
              <a:rPr lang="en-GB" sz="2800" dirty="0"/>
              <a:t>Now it is possible with SDMX 3.0.0</a:t>
            </a:r>
            <a:endParaRPr lang="de-DE" sz="2800" dirty="0"/>
          </a:p>
        </p:txBody>
      </p:sp>
      <p:sp>
        <p:nvSpPr>
          <p:cNvPr id="3" name="Content Placeholder 2"/>
          <p:cNvSpPr>
            <a:spLocks noGrp="1"/>
          </p:cNvSpPr>
          <p:nvPr>
            <p:ph idx="1"/>
          </p:nvPr>
        </p:nvSpPr>
        <p:spPr>
          <a:xfrm>
            <a:off x="983432" y="1460625"/>
            <a:ext cx="9001000" cy="3110282"/>
          </a:xfrm>
        </p:spPr>
        <p:txBody>
          <a:bodyPr>
            <a:noAutofit/>
          </a:bodyPr>
          <a:lstStyle/>
          <a:p>
            <a:r>
              <a:rPr lang="en-GB" sz="2000" i="1" dirty="0"/>
              <a:t>Store, exchange and process microdata in SDMX</a:t>
            </a:r>
          </a:p>
          <a:p>
            <a:r>
              <a:rPr lang="en-GB" sz="2000" i="1" dirty="0"/>
              <a:t>Reuse reference metadata sets attached to structures or lower level components </a:t>
            </a:r>
            <a:r>
              <a:rPr lang="en-GB" sz="2000" i="1" dirty="0">
                <a:solidFill>
                  <a:srgbClr val="FF0000"/>
                </a:solidFill>
                <a:sym typeface="Wingdings" panose="05000000000000000000" pitchFamily="2" charset="2"/>
              </a:rPr>
              <a:t> DDI-C documentation by IHSN</a:t>
            </a:r>
            <a:endParaRPr lang="en-GB" sz="2000" i="1" dirty="0">
              <a:solidFill>
                <a:srgbClr val="FF0000"/>
              </a:solidFill>
            </a:endParaRPr>
          </a:p>
          <a:p>
            <a:r>
              <a:rPr lang="en-GB" sz="2000" i="1" dirty="0"/>
              <a:t>Have DSD attributes with enhanced “presentation capabilities”</a:t>
            </a:r>
          </a:p>
          <a:p>
            <a:r>
              <a:rPr lang="en-GB" sz="2000" i="1" dirty="0"/>
              <a:t>Use SDMX datasets as geospatial input data for GIS applications allowing the use of geospatial analysis tools directly on georeferenced microdata</a:t>
            </a:r>
          </a:p>
          <a:p>
            <a:r>
              <a:rPr lang="en-GB" sz="2000" i="1" dirty="0"/>
              <a:t>Make use of global codelists without having to worry about its maintenance</a:t>
            </a:r>
          </a:p>
          <a:p>
            <a:r>
              <a:rPr lang="en-GB" sz="2000" i="1" dirty="0"/>
              <a:t>Choose dynamically the variant of a classification depending on the context defined by a Dataflow or a Provision Agreement</a:t>
            </a:r>
          </a:p>
        </p:txBody>
      </p:sp>
    </p:spTree>
    <p:extLst>
      <p:ext uri="{BB962C8B-B14F-4D97-AF65-F5344CB8AC3E}">
        <p14:creationId xmlns:p14="http://schemas.microsoft.com/office/powerpoint/2010/main" val="355558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476672"/>
            <a:ext cx="7200800" cy="994172"/>
          </a:xfrm>
        </p:spPr>
        <p:txBody>
          <a:bodyPr>
            <a:normAutofit/>
          </a:bodyPr>
          <a:lstStyle/>
          <a:p>
            <a:r>
              <a:rPr lang="en-GB" sz="2800" dirty="0"/>
              <a:t>Now it is possible with SDMX 3.0.0</a:t>
            </a:r>
            <a:endParaRPr lang="de-DE" sz="2800" dirty="0"/>
          </a:p>
        </p:txBody>
      </p:sp>
      <p:sp>
        <p:nvSpPr>
          <p:cNvPr id="3" name="Content Placeholder 2"/>
          <p:cNvSpPr>
            <a:spLocks noGrp="1"/>
          </p:cNvSpPr>
          <p:nvPr>
            <p:ph idx="1"/>
          </p:nvPr>
        </p:nvSpPr>
        <p:spPr>
          <a:xfrm>
            <a:off x="1055440" y="1460625"/>
            <a:ext cx="9289032" cy="3024336"/>
          </a:xfrm>
        </p:spPr>
        <p:txBody>
          <a:bodyPr>
            <a:noAutofit/>
          </a:bodyPr>
          <a:lstStyle/>
          <a:p>
            <a:r>
              <a:rPr lang="en-GB" sz="2400" i="1" dirty="0"/>
              <a:t>Make minor artefacts’ updates not affecting dependencies</a:t>
            </a:r>
          </a:p>
          <a:p>
            <a:r>
              <a:rPr lang="en-GB" sz="2400" i="1" dirty="0"/>
              <a:t>Use simpler structure sets to store and share concepts’ mappings</a:t>
            </a:r>
          </a:p>
          <a:p>
            <a:r>
              <a:rPr lang="en-GB" sz="2400" i="1" dirty="0"/>
              <a:t>Implement multiple hierarchies in a much simpler and intuitive way than HCL </a:t>
            </a:r>
          </a:p>
          <a:p>
            <a:r>
              <a:rPr lang="en-GB" sz="2400" i="1" dirty="0"/>
              <a:t>Use Annotations to drive processes and data visualization</a:t>
            </a:r>
          </a:p>
          <a:p>
            <a:r>
              <a:rPr lang="en-GB" sz="2400" i="1" dirty="0"/>
              <a:t>Make queries on non-series aspects such as “give me all women’s records”, or complex queries involving logical operators</a:t>
            </a:r>
          </a:p>
          <a:p>
            <a:r>
              <a:rPr lang="en-GB" sz="2400" i="1" dirty="0"/>
              <a:t>Retrieve data from multiple </a:t>
            </a:r>
            <a:r>
              <a:rPr lang="en-GB" sz="2400" i="1" dirty="0" err="1"/>
              <a:t>dataflows</a:t>
            </a:r>
            <a:r>
              <a:rPr lang="en-GB" sz="2400" i="1" dirty="0"/>
              <a:t> sharing a single DSD with just one query </a:t>
            </a:r>
          </a:p>
          <a:p>
            <a:endParaRPr lang="de-DE" sz="2400" i="1" dirty="0"/>
          </a:p>
        </p:txBody>
      </p:sp>
    </p:spTree>
    <p:extLst>
      <p:ext uri="{BB962C8B-B14F-4D97-AF65-F5344CB8AC3E}">
        <p14:creationId xmlns:p14="http://schemas.microsoft.com/office/powerpoint/2010/main" val="39093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E3673-4FEC-B417-0C7B-49881EBC3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1656F-ECC6-1A2A-F57A-21E50AB80C2F}"/>
              </a:ext>
            </a:extLst>
          </p:cNvPr>
          <p:cNvSpPr>
            <a:spLocks noGrp="1"/>
          </p:cNvSpPr>
          <p:nvPr>
            <p:ph type="title"/>
          </p:nvPr>
        </p:nvSpPr>
        <p:spPr>
          <a:xfrm>
            <a:off x="767408" y="476672"/>
            <a:ext cx="10081120" cy="994172"/>
          </a:xfrm>
        </p:spPr>
        <p:txBody>
          <a:bodyPr>
            <a:normAutofit/>
          </a:bodyPr>
          <a:lstStyle/>
          <a:p>
            <a:r>
              <a:rPr lang="en-GB" sz="2800" dirty="0"/>
              <a:t>Coming soon</a:t>
            </a:r>
            <a:r>
              <a:rPr lang="en-CH" sz="2800" dirty="0"/>
              <a:t>…</a:t>
            </a:r>
            <a:r>
              <a:rPr lang="fr-CH" sz="2800" dirty="0"/>
              <a:t> </a:t>
            </a:r>
            <a:br>
              <a:rPr lang="fr-CH" sz="2800" dirty="0"/>
            </a:br>
            <a:r>
              <a:rPr lang="fr-CH" sz="2800" dirty="0"/>
              <a:t>		New </a:t>
            </a:r>
            <a:r>
              <a:rPr lang="fr-CH" sz="2800" dirty="0" err="1"/>
              <a:t>features</a:t>
            </a:r>
            <a:r>
              <a:rPr lang="fr-CH" sz="2800" dirty="0"/>
              <a:t> in SDMX 3.1.0</a:t>
            </a:r>
            <a:endParaRPr lang="de-DE" sz="2800" dirty="0"/>
          </a:p>
        </p:txBody>
      </p:sp>
      <p:sp>
        <p:nvSpPr>
          <p:cNvPr id="3" name="Content Placeholder 2">
            <a:extLst>
              <a:ext uri="{FF2B5EF4-FFF2-40B4-BE49-F238E27FC236}">
                <a16:creationId xmlns:a16="http://schemas.microsoft.com/office/drawing/2014/main" id="{58064024-7530-660A-063D-BB7FDFFBE4AB}"/>
              </a:ext>
            </a:extLst>
          </p:cNvPr>
          <p:cNvSpPr>
            <a:spLocks noGrp="1"/>
          </p:cNvSpPr>
          <p:nvPr>
            <p:ph idx="1"/>
          </p:nvPr>
        </p:nvSpPr>
        <p:spPr>
          <a:xfrm>
            <a:off x="1199456" y="1603828"/>
            <a:ext cx="9217024" cy="3650344"/>
          </a:xfrm>
        </p:spPr>
        <p:txBody>
          <a:bodyPr>
            <a:noAutofit/>
          </a:bodyPr>
          <a:lstStyle/>
          <a:p>
            <a:r>
              <a:rPr lang="en-GB" sz="1800" dirty="0"/>
              <a:t>Dimension Constraint</a:t>
            </a:r>
          </a:p>
          <a:p>
            <a:pPr lvl="1"/>
            <a:r>
              <a:rPr lang="en-GB" sz="1600" dirty="0"/>
              <a:t>Enables Dataflows to fix their Dimensions to all or a subset of those defined by the DSD to which they adhere.</a:t>
            </a:r>
          </a:p>
          <a:p>
            <a:pPr lvl="1"/>
            <a:r>
              <a:rPr lang="en-GB" sz="1600" dirty="0"/>
              <a:t>Allows a DSD to have additional Dimensions added without undergoing a major version change.</a:t>
            </a:r>
            <a:endParaRPr lang="en-GB" sz="1800" dirty="0"/>
          </a:p>
          <a:p>
            <a:pPr lvl="1"/>
            <a:r>
              <a:rPr lang="en-GB" sz="1600" dirty="0"/>
              <a:t>Minimizes data transfer for “sub-cubes” or segmented datasets as only the subset of concepts specified is included in the data message</a:t>
            </a:r>
          </a:p>
          <a:p>
            <a:pPr lvl="1"/>
            <a:r>
              <a:rPr lang="en-GB" sz="1600" dirty="0"/>
              <a:t>This constraint is specified in the Dataflow</a:t>
            </a:r>
          </a:p>
          <a:p>
            <a:r>
              <a:rPr lang="fr-CH" sz="1800" dirty="0" err="1"/>
              <a:t>Semantic</a:t>
            </a:r>
            <a:r>
              <a:rPr lang="fr-CH" sz="1800" dirty="0"/>
              <a:t> versioning guideline</a:t>
            </a:r>
            <a:endParaRPr lang="en-IE" sz="1800" dirty="0"/>
          </a:p>
          <a:p>
            <a:pPr lvl="1"/>
            <a:r>
              <a:rPr lang="en-GB" sz="1600" dirty="0"/>
              <a:t>Recommendations on the version level to be incremented for each action affecting an artefact. </a:t>
            </a:r>
          </a:p>
        </p:txBody>
      </p:sp>
    </p:spTree>
    <p:extLst>
      <p:ext uri="{BB962C8B-B14F-4D97-AF65-F5344CB8AC3E}">
        <p14:creationId xmlns:p14="http://schemas.microsoft.com/office/powerpoint/2010/main" val="174953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476672"/>
            <a:ext cx="10081120" cy="994172"/>
          </a:xfrm>
        </p:spPr>
        <p:txBody>
          <a:bodyPr>
            <a:normAutofit/>
          </a:bodyPr>
          <a:lstStyle/>
          <a:p>
            <a:r>
              <a:rPr lang="en-GB" sz="2800" dirty="0"/>
              <a:t>Still to come</a:t>
            </a:r>
            <a:r>
              <a:rPr lang="en-CH" sz="2800" dirty="0"/>
              <a:t>…</a:t>
            </a:r>
            <a:r>
              <a:rPr lang="fr-CH" sz="2800" dirty="0"/>
              <a:t> </a:t>
            </a:r>
            <a:br>
              <a:rPr lang="fr-CH" sz="2800" dirty="0"/>
            </a:br>
            <a:r>
              <a:rPr lang="fr-CH" sz="2800" dirty="0"/>
              <a:t>		</a:t>
            </a:r>
            <a:r>
              <a:rPr lang="fr-CH" sz="2800" dirty="0" err="1"/>
              <a:t>Implementation</a:t>
            </a:r>
            <a:r>
              <a:rPr lang="fr-CH" sz="2800" dirty="0"/>
              <a:t> gaps in SDMX 3.x.x</a:t>
            </a:r>
            <a:endParaRPr lang="de-DE" sz="2800" dirty="0"/>
          </a:p>
        </p:txBody>
      </p:sp>
      <p:sp>
        <p:nvSpPr>
          <p:cNvPr id="3" name="Content Placeholder 2"/>
          <p:cNvSpPr>
            <a:spLocks noGrp="1"/>
          </p:cNvSpPr>
          <p:nvPr>
            <p:ph idx="1"/>
          </p:nvPr>
        </p:nvSpPr>
        <p:spPr>
          <a:xfrm>
            <a:off x="1199456" y="1603828"/>
            <a:ext cx="9217024" cy="3650344"/>
          </a:xfrm>
        </p:spPr>
        <p:txBody>
          <a:bodyPr>
            <a:noAutofit/>
          </a:bodyPr>
          <a:lstStyle/>
          <a:p>
            <a:r>
              <a:rPr lang="en-GB" sz="1800" dirty="0"/>
              <a:t>Querying for concepts</a:t>
            </a:r>
          </a:p>
          <a:p>
            <a:pPr lvl="1"/>
            <a:r>
              <a:rPr lang="en-GB" sz="1600" dirty="0"/>
              <a:t>SDMX API query syntax to discover all concepts used in any findable artefact which id matches an expression</a:t>
            </a:r>
            <a:r>
              <a:rPr lang="en-GB" sz="1800" dirty="0"/>
              <a:t>.</a:t>
            </a:r>
          </a:p>
          <a:p>
            <a:r>
              <a:rPr lang="en-IE" sz="1800" dirty="0"/>
              <a:t>Linked datasets (A.K.A. </a:t>
            </a:r>
            <a:r>
              <a:rPr lang="en-GB" sz="1800" dirty="0"/>
              <a:t>Foreign keys linking Datasets)</a:t>
            </a:r>
            <a:endParaRPr lang="en-IE" sz="1800" dirty="0"/>
          </a:p>
          <a:p>
            <a:pPr lvl="1"/>
            <a:r>
              <a:rPr lang="en-GB" sz="1600" dirty="0"/>
              <a:t>A single Dataflow (or a “</a:t>
            </a:r>
            <a:r>
              <a:rPr lang="en-GB" sz="1600" i="1" dirty="0"/>
              <a:t>Relationship</a:t>
            </a:r>
            <a:r>
              <a:rPr lang="en-GB" sz="1600" dirty="0"/>
              <a:t>” artefact) may link to several DSDs which should have some common dimensions, like foreign keys in the relational model. </a:t>
            </a:r>
          </a:p>
          <a:p>
            <a:pPr lvl="1"/>
            <a:r>
              <a:rPr lang="en-GB" sz="1600" dirty="0"/>
              <a:t>Each DSD defines an individual dataset.</a:t>
            </a:r>
          </a:p>
          <a:p>
            <a:pPr lvl="1"/>
            <a:r>
              <a:rPr lang="en-GB" sz="1600" dirty="0"/>
              <a:t>Denormalized model is good for analysis, but… </a:t>
            </a:r>
          </a:p>
          <a:p>
            <a:pPr lvl="2"/>
            <a:r>
              <a:rPr lang="en-GB" sz="1375" dirty="0"/>
              <a:t>Highly redundant</a:t>
            </a:r>
          </a:p>
          <a:p>
            <a:pPr lvl="2"/>
            <a:r>
              <a:rPr lang="en-GB" sz="1375" dirty="0"/>
              <a:t>Issues with duplication of concepts associated to different units</a:t>
            </a:r>
          </a:p>
          <a:p>
            <a:pPr lvl="2"/>
            <a:r>
              <a:rPr lang="en-GB" sz="1375" dirty="0"/>
              <a:t>Data update problems</a:t>
            </a:r>
            <a:endParaRPr lang="en-GB" sz="1150" dirty="0"/>
          </a:p>
          <a:p>
            <a:r>
              <a:rPr lang="en-GB" sz="1800" dirty="0"/>
              <a:t>“Live" database as a concept representation</a:t>
            </a:r>
          </a:p>
          <a:p>
            <a:pPr lvl="1"/>
            <a:r>
              <a:rPr lang="en-GB" sz="1600" dirty="0"/>
              <a:t>Allow the enumeration of a concept by a dataset defined by a DF and a DSD instead of a codelist</a:t>
            </a:r>
          </a:p>
          <a:p>
            <a:r>
              <a:rPr lang="en-GB" sz="1800" dirty="0"/>
              <a:t>Hierarchy level component in codelists</a:t>
            </a:r>
          </a:p>
          <a:p>
            <a:pPr lvl="1"/>
            <a:r>
              <a:rPr lang="en-GB" sz="1600" dirty="0"/>
              <a:t>Allow to specify a Content Constraint by referencing all items at a certain level in the simple hierarchy of a codelist</a:t>
            </a:r>
            <a:endParaRPr lang="en-GB" sz="1600" i="1" dirty="0"/>
          </a:p>
        </p:txBody>
      </p:sp>
    </p:spTree>
    <p:extLst>
      <p:ext uri="{BB962C8B-B14F-4D97-AF65-F5344CB8AC3E}">
        <p14:creationId xmlns:p14="http://schemas.microsoft.com/office/powerpoint/2010/main" val="144920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calcmode="lin" valueType="num">
                                      <p:cBhvr additive="base">
                                        <p:cTn id="5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C7AE-85B0-F789-EC6D-1D86B550F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B7893-DBB9-A07A-02A0-8AB626D5F65F}"/>
              </a:ext>
            </a:extLst>
          </p:cNvPr>
          <p:cNvSpPr>
            <a:spLocks noGrp="1"/>
          </p:cNvSpPr>
          <p:nvPr>
            <p:ph type="title"/>
          </p:nvPr>
        </p:nvSpPr>
        <p:spPr>
          <a:xfrm>
            <a:off x="767408" y="476672"/>
            <a:ext cx="10081120" cy="994172"/>
          </a:xfrm>
        </p:spPr>
        <p:txBody>
          <a:bodyPr>
            <a:normAutofit/>
          </a:bodyPr>
          <a:lstStyle/>
          <a:p>
            <a:r>
              <a:rPr lang="en-GB" sz="2800" dirty="0"/>
              <a:t>Still to come</a:t>
            </a:r>
            <a:r>
              <a:rPr lang="en-CH" sz="2800" dirty="0"/>
              <a:t>…</a:t>
            </a:r>
            <a:r>
              <a:rPr lang="fr-CH" sz="2800" dirty="0"/>
              <a:t> </a:t>
            </a:r>
            <a:br>
              <a:rPr lang="fr-CH" sz="2800" dirty="0"/>
            </a:br>
            <a:r>
              <a:rPr lang="fr-CH" sz="2800" dirty="0"/>
              <a:t>		</a:t>
            </a:r>
            <a:r>
              <a:rPr lang="fr-CH" sz="2800" dirty="0" err="1"/>
              <a:t>Implementation</a:t>
            </a:r>
            <a:r>
              <a:rPr lang="fr-CH" sz="2800" dirty="0"/>
              <a:t> gaps in SDMX 3.x</a:t>
            </a:r>
            <a:endParaRPr lang="de-DE" sz="2800" dirty="0"/>
          </a:p>
        </p:txBody>
      </p:sp>
      <p:sp>
        <p:nvSpPr>
          <p:cNvPr id="3" name="Content Placeholder 2">
            <a:extLst>
              <a:ext uri="{FF2B5EF4-FFF2-40B4-BE49-F238E27FC236}">
                <a16:creationId xmlns:a16="http://schemas.microsoft.com/office/drawing/2014/main" id="{1966FD0A-895D-91D6-1FBA-96B2725A6142}"/>
              </a:ext>
            </a:extLst>
          </p:cNvPr>
          <p:cNvSpPr>
            <a:spLocks noGrp="1"/>
          </p:cNvSpPr>
          <p:nvPr>
            <p:ph idx="1"/>
          </p:nvPr>
        </p:nvSpPr>
        <p:spPr>
          <a:xfrm>
            <a:off x="1199456" y="1700808"/>
            <a:ext cx="9217024" cy="3650344"/>
          </a:xfrm>
        </p:spPr>
        <p:txBody>
          <a:bodyPr>
            <a:noAutofit/>
          </a:bodyPr>
          <a:lstStyle/>
          <a:p>
            <a:r>
              <a:rPr lang="en-GB" sz="1800" dirty="0"/>
              <a:t>“Primary Key” role</a:t>
            </a:r>
          </a:p>
          <a:p>
            <a:pPr lvl="1"/>
            <a:r>
              <a:rPr lang="en-GB" sz="1600" dirty="0"/>
              <a:t>Every Dimension is a PK, but not every PK is a Dimension</a:t>
            </a:r>
            <a:r>
              <a:rPr lang="en-GB" sz="1800" dirty="0"/>
              <a:t>.</a:t>
            </a:r>
          </a:p>
          <a:p>
            <a:pPr lvl="1"/>
            <a:r>
              <a:rPr lang="en-GB" sz="1600" dirty="0"/>
              <a:t>The PK (identifier) should coexist with Dimensions in a microdata observation (record)</a:t>
            </a:r>
          </a:p>
          <a:p>
            <a:r>
              <a:rPr lang="en-IE" sz="1800" dirty="0"/>
              <a:t>Measure or Attribute? Or none of them?</a:t>
            </a:r>
          </a:p>
          <a:p>
            <a:pPr lvl="1"/>
            <a:r>
              <a:rPr lang="en-GB" sz="1600" dirty="0"/>
              <a:t>A single Dataflow may link to several DSDs which should have some common dimensions, like foreign keys in the relational model. </a:t>
            </a:r>
          </a:p>
          <a:p>
            <a:pPr lvl="1"/>
            <a:r>
              <a:rPr lang="en-GB" sz="1600" dirty="0"/>
              <a:t>Each DSD defines an individual dataset.</a:t>
            </a:r>
            <a:endParaRPr lang="en-GB" sz="1375" i="1" dirty="0"/>
          </a:p>
          <a:p>
            <a:r>
              <a:rPr lang="fr-FR" sz="1800" dirty="0"/>
              <a:t>Large volume </a:t>
            </a:r>
            <a:r>
              <a:rPr lang="fr-FR" sz="1800" dirty="0" err="1"/>
              <a:t>microdata</a:t>
            </a:r>
            <a:r>
              <a:rPr lang="fr-FR" sz="1800" dirty="0"/>
              <a:t> sets </a:t>
            </a:r>
            <a:r>
              <a:rPr lang="fr-FR" sz="1800" dirty="0" err="1"/>
              <a:t>query</a:t>
            </a:r>
            <a:endParaRPr lang="en-GB" sz="1800" dirty="0"/>
          </a:p>
          <a:p>
            <a:pPr lvl="1"/>
            <a:r>
              <a:rPr lang="en-GB" sz="1600" dirty="0"/>
              <a:t> Add new data formats more suitable for large datasets</a:t>
            </a:r>
          </a:p>
          <a:p>
            <a:pPr lvl="1"/>
            <a:r>
              <a:rPr lang="en-GB" sz="1600" dirty="0"/>
              <a:t>Add asynchronous query as a standard feature in SDMX API</a:t>
            </a:r>
          </a:p>
          <a:p>
            <a:r>
              <a:rPr lang="en-GB" sz="1800" dirty="0"/>
              <a:t>Links to other standards</a:t>
            </a:r>
          </a:p>
          <a:p>
            <a:pPr lvl="1"/>
            <a:r>
              <a:rPr lang="en-GB" sz="1600" dirty="0"/>
              <a:t>Define a way of linking to objects in other standards to be easily integrated by an application consuming SDMX data and metadata</a:t>
            </a:r>
            <a:endParaRPr lang="en-GB" sz="1600" i="1" dirty="0"/>
          </a:p>
        </p:txBody>
      </p:sp>
    </p:spTree>
    <p:extLst>
      <p:ext uri="{BB962C8B-B14F-4D97-AF65-F5344CB8AC3E}">
        <p14:creationId xmlns:p14="http://schemas.microsoft.com/office/powerpoint/2010/main" val="137767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75520" y="836712"/>
            <a:ext cx="5625358" cy="368777"/>
          </a:xfrm>
        </p:spPr>
        <p:txBody>
          <a:bodyPr>
            <a:noAutofit/>
          </a:bodyPr>
          <a:lstStyle/>
          <a:p>
            <a:r>
              <a:rPr lang="en-GB" sz="2800" dirty="0"/>
              <a:t>Questions? </a:t>
            </a:r>
            <a:endParaRPr lang="en-US" altLang="en-US" sz="2800" dirty="0"/>
          </a:p>
        </p:txBody>
      </p:sp>
      <p:sp>
        <p:nvSpPr>
          <p:cNvPr id="6" name="Content Placeholder 1"/>
          <p:cNvSpPr>
            <a:spLocks noGrp="1"/>
          </p:cNvSpPr>
          <p:nvPr>
            <p:ph idx="1"/>
          </p:nvPr>
        </p:nvSpPr>
        <p:spPr>
          <a:xfrm>
            <a:off x="2999656" y="2708920"/>
            <a:ext cx="5694693" cy="561326"/>
          </a:xfrm>
        </p:spPr>
        <p:txBody>
          <a:bodyPr>
            <a:normAutofit/>
          </a:bodyPr>
          <a:lstStyle/>
          <a:p>
            <a:pPr marL="0" indent="0" algn="ctr">
              <a:buNone/>
            </a:pPr>
            <a:r>
              <a:rPr lang="en-US" altLang="en-US" sz="2800" dirty="0"/>
              <a:t>Thank you for your attention</a:t>
            </a:r>
          </a:p>
          <a:p>
            <a:pPr>
              <a:buFontTx/>
              <a:buChar char="•"/>
            </a:pPr>
            <a:endParaRPr lang="en-US" altLang="en-US" sz="1800" dirty="0"/>
          </a:p>
          <a:p>
            <a:pPr>
              <a:buFontTx/>
              <a:buChar char="•"/>
            </a:pPr>
            <a:endParaRPr lang="en-US" altLang="en-US" sz="1800" dirty="0"/>
          </a:p>
        </p:txBody>
      </p:sp>
      <p:sp>
        <p:nvSpPr>
          <p:cNvPr id="7" name="Subtitle 1"/>
          <p:cNvSpPr txBox="1">
            <a:spLocks/>
          </p:cNvSpPr>
          <p:nvPr/>
        </p:nvSpPr>
        <p:spPr>
          <a:xfrm>
            <a:off x="7824192" y="6021289"/>
            <a:ext cx="1989160" cy="631509"/>
          </a:xfrm>
          <a:prstGeom prst="rect">
            <a:avLst/>
          </a:prstGeom>
          <a:solidFill>
            <a:schemeClr val="bg1"/>
          </a:solidFill>
        </p:spPr>
        <p:txBody>
          <a:bodyPr vert="horz" lIns="68580" tIns="34290" rIns="68580" bIns="34290" rtlCol="0">
            <a:normAutofit fontScale="92500"/>
          </a:bodyPr>
          <a:lstStyle>
            <a:lvl1pPr marL="257175" indent="-257175" algn="l" defTabSz="514350" rtl="0" eaLnBrk="1" latinLnBrk="0" hangingPunct="1">
              <a:lnSpc>
                <a:spcPct val="90000"/>
              </a:lnSpc>
              <a:spcBef>
                <a:spcPts val="563"/>
              </a:spcBef>
              <a:buClr>
                <a:schemeClr val="bg2">
                  <a:lumMod val="50000"/>
                </a:schemeClr>
              </a:buClr>
              <a:buFont typeface="Wingdings" panose="05000000000000000000" pitchFamily="2" charset="2"/>
              <a:buChar char="§"/>
              <a:defRPr sz="1575" kern="1200">
                <a:solidFill>
                  <a:schemeClr val="tx1"/>
                </a:solidFill>
                <a:latin typeface="+mn-lt"/>
                <a:ea typeface="+mn-ea"/>
                <a:cs typeface="+mn-cs"/>
              </a:defRPr>
            </a:lvl1pPr>
            <a:lvl2pPr marL="471488"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350" kern="1200">
                <a:solidFill>
                  <a:schemeClr val="tx1"/>
                </a:solidFill>
                <a:latin typeface="+mn-lt"/>
                <a:ea typeface="+mn-ea"/>
                <a:cs typeface="+mn-cs"/>
              </a:defRPr>
            </a:lvl2pPr>
            <a:lvl3pPr marL="728663"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125" kern="1200">
                <a:solidFill>
                  <a:schemeClr val="tx1"/>
                </a:solidFill>
                <a:latin typeface="+mn-lt"/>
                <a:ea typeface="+mn-ea"/>
                <a:cs typeface="+mn-cs"/>
              </a:defRPr>
            </a:lvl3pPr>
            <a:lvl4pPr marL="985838"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013" kern="1200">
                <a:solidFill>
                  <a:schemeClr val="tx1"/>
                </a:solidFill>
                <a:latin typeface="+mn-lt"/>
                <a:ea typeface="+mn-ea"/>
                <a:cs typeface="+mn-cs"/>
              </a:defRPr>
            </a:lvl4pPr>
            <a:lvl5pPr marL="1243013" indent="-214313" algn="l" defTabSz="514350" rtl="0" eaLnBrk="1" latinLnBrk="0" hangingPunct="1">
              <a:lnSpc>
                <a:spcPct val="90000"/>
              </a:lnSpc>
              <a:spcBef>
                <a:spcPts val="281"/>
              </a:spcBef>
              <a:buClr>
                <a:schemeClr val="bg2">
                  <a:lumMod val="50000"/>
                </a:schemeClr>
              </a:buClr>
              <a:buFont typeface="Wingdings" panose="05000000000000000000" pitchFamily="2" charset="2"/>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a:lstStyle>
          <a:p>
            <a:pPr algn="just"/>
            <a:r>
              <a:rPr lang="en-US" sz="1350" b="1" dirty="0">
                <a:solidFill>
                  <a:schemeClr val="bg1"/>
                </a:solidFill>
              </a:rPr>
              <a:t>	</a:t>
            </a:r>
            <a:r>
              <a:rPr lang="en-US" sz="1350" b="1" dirty="0">
                <a:solidFill>
                  <a:srgbClr val="0070C0"/>
                </a:solidFill>
              </a:rPr>
              <a:t>greising@ilo.org</a:t>
            </a:r>
          </a:p>
          <a:p>
            <a:pPr algn="just"/>
            <a:r>
              <a:rPr lang="en-US" sz="1350" b="1" dirty="0">
                <a:solidFill>
                  <a:srgbClr val="0070C0"/>
                </a:solidFill>
              </a:rPr>
              <a:t>	@</a:t>
            </a:r>
            <a:r>
              <a:rPr lang="en-US" sz="1350" b="1" dirty="0" err="1">
                <a:solidFill>
                  <a:srgbClr val="0070C0"/>
                </a:solidFill>
              </a:rPr>
              <a:t>egreising</a:t>
            </a:r>
            <a:endParaRPr lang="en-US" sz="1350" b="1" dirty="0">
              <a:solidFill>
                <a:srgbClr val="0070C0"/>
              </a:solidFill>
            </a:endParaRPr>
          </a:p>
        </p:txBody>
      </p:sp>
      <p:pic>
        <p:nvPicPr>
          <p:cNvPr id="8" name="Picture 7"/>
          <p:cNvPicPr>
            <a:picLocks noChangeAspect="1"/>
          </p:cNvPicPr>
          <p:nvPr/>
        </p:nvPicPr>
        <p:blipFill>
          <a:blip r:embed="rId2"/>
          <a:stretch>
            <a:fillRect/>
          </a:stretch>
        </p:blipFill>
        <p:spPr>
          <a:xfrm>
            <a:off x="7858769" y="5992810"/>
            <a:ext cx="267301" cy="272756"/>
          </a:xfrm>
          <a:prstGeom prst="rect">
            <a:avLst/>
          </a:prstGeom>
        </p:spPr>
      </p:pic>
      <p:pic>
        <p:nvPicPr>
          <p:cNvPr id="1026" name="Picture 2" descr="X Blue Icons – Free Download SVG, PNG, GIF">
            <a:extLst>
              <a:ext uri="{FF2B5EF4-FFF2-40B4-BE49-F238E27FC236}">
                <a16:creationId xmlns:a16="http://schemas.microsoft.com/office/drawing/2014/main" id="{5A603219-1A79-5211-7204-AC772AE93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1270" y="6265566"/>
            <a:ext cx="242297" cy="216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294837"/>
      </p:ext>
    </p:extLst>
  </p:cSld>
  <p:clrMapOvr>
    <a:masterClrMapping/>
  </p:clrMapOvr>
</p:sld>
</file>

<file path=ppt/theme/theme1.xml><?xml version="1.0" encoding="utf-8"?>
<a:theme xmlns:a="http://schemas.openxmlformats.org/drawingml/2006/main" name="Custom Design">
  <a:themeElements>
    <a:clrScheme name="IMF Colors V2">
      <a:dk1>
        <a:srgbClr val="000000"/>
      </a:dk1>
      <a:lt1>
        <a:srgbClr val="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Dark Teal">
      <a:srgbClr val="00B0B9"/>
    </a:custClr>
    <a:custClr name="Accent Green">
      <a:srgbClr val="658D1B"/>
    </a:custClr>
    <a:custClr name="Accent Orange">
      <a:srgbClr val="E35205"/>
    </a:custClr>
    <a:custClr name="Plum">
      <a:srgbClr val="910048"/>
    </a:custClr>
    <a:custClr name="Blue-Gray">
      <a:srgbClr val="5E8AB4"/>
    </a:custClr>
    <a:custClr name="Cool Blue">
      <a:srgbClr val="407EC9"/>
    </a:custClr>
    <a:custClr name="Gray">
      <a:srgbClr val="707372"/>
    </a:custClr>
    <a:custClr name="Brown">
      <a:srgbClr val="6E6259"/>
    </a:custClr>
    <a:custClr name="Light Gray">
      <a:srgbClr val="B1B3B3"/>
    </a:custClr>
    <a:custClr name="Accent Dark Blue">
      <a:srgbClr val="001E60"/>
    </a:custClr>
  </a:custClrLst>
  <a:extLst>
    <a:ext uri="{05A4C25C-085E-4340-85A3-A5531E510DB2}">
      <thm15:themeFamily xmlns:thm15="http://schemas.microsoft.com/office/thememl/2012/main" name="Presentation1" id="{B1414FF8-40B2-49B0-8B77-2A77C9643847}" vid="{DC0B088C-BC8D-4793-984C-4D06D34001B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60D5D35-958A-436A-A2B5-5D1CF351BE46}">
  <ds:schemaRefs>
    <ds:schemaRef ds:uri="http://schemas.microsoft.com/sharepoint/v3/contenttype/forms"/>
  </ds:schemaRefs>
</ds:datastoreItem>
</file>

<file path=customXml/itemProps2.xml><?xml version="1.0" encoding="utf-8"?>
<ds:datastoreItem xmlns:ds="http://schemas.openxmlformats.org/officeDocument/2006/customXml" ds:itemID="{08BE5ABD-E8C8-4DFC-9F2A-12CCA7F6CC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SDMX_GC21_PowerPoint_template</Template>
  <TotalTime>0</TotalTime>
  <Words>4679</Words>
  <Application>Microsoft Office PowerPoint</Application>
  <PresentationFormat>Widescreen</PresentationFormat>
  <Paragraphs>264</Paragraphs>
  <Slides>23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Black</vt:lpstr>
      <vt:lpstr>Calibri</vt:lpstr>
      <vt:lpstr>Consolas</vt:lpstr>
      <vt:lpstr>Wingdings</vt:lpstr>
      <vt:lpstr>Custom Design</vt:lpstr>
      <vt:lpstr>Support for microdata in SDMX 3.0</vt:lpstr>
      <vt:lpstr>Why was SDMX 3.0.0 needed?</vt:lpstr>
      <vt:lpstr>New features in SDMX 3.0.0</vt:lpstr>
      <vt:lpstr>New features in SDMX 3.0.0</vt:lpstr>
      <vt:lpstr>New features to support microdata </vt:lpstr>
      <vt:lpstr>Data Structure Definition</vt:lpstr>
      <vt:lpstr>Attribute Relationship</vt:lpstr>
      <vt:lpstr>Multiple measures</vt:lpstr>
      <vt:lpstr>Arrays and new Facets</vt:lpstr>
      <vt:lpstr>Support for geospatial information </vt:lpstr>
      <vt:lpstr>Reorganizing constraints</vt:lpstr>
      <vt:lpstr>Improved codelists' handling</vt:lpstr>
      <vt:lpstr>PowerPoint Presentation</vt:lpstr>
      <vt:lpstr>PowerPoint Presentation</vt:lpstr>
      <vt:lpstr>PowerPoint Presentation</vt:lpstr>
      <vt:lpstr>PowerPoint Presentation</vt:lpstr>
      <vt:lpstr>New microdata use cases supported in SDMX 3.0.0</vt:lpstr>
      <vt:lpstr>Now it is possible with SDMX 3.0.0</vt:lpstr>
      <vt:lpstr>Now it is possible with SDMX 3.0.0</vt:lpstr>
      <vt:lpstr>Coming soon…    New features in SDMX 3.1.0</vt:lpstr>
      <vt:lpstr>Still to come…    Implementation gaps in SDMX 3.x.x</vt:lpstr>
      <vt:lpstr>Still to come…    Implementation gaps in SDMX 3.x</vt:lpstr>
      <vt:lpstr>Questions? </vt:lpstr>
    </vt:vector>
  </TitlesOfParts>
  <Company>ILO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Added Value  and  Looking Beyond SDMX 3.0</dc:title>
  <dc:creator>Greising, Edgardo</dc:creator>
  <cp:lastModifiedBy>Greising, Edgardo</cp:lastModifiedBy>
  <cp:revision>12</cp:revision>
  <dcterms:created xsi:type="dcterms:W3CDTF">2021-09-24T16:15:37Z</dcterms:created>
  <dcterms:modified xsi:type="dcterms:W3CDTF">2025-02-20T02:28:47Z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07ed86-5dc5-4593-ad03-a8684b843815_Enabled">
    <vt:lpwstr>true</vt:lpwstr>
  </property>
  <property fmtid="{D5CDD505-2E9C-101B-9397-08002B2CF9AE}" pid="3" name="MSIP_Label_0c07ed86-5dc5-4593-ad03-a8684b843815_SetDate">
    <vt:lpwstr>2021-08-20T16:03:54Z</vt:lpwstr>
  </property>
  <property fmtid="{D5CDD505-2E9C-101B-9397-08002B2CF9AE}" pid="4" name="MSIP_Label_0c07ed86-5dc5-4593-ad03-a8684b843815_Method">
    <vt:lpwstr>Standard</vt:lpwstr>
  </property>
  <property fmtid="{D5CDD505-2E9C-101B-9397-08002B2CF9AE}" pid="5" name="MSIP_Label_0c07ed86-5dc5-4593-ad03-a8684b843815_Name">
    <vt:lpwstr>0c07ed86-5dc5-4593-ad03-a8684b843815</vt:lpwstr>
  </property>
  <property fmtid="{D5CDD505-2E9C-101B-9397-08002B2CF9AE}" pid="6" name="MSIP_Label_0c07ed86-5dc5-4593-ad03-a8684b843815_SiteId">
    <vt:lpwstr>8085fa43-302e-45bd-b171-a6648c3b6be7</vt:lpwstr>
  </property>
  <property fmtid="{D5CDD505-2E9C-101B-9397-08002B2CF9AE}" pid="7" name="MSIP_Label_0c07ed86-5dc5-4593-ad03-a8684b843815_ActionId">
    <vt:lpwstr>5eb61f92-072c-484e-a101-be1855b9aed9</vt:lpwstr>
  </property>
  <property fmtid="{D5CDD505-2E9C-101B-9397-08002B2CF9AE}" pid="8" name="MSIP_Label_0c07ed86-5dc5-4593-ad03-a8684b843815_ContentBits">
    <vt:lpwstr>0</vt:lpwstr>
  </property>
</Properties>
</file>